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68" r:id="rId4"/>
    <p:sldId id="273" r:id="rId5"/>
    <p:sldId id="257" r:id="rId6"/>
    <p:sldId id="258" r:id="rId7"/>
    <p:sldId id="259" r:id="rId8"/>
    <p:sldId id="269" r:id="rId9"/>
    <p:sldId id="262" r:id="rId10"/>
    <p:sldId id="260" r:id="rId11"/>
    <p:sldId id="272" r:id="rId12"/>
    <p:sldId id="274" r:id="rId13"/>
    <p:sldId id="270" r:id="rId14"/>
    <p:sldId id="271" r:id="rId15"/>
    <p:sldId id="261" r:id="rId16"/>
    <p:sldId id="26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EC7072D-5BAB-44A1-B9A9-44783E6829DE}">
          <p14:sldIdLst>
            <p14:sldId id="256"/>
            <p14:sldId id="267"/>
            <p14:sldId id="268"/>
          </p14:sldIdLst>
        </p14:section>
        <p14:section name="Project 1" id="{8898D164-E746-4B40-AF72-FBD04B6BB0D3}">
          <p14:sldIdLst>
            <p14:sldId id="273"/>
            <p14:sldId id="257"/>
            <p14:sldId id="258"/>
            <p14:sldId id="259"/>
            <p14:sldId id="269"/>
            <p14:sldId id="262"/>
            <p14:sldId id="260"/>
          </p14:sldIdLst>
        </p14:section>
        <p14:section name="Project 2" id="{5BEA6745-4C89-4960-BB02-5496090E0129}">
          <p14:sldIdLst>
            <p14:sldId id="272"/>
            <p14:sldId id="274"/>
            <p14:sldId id="270"/>
          </p14:sldIdLst>
        </p14:section>
        <p14:section name="Additional Tips" id="{A9616BD4-1187-4C14-94C1-704974E73BA2}">
          <p14:sldIdLst>
            <p14:sldId id="271"/>
            <p14:sldId id="261"/>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7C80"/>
    <a:srgbClr val="D8EBCD"/>
    <a:srgbClr val="FFD3A7"/>
    <a:srgbClr val="FF9999"/>
    <a:srgbClr val="CCECFF"/>
    <a:srgbClr val="FFCC99"/>
    <a:srgbClr val="FFCC00"/>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92768" autoAdjust="0"/>
  </p:normalViewPr>
  <p:slideViewPr>
    <p:cSldViewPr snapToGrid="0">
      <p:cViewPr>
        <p:scale>
          <a:sx n="125" d="100"/>
          <a:sy n="125" d="100"/>
        </p:scale>
        <p:origin x="1560" y="64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D73F6-1991-4CDC-B438-CE46EC2B14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29F71D9-CD6D-4D03-ABD3-930CF5F4B7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3C27F40-5A65-44C1-B7B1-36A1530A3BAB}"/>
              </a:ext>
            </a:extLst>
          </p:cNvPr>
          <p:cNvSpPr>
            <a:spLocks noGrp="1"/>
          </p:cNvSpPr>
          <p:nvPr>
            <p:ph type="dt" sz="half" idx="10"/>
          </p:nvPr>
        </p:nvSpPr>
        <p:spPr/>
        <p:txBody>
          <a:bodyPr/>
          <a:lstStyle/>
          <a:p>
            <a:fld id="{8B5860B0-B630-4619-A33D-A69CC86A8C0E}" type="datetimeFigureOut">
              <a:rPr lang="en-GB" smtClean="0"/>
              <a:t>02/04/2025</a:t>
            </a:fld>
            <a:endParaRPr lang="en-GB"/>
          </a:p>
        </p:txBody>
      </p:sp>
      <p:sp>
        <p:nvSpPr>
          <p:cNvPr id="5" name="Footer Placeholder 4">
            <a:extLst>
              <a:ext uri="{FF2B5EF4-FFF2-40B4-BE49-F238E27FC236}">
                <a16:creationId xmlns:a16="http://schemas.microsoft.com/office/drawing/2014/main" id="{FD7A8E70-5C72-4B2E-BF9D-8D0AAC629CD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C057589-3975-42A7-AAB7-459645C4527D}"/>
              </a:ext>
            </a:extLst>
          </p:cNvPr>
          <p:cNvSpPr>
            <a:spLocks noGrp="1"/>
          </p:cNvSpPr>
          <p:nvPr>
            <p:ph type="sldNum" sz="quarter" idx="12"/>
          </p:nvPr>
        </p:nvSpPr>
        <p:spPr/>
        <p:txBody>
          <a:bodyPr/>
          <a:lstStyle/>
          <a:p>
            <a:fld id="{0B481428-2235-46A6-A63D-B5A6B47536E8}" type="slidenum">
              <a:rPr lang="en-GB" smtClean="0"/>
              <a:t>‹#›</a:t>
            </a:fld>
            <a:endParaRPr lang="en-GB"/>
          </a:p>
        </p:txBody>
      </p:sp>
    </p:spTree>
    <p:extLst>
      <p:ext uri="{BB962C8B-B14F-4D97-AF65-F5344CB8AC3E}">
        <p14:creationId xmlns:p14="http://schemas.microsoft.com/office/powerpoint/2010/main" val="2980758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09FB8-E693-4FA2-851E-F00CC59E8CC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1473821-A56E-4C7F-B5AD-1272B0816B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BE7D5C2-72C6-4857-A20B-769575D41398}"/>
              </a:ext>
            </a:extLst>
          </p:cNvPr>
          <p:cNvSpPr>
            <a:spLocks noGrp="1"/>
          </p:cNvSpPr>
          <p:nvPr>
            <p:ph type="dt" sz="half" idx="10"/>
          </p:nvPr>
        </p:nvSpPr>
        <p:spPr/>
        <p:txBody>
          <a:bodyPr/>
          <a:lstStyle/>
          <a:p>
            <a:fld id="{8B5860B0-B630-4619-A33D-A69CC86A8C0E}" type="datetimeFigureOut">
              <a:rPr lang="en-GB" smtClean="0"/>
              <a:t>02/04/2025</a:t>
            </a:fld>
            <a:endParaRPr lang="en-GB"/>
          </a:p>
        </p:txBody>
      </p:sp>
      <p:sp>
        <p:nvSpPr>
          <p:cNvPr id="5" name="Footer Placeholder 4">
            <a:extLst>
              <a:ext uri="{FF2B5EF4-FFF2-40B4-BE49-F238E27FC236}">
                <a16:creationId xmlns:a16="http://schemas.microsoft.com/office/drawing/2014/main" id="{8A21B79E-AA7C-4362-A5EE-05DA04F7272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4D13321-5607-4F31-9CFC-87218331350D}"/>
              </a:ext>
            </a:extLst>
          </p:cNvPr>
          <p:cNvSpPr>
            <a:spLocks noGrp="1"/>
          </p:cNvSpPr>
          <p:nvPr>
            <p:ph type="sldNum" sz="quarter" idx="12"/>
          </p:nvPr>
        </p:nvSpPr>
        <p:spPr/>
        <p:txBody>
          <a:bodyPr/>
          <a:lstStyle/>
          <a:p>
            <a:fld id="{0B481428-2235-46A6-A63D-B5A6B47536E8}" type="slidenum">
              <a:rPr lang="en-GB" smtClean="0"/>
              <a:t>‹#›</a:t>
            </a:fld>
            <a:endParaRPr lang="en-GB"/>
          </a:p>
        </p:txBody>
      </p:sp>
    </p:spTree>
    <p:extLst>
      <p:ext uri="{BB962C8B-B14F-4D97-AF65-F5344CB8AC3E}">
        <p14:creationId xmlns:p14="http://schemas.microsoft.com/office/powerpoint/2010/main" val="2206294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2075A-1268-483F-AE9A-23052B4955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0F3EFC4-7A8F-484C-91C9-F391F5E841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00E536C-576C-4246-AD71-D01415B48D31}"/>
              </a:ext>
            </a:extLst>
          </p:cNvPr>
          <p:cNvSpPr>
            <a:spLocks noGrp="1"/>
          </p:cNvSpPr>
          <p:nvPr>
            <p:ph type="dt" sz="half" idx="10"/>
          </p:nvPr>
        </p:nvSpPr>
        <p:spPr/>
        <p:txBody>
          <a:bodyPr/>
          <a:lstStyle/>
          <a:p>
            <a:fld id="{8B5860B0-B630-4619-A33D-A69CC86A8C0E}" type="datetimeFigureOut">
              <a:rPr lang="en-GB" smtClean="0"/>
              <a:t>02/04/2025</a:t>
            </a:fld>
            <a:endParaRPr lang="en-GB"/>
          </a:p>
        </p:txBody>
      </p:sp>
      <p:sp>
        <p:nvSpPr>
          <p:cNvPr id="5" name="Footer Placeholder 4">
            <a:extLst>
              <a:ext uri="{FF2B5EF4-FFF2-40B4-BE49-F238E27FC236}">
                <a16:creationId xmlns:a16="http://schemas.microsoft.com/office/drawing/2014/main" id="{B0B671C7-F5A9-4086-A5F4-1701C93FB03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F8CBDC5-30E2-460D-ADAD-BBF2279812F4}"/>
              </a:ext>
            </a:extLst>
          </p:cNvPr>
          <p:cNvSpPr>
            <a:spLocks noGrp="1"/>
          </p:cNvSpPr>
          <p:nvPr>
            <p:ph type="sldNum" sz="quarter" idx="12"/>
          </p:nvPr>
        </p:nvSpPr>
        <p:spPr/>
        <p:txBody>
          <a:bodyPr/>
          <a:lstStyle/>
          <a:p>
            <a:fld id="{0B481428-2235-46A6-A63D-B5A6B47536E8}" type="slidenum">
              <a:rPr lang="en-GB" smtClean="0"/>
              <a:t>‹#›</a:t>
            </a:fld>
            <a:endParaRPr lang="en-GB"/>
          </a:p>
        </p:txBody>
      </p:sp>
    </p:spTree>
    <p:extLst>
      <p:ext uri="{BB962C8B-B14F-4D97-AF65-F5344CB8AC3E}">
        <p14:creationId xmlns:p14="http://schemas.microsoft.com/office/powerpoint/2010/main" val="2564376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89E18-C76F-433A-B219-CC0E0C0815E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206A0BC-96E0-4D08-8654-2889E81670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AA4878-CD73-4788-92DE-B80F7B9FA9E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24EF56F-BE84-42C5-9DF3-48FE52A14BE3}"/>
              </a:ext>
            </a:extLst>
          </p:cNvPr>
          <p:cNvSpPr>
            <a:spLocks noGrp="1"/>
          </p:cNvSpPr>
          <p:nvPr>
            <p:ph type="dt" sz="half" idx="10"/>
          </p:nvPr>
        </p:nvSpPr>
        <p:spPr/>
        <p:txBody>
          <a:bodyPr/>
          <a:lstStyle/>
          <a:p>
            <a:fld id="{8B5860B0-B630-4619-A33D-A69CC86A8C0E}" type="datetimeFigureOut">
              <a:rPr lang="en-GB" smtClean="0"/>
              <a:t>02/04/2025</a:t>
            </a:fld>
            <a:endParaRPr lang="en-GB"/>
          </a:p>
        </p:txBody>
      </p:sp>
      <p:sp>
        <p:nvSpPr>
          <p:cNvPr id="6" name="Footer Placeholder 5">
            <a:extLst>
              <a:ext uri="{FF2B5EF4-FFF2-40B4-BE49-F238E27FC236}">
                <a16:creationId xmlns:a16="http://schemas.microsoft.com/office/drawing/2014/main" id="{39E4794F-19B4-4361-B51B-58A6A9DAD47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5D38217-C2A4-4522-AD70-B408FDE28B85}"/>
              </a:ext>
            </a:extLst>
          </p:cNvPr>
          <p:cNvSpPr>
            <a:spLocks noGrp="1"/>
          </p:cNvSpPr>
          <p:nvPr>
            <p:ph type="sldNum" sz="quarter" idx="12"/>
          </p:nvPr>
        </p:nvSpPr>
        <p:spPr/>
        <p:txBody>
          <a:bodyPr/>
          <a:lstStyle/>
          <a:p>
            <a:fld id="{0B481428-2235-46A6-A63D-B5A6B47536E8}" type="slidenum">
              <a:rPr lang="en-GB" smtClean="0"/>
              <a:t>‹#›</a:t>
            </a:fld>
            <a:endParaRPr lang="en-GB"/>
          </a:p>
        </p:txBody>
      </p:sp>
    </p:spTree>
    <p:extLst>
      <p:ext uri="{BB962C8B-B14F-4D97-AF65-F5344CB8AC3E}">
        <p14:creationId xmlns:p14="http://schemas.microsoft.com/office/powerpoint/2010/main" val="913208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A44BE-6965-4072-96BF-34005C85E451}"/>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0C8EBC2-9491-488E-A064-9992EB674A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1B69AF-DFBA-4631-86D2-9C5CB4AA5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4B35D4D-F10E-461D-89E7-DC0709E2E3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FBEC22-6DE4-44F0-ACE1-DA64C6646E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7858EBE-6FD8-47FF-85EC-2BA84973DE58}"/>
              </a:ext>
            </a:extLst>
          </p:cNvPr>
          <p:cNvSpPr>
            <a:spLocks noGrp="1"/>
          </p:cNvSpPr>
          <p:nvPr>
            <p:ph type="dt" sz="half" idx="10"/>
          </p:nvPr>
        </p:nvSpPr>
        <p:spPr/>
        <p:txBody>
          <a:bodyPr/>
          <a:lstStyle/>
          <a:p>
            <a:fld id="{8B5860B0-B630-4619-A33D-A69CC86A8C0E}" type="datetimeFigureOut">
              <a:rPr lang="en-GB" smtClean="0"/>
              <a:t>02/04/2025</a:t>
            </a:fld>
            <a:endParaRPr lang="en-GB"/>
          </a:p>
        </p:txBody>
      </p:sp>
      <p:sp>
        <p:nvSpPr>
          <p:cNvPr id="8" name="Footer Placeholder 7">
            <a:extLst>
              <a:ext uri="{FF2B5EF4-FFF2-40B4-BE49-F238E27FC236}">
                <a16:creationId xmlns:a16="http://schemas.microsoft.com/office/drawing/2014/main" id="{FC5DFEB3-B81C-4AC1-A810-4A2E162ADC5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EB99CD4-25BD-4EB2-A68E-8F986C2FB32E}"/>
              </a:ext>
            </a:extLst>
          </p:cNvPr>
          <p:cNvSpPr>
            <a:spLocks noGrp="1"/>
          </p:cNvSpPr>
          <p:nvPr>
            <p:ph type="sldNum" sz="quarter" idx="12"/>
          </p:nvPr>
        </p:nvSpPr>
        <p:spPr/>
        <p:txBody>
          <a:bodyPr/>
          <a:lstStyle/>
          <a:p>
            <a:fld id="{0B481428-2235-46A6-A63D-B5A6B47536E8}" type="slidenum">
              <a:rPr lang="en-GB" smtClean="0"/>
              <a:t>‹#›</a:t>
            </a:fld>
            <a:endParaRPr lang="en-GB"/>
          </a:p>
        </p:txBody>
      </p:sp>
    </p:spTree>
    <p:extLst>
      <p:ext uri="{BB962C8B-B14F-4D97-AF65-F5344CB8AC3E}">
        <p14:creationId xmlns:p14="http://schemas.microsoft.com/office/powerpoint/2010/main" val="3673589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A2225-7421-4A84-9A83-E702F155833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633E62C-9B4F-4B88-AF37-465B86107161}"/>
              </a:ext>
            </a:extLst>
          </p:cNvPr>
          <p:cNvSpPr>
            <a:spLocks noGrp="1"/>
          </p:cNvSpPr>
          <p:nvPr>
            <p:ph type="dt" sz="half" idx="10"/>
          </p:nvPr>
        </p:nvSpPr>
        <p:spPr/>
        <p:txBody>
          <a:bodyPr/>
          <a:lstStyle/>
          <a:p>
            <a:fld id="{8B5860B0-B630-4619-A33D-A69CC86A8C0E}" type="datetimeFigureOut">
              <a:rPr lang="en-GB" smtClean="0"/>
              <a:t>02/04/2025</a:t>
            </a:fld>
            <a:endParaRPr lang="en-GB"/>
          </a:p>
        </p:txBody>
      </p:sp>
      <p:sp>
        <p:nvSpPr>
          <p:cNvPr id="4" name="Footer Placeholder 3">
            <a:extLst>
              <a:ext uri="{FF2B5EF4-FFF2-40B4-BE49-F238E27FC236}">
                <a16:creationId xmlns:a16="http://schemas.microsoft.com/office/drawing/2014/main" id="{853C557C-BB5D-4676-975B-EBEAC9ACA50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7CFB20E-97E6-4A8D-A6D6-E06F52E0E1CB}"/>
              </a:ext>
            </a:extLst>
          </p:cNvPr>
          <p:cNvSpPr>
            <a:spLocks noGrp="1"/>
          </p:cNvSpPr>
          <p:nvPr>
            <p:ph type="sldNum" sz="quarter" idx="12"/>
          </p:nvPr>
        </p:nvSpPr>
        <p:spPr/>
        <p:txBody>
          <a:bodyPr/>
          <a:lstStyle/>
          <a:p>
            <a:fld id="{0B481428-2235-46A6-A63D-B5A6B47536E8}" type="slidenum">
              <a:rPr lang="en-GB" smtClean="0"/>
              <a:t>‹#›</a:t>
            </a:fld>
            <a:endParaRPr lang="en-GB"/>
          </a:p>
        </p:txBody>
      </p:sp>
    </p:spTree>
    <p:extLst>
      <p:ext uri="{BB962C8B-B14F-4D97-AF65-F5344CB8AC3E}">
        <p14:creationId xmlns:p14="http://schemas.microsoft.com/office/powerpoint/2010/main" val="2164377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CF12F3-ECF0-4695-B878-BF1AF79B2034}"/>
              </a:ext>
            </a:extLst>
          </p:cNvPr>
          <p:cNvSpPr>
            <a:spLocks noGrp="1"/>
          </p:cNvSpPr>
          <p:nvPr>
            <p:ph type="dt" sz="half" idx="10"/>
          </p:nvPr>
        </p:nvSpPr>
        <p:spPr/>
        <p:txBody>
          <a:bodyPr/>
          <a:lstStyle/>
          <a:p>
            <a:fld id="{8B5860B0-B630-4619-A33D-A69CC86A8C0E}" type="datetimeFigureOut">
              <a:rPr lang="en-GB" smtClean="0"/>
              <a:t>02/04/2025</a:t>
            </a:fld>
            <a:endParaRPr lang="en-GB"/>
          </a:p>
        </p:txBody>
      </p:sp>
      <p:sp>
        <p:nvSpPr>
          <p:cNvPr id="3" name="Footer Placeholder 2">
            <a:extLst>
              <a:ext uri="{FF2B5EF4-FFF2-40B4-BE49-F238E27FC236}">
                <a16:creationId xmlns:a16="http://schemas.microsoft.com/office/drawing/2014/main" id="{28F786E7-3158-491F-80FA-7976DC85D3D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F702231-A140-4FD9-9B31-2B6902652F2F}"/>
              </a:ext>
            </a:extLst>
          </p:cNvPr>
          <p:cNvSpPr>
            <a:spLocks noGrp="1"/>
          </p:cNvSpPr>
          <p:nvPr>
            <p:ph type="sldNum" sz="quarter" idx="12"/>
          </p:nvPr>
        </p:nvSpPr>
        <p:spPr/>
        <p:txBody>
          <a:bodyPr/>
          <a:lstStyle/>
          <a:p>
            <a:fld id="{0B481428-2235-46A6-A63D-B5A6B47536E8}" type="slidenum">
              <a:rPr lang="en-GB" smtClean="0"/>
              <a:t>‹#›</a:t>
            </a:fld>
            <a:endParaRPr lang="en-GB"/>
          </a:p>
        </p:txBody>
      </p:sp>
    </p:spTree>
    <p:extLst>
      <p:ext uri="{BB962C8B-B14F-4D97-AF65-F5344CB8AC3E}">
        <p14:creationId xmlns:p14="http://schemas.microsoft.com/office/powerpoint/2010/main" val="2889698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D70B4-6894-430E-AC42-FB3F2E163B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6B875EB-0E5A-406E-8BF9-B207E522FE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FF4C99C-CB52-4930-B8ED-61163F2A92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787CB7-08CD-4A7E-ACCD-AF617A20BC28}"/>
              </a:ext>
            </a:extLst>
          </p:cNvPr>
          <p:cNvSpPr>
            <a:spLocks noGrp="1"/>
          </p:cNvSpPr>
          <p:nvPr>
            <p:ph type="dt" sz="half" idx="10"/>
          </p:nvPr>
        </p:nvSpPr>
        <p:spPr/>
        <p:txBody>
          <a:bodyPr/>
          <a:lstStyle/>
          <a:p>
            <a:fld id="{8B5860B0-B630-4619-A33D-A69CC86A8C0E}" type="datetimeFigureOut">
              <a:rPr lang="en-GB" smtClean="0"/>
              <a:t>02/04/2025</a:t>
            </a:fld>
            <a:endParaRPr lang="en-GB"/>
          </a:p>
        </p:txBody>
      </p:sp>
      <p:sp>
        <p:nvSpPr>
          <p:cNvPr id="6" name="Footer Placeholder 5">
            <a:extLst>
              <a:ext uri="{FF2B5EF4-FFF2-40B4-BE49-F238E27FC236}">
                <a16:creationId xmlns:a16="http://schemas.microsoft.com/office/drawing/2014/main" id="{8C5B0589-654D-4702-A61F-2FB161A2769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BB739F9-BD10-4262-981F-E51FA0528D52}"/>
              </a:ext>
            </a:extLst>
          </p:cNvPr>
          <p:cNvSpPr>
            <a:spLocks noGrp="1"/>
          </p:cNvSpPr>
          <p:nvPr>
            <p:ph type="sldNum" sz="quarter" idx="12"/>
          </p:nvPr>
        </p:nvSpPr>
        <p:spPr/>
        <p:txBody>
          <a:bodyPr/>
          <a:lstStyle/>
          <a:p>
            <a:fld id="{0B481428-2235-46A6-A63D-B5A6B47536E8}" type="slidenum">
              <a:rPr lang="en-GB" smtClean="0"/>
              <a:t>‹#›</a:t>
            </a:fld>
            <a:endParaRPr lang="en-GB"/>
          </a:p>
        </p:txBody>
      </p:sp>
    </p:spTree>
    <p:extLst>
      <p:ext uri="{BB962C8B-B14F-4D97-AF65-F5344CB8AC3E}">
        <p14:creationId xmlns:p14="http://schemas.microsoft.com/office/powerpoint/2010/main" val="3051195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2A46E-E3CD-4C92-ADDB-F756FE7667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CC03DD6-3287-426F-982B-E1F9F20749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251DDFC-AD9C-4A7A-906B-8713633038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150894-F14D-400B-9E0A-F618FB3402B8}"/>
              </a:ext>
            </a:extLst>
          </p:cNvPr>
          <p:cNvSpPr>
            <a:spLocks noGrp="1"/>
          </p:cNvSpPr>
          <p:nvPr>
            <p:ph type="dt" sz="half" idx="10"/>
          </p:nvPr>
        </p:nvSpPr>
        <p:spPr/>
        <p:txBody>
          <a:bodyPr/>
          <a:lstStyle/>
          <a:p>
            <a:fld id="{8B5860B0-B630-4619-A33D-A69CC86A8C0E}" type="datetimeFigureOut">
              <a:rPr lang="en-GB" smtClean="0"/>
              <a:t>02/04/2025</a:t>
            </a:fld>
            <a:endParaRPr lang="en-GB"/>
          </a:p>
        </p:txBody>
      </p:sp>
      <p:sp>
        <p:nvSpPr>
          <p:cNvPr id="6" name="Footer Placeholder 5">
            <a:extLst>
              <a:ext uri="{FF2B5EF4-FFF2-40B4-BE49-F238E27FC236}">
                <a16:creationId xmlns:a16="http://schemas.microsoft.com/office/drawing/2014/main" id="{9B875175-BB1A-4CC0-B72E-3C5209896D2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2C0E901-C2C5-4E5D-964F-558E972E33D3}"/>
              </a:ext>
            </a:extLst>
          </p:cNvPr>
          <p:cNvSpPr>
            <a:spLocks noGrp="1"/>
          </p:cNvSpPr>
          <p:nvPr>
            <p:ph type="sldNum" sz="quarter" idx="12"/>
          </p:nvPr>
        </p:nvSpPr>
        <p:spPr/>
        <p:txBody>
          <a:bodyPr/>
          <a:lstStyle/>
          <a:p>
            <a:fld id="{0B481428-2235-46A6-A63D-B5A6B47536E8}" type="slidenum">
              <a:rPr lang="en-GB" smtClean="0"/>
              <a:t>‹#›</a:t>
            </a:fld>
            <a:endParaRPr lang="en-GB"/>
          </a:p>
        </p:txBody>
      </p:sp>
    </p:spTree>
    <p:extLst>
      <p:ext uri="{BB962C8B-B14F-4D97-AF65-F5344CB8AC3E}">
        <p14:creationId xmlns:p14="http://schemas.microsoft.com/office/powerpoint/2010/main" val="21718425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2C03E-F9C3-43D9-9010-D7B66E2194F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54C81A4-97E0-47BB-BCE7-0E241B33A2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2639641-4DE0-424E-BEAB-71A013BC0752}"/>
              </a:ext>
            </a:extLst>
          </p:cNvPr>
          <p:cNvSpPr>
            <a:spLocks noGrp="1"/>
          </p:cNvSpPr>
          <p:nvPr>
            <p:ph type="dt" sz="half" idx="10"/>
          </p:nvPr>
        </p:nvSpPr>
        <p:spPr/>
        <p:txBody>
          <a:bodyPr/>
          <a:lstStyle/>
          <a:p>
            <a:fld id="{8B5860B0-B630-4619-A33D-A69CC86A8C0E}" type="datetimeFigureOut">
              <a:rPr lang="en-GB" smtClean="0"/>
              <a:t>02/04/2025</a:t>
            </a:fld>
            <a:endParaRPr lang="en-GB"/>
          </a:p>
        </p:txBody>
      </p:sp>
      <p:sp>
        <p:nvSpPr>
          <p:cNvPr id="5" name="Footer Placeholder 4">
            <a:extLst>
              <a:ext uri="{FF2B5EF4-FFF2-40B4-BE49-F238E27FC236}">
                <a16:creationId xmlns:a16="http://schemas.microsoft.com/office/drawing/2014/main" id="{47FAA340-0F2C-49FE-9D66-406BE67DD88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B0E25F3-9DE5-4AAC-910D-950CF373636D}"/>
              </a:ext>
            </a:extLst>
          </p:cNvPr>
          <p:cNvSpPr>
            <a:spLocks noGrp="1"/>
          </p:cNvSpPr>
          <p:nvPr>
            <p:ph type="sldNum" sz="quarter" idx="12"/>
          </p:nvPr>
        </p:nvSpPr>
        <p:spPr/>
        <p:txBody>
          <a:bodyPr/>
          <a:lstStyle/>
          <a:p>
            <a:fld id="{0B481428-2235-46A6-A63D-B5A6B47536E8}" type="slidenum">
              <a:rPr lang="en-GB" smtClean="0"/>
              <a:t>‹#›</a:t>
            </a:fld>
            <a:endParaRPr lang="en-GB"/>
          </a:p>
        </p:txBody>
      </p:sp>
    </p:spTree>
    <p:extLst>
      <p:ext uri="{BB962C8B-B14F-4D97-AF65-F5344CB8AC3E}">
        <p14:creationId xmlns:p14="http://schemas.microsoft.com/office/powerpoint/2010/main" val="32914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559A89-B73F-46F0-BF4F-769A94371ED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5EF120C-721D-45BB-856F-E41E888A55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CB8F016-DBBE-40E4-9B64-7BDF38CDC2D2}"/>
              </a:ext>
            </a:extLst>
          </p:cNvPr>
          <p:cNvSpPr>
            <a:spLocks noGrp="1"/>
          </p:cNvSpPr>
          <p:nvPr>
            <p:ph type="dt" sz="half" idx="10"/>
          </p:nvPr>
        </p:nvSpPr>
        <p:spPr/>
        <p:txBody>
          <a:bodyPr/>
          <a:lstStyle/>
          <a:p>
            <a:fld id="{8B5860B0-B630-4619-A33D-A69CC86A8C0E}" type="datetimeFigureOut">
              <a:rPr lang="en-GB" smtClean="0"/>
              <a:t>02/04/2025</a:t>
            </a:fld>
            <a:endParaRPr lang="en-GB"/>
          </a:p>
        </p:txBody>
      </p:sp>
      <p:sp>
        <p:nvSpPr>
          <p:cNvPr id="5" name="Footer Placeholder 4">
            <a:extLst>
              <a:ext uri="{FF2B5EF4-FFF2-40B4-BE49-F238E27FC236}">
                <a16:creationId xmlns:a16="http://schemas.microsoft.com/office/drawing/2014/main" id="{FF1C0953-5DEB-490A-8AB8-563C250AB44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3009DB2-964E-4C43-94DB-4A4E05B45438}"/>
              </a:ext>
            </a:extLst>
          </p:cNvPr>
          <p:cNvSpPr>
            <a:spLocks noGrp="1"/>
          </p:cNvSpPr>
          <p:nvPr>
            <p:ph type="sldNum" sz="quarter" idx="12"/>
          </p:nvPr>
        </p:nvSpPr>
        <p:spPr/>
        <p:txBody>
          <a:bodyPr/>
          <a:lstStyle/>
          <a:p>
            <a:fld id="{0B481428-2235-46A6-A63D-B5A6B47536E8}" type="slidenum">
              <a:rPr lang="en-GB" smtClean="0"/>
              <a:t>‹#›</a:t>
            </a:fld>
            <a:endParaRPr lang="en-GB"/>
          </a:p>
        </p:txBody>
      </p:sp>
    </p:spTree>
    <p:extLst>
      <p:ext uri="{BB962C8B-B14F-4D97-AF65-F5344CB8AC3E}">
        <p14:creationId xmlns:p14="http://schemas.microsoft.com/office/powerpoint/2010/main" val="333094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18DD00-FCDE-408B-9599-6DA4D69426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0FDAAF8-323F-4B9B-B98A-5FEEFBF9C3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59B2C5B-B952-4E0F-A0F9-38EFA2B152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5860B0-B630-4619-A33D-A69CC86A8C0E}" type="datetimeFigureOut">
              <a:rPr lang="en-GB" smtClean="0"/>
              <a:t>02/04/2025</a:t>
            </a:fld>
            <a:endParaRPr lang="en-GB"/>
          </a:p>
        </p:txBody>
      </p:sp>
      <p:sp>
        <p:nvSpPr>
          <p:cNvPr id="5" name="Footer Placeholder 4">
            <a:extLst>
              <a:ext uri="{FF2B5EF4-FFF2-40B4-BE49-F238E27FC236}">
                <a16:creationId xmlns:a16="http://schemas.microsoft.com/office/drawing/2014/main" id="{F8B6F6DD-5ABC-4A60-9A58-17F313DA8E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2BF6A34A-C82C-42F1-B80B-14E8883CB1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481428-2235-46A6-A63D-B5A6B47536E8}" type="slidenum">
              <a:rPr lang="en-GB" smtClean="0"/>
              <a:t>‹#›</a:t>
            </a:fld>
            <a:endParaRPr lang="en-GB"/>
          </a:p>
        </p:txBody>
      </p:sp>
    </p:spTree>
    <p:extLst>
      <p:ext uri="{BB962C8B-B14F-4D97-AF65-F5344CB8AC3E}">
        <p14:creationId xmlns:p14="http://schemas.microsoft.com/office/powerpoint/2010/main" val="41160184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DSAI Appointment Packet</a:t>
            </a:r>
          </a:p>
        </p:txBody>
      </p:sp>
      <p:sp>
        <p:nvSpPr>
          <p:cNvPr id="3" name="Subtitle 2"/>
          <p:cNvSpPr>
            <a:spLocks noGrp="1"/>
          </p:cNvSpPr>
          <p:nvPr>
            <p:ph type="subTitle" idx="1"/>
          </p:nvPr>
        </p:nvSpPr>
        <p:spPr/>
        <p:txBody>
          <a:bodyPr/>
          <a:lstStyle/>
          <a:p>
            <a:r>
              <a:rPr lang="en-US" dirty="0"/>
              <a:t>{</a:t>
            </a:r>
            <a:r>
              <a:rPr lang="en-US" dirty="0" err="1"/>
              <a:t>first_name</a:t>
            </a:r>
            <a:r>
              <a:rPr lang="en-US" dirty="0"/>
              <a:t>} {</a:t>
            </a:r>
            <a:r>
              <a:rPr lang="en-US" dirty="0" err="1"/>
              <a:t>last_name</a:t>
            </a:r>
            <a:r>
              <a:rPr lang="en-US" dirty="0"/>
              <a:t>}</a:t>
            </a:r>
          </a:p>
          <a:p>
            <a:r>
              <a:rPr lang="en-US" dirty="0"/>
              <a:t>{department}/{cluster}/{section}</a:t>
            </a:r>
          </a:p>
          <a:p>
            <a:r>
              <a:rPr lang="en-US" dirty="0"/>
              <a:t>Application for {JR11+}</a:t>
            </a:r>
          </a:p>
        </p:txBody>
      </p:sp>
    </p:spTree>
    <p:extLst>
      <p:ext uri="{BB962C8B-B14F-4D97-AF65-F5344CB8AC3E}">
        <p14:creationId xmlns:p14="http://schemas.microsoft.com/office/powerpoint/2010/main" val="783321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Self-introduction</a:t>
            </a:r>
          </a:p>
        </p:txBody>
      </p:sp>
      <p:sp>
        <p:nvSpPr>
          <p:cNvPr id="3" name="Content Placeholder 2"/>
          <p:cNvSpPr>
            <a:spLocks noGrp="1"/>
          </p:cNvSpPr>
          <p:nvPr>
            <p:ph idx="1"/>
          </p:nvPr>
        </p:nvSpPr>
        <p:spPr/>
        <p:txBody>
          <a:bodyPr/>
          <a:lstStyle/>
          <a:p>
            <a:r>
              <a:rPr lang="en-US" dirty="0"/>
              <a:t>Where you studied, what, and when</a:t>
            </a:r>
          </a:p>
          <a:p>
            <a:r>
              <a:rPr lang="en-US" dirty="0"/>
              <a:t>Previous jobs (if any) and what you did there</a:t>
            </a:r>
          </a:p>
          <a:p>
            <a:r>
              <a:rPr lang="en-US" dirty="0"/>
              <a:t>When you joined, where you’ve been posted, and how long</a:t>
            </a:r>
          </a:p>
        </p:txBody>
      </p:sp>
      <p:sp>
        <p:nvSpPr>
          <p:cNvPr id="5" name="TextBox 4">
            <a:extLst>
              <a:ext uri="{FF2B5EF4-FFF2-40B4-BE49-F238E27FC236}">
                <a16:creationId xmlns:a16="http://schemas.microsoft.com/office/drawing/2014/main" id="{F54C0E8F-93F5-42F6-81CF-5E59713A4F00}"/>
              </a:ext>
            </a:extLst>
          </p:cNvPr>
          <p:cNvSpPr txBox="1"/>
          <p:nvPr/>
        </p:nvSpPr>
        <p:spPr>
          <a:xfrm>
            <a:off x="10738843" y="-4207"/>
            <a:ext cx="1453157" cy="369332"/>
          </a:xfrm>
          <a:prstGeom prst="rect">
            <a:avLst/>
          </a:prstGeom>
          <a:noFill/>
        </p:spPr>
        <p:txBody>
          <a:bodyPr wrap="square">
            <a:spAutoFit/>
          </a:bodyPr>
          <a:lstStyle/>
          <a:p>
            <a:r>
              <a:rPr lang="en-US" dirty="0">
                <a:highlight>
                  <a:srgbClr val="FFFF00"/>
                </a:highlight>
              </a:rPr>
              <a:t>Taken as read</a:t>
            </a:r>
            <a:endParaRPr lang="en-GB" dirty="0">
              <a:highlight>
                <a:srgbClr val="FFFF00"/>
              </a:highlight>
            </a:endParaRPr>
          </a:p>
        </p:txBody>
      </p:sp>
      <p:sp>
        <p:nvSpPr>
          <p:cNvPr id="6" name="TextBox 5">
            <a:extLst>
              <a:ext uri="{FF2B5EF4-FFF2-40B4-BE49-F238E27FC236}">
                <a16:creationId xmlns:a16="http://schemas.microsoft.com/office/drawing/2014/main" id="{5DE452BE-BB83-40A5-90FC-F24617A370CD}"/>
              </a:ext>
            </a:extLst>
          </p:cNvPr>
          <p:cNvSpPr txBox="1"/>
          <p:nvPr/>
        </p:nvSpPr>
        <p:spPr>
          <a:xfrm>
            <a:off x="9175314" y="363494"/>
            <a:ext cx="3085579" cy="1477328"/>
          </a:xfrm>
          <a:prstGeom prst="rect">
            <a:avLst/>
          </a:prstGeom>
          <a:noFill/>
        </p:spPr>
        <p:txBody>
          <a:bodyPr wrap="square">
            <a:spAutoFit/>
          </a:bodyPr>
          <a:lstStyle/>
          <a:p>
            <a:r>
              <a:rPr lang="en-US" i="1" dirty="0">
                <a:solidFill>
                  <a:srgbClr val="FF0000"/>
                </a:solidFill>
              </a:rPr>
              <a:t>Slides with this tag will be read by the tech panel before the presentation day, so you can skip it on the day itself. We’ll also read your hidden slides.</a:t>
            </a:r>
            <a:endParaRPr lang="en-GB" i="1" dirty="0">
              <a:solidFill>
                <a:srgbClr val="FF0000"/>
              </a:solidFill>
            </a:endParaRPr>
          </a:p>
        </p:txBody>
      </p:sp>
    </p:spTree>
    <p:extLst>
      <p:ext uri="{BB962C8B-B14F-4D97-AF65-F5344CB8AC3E}">
        <p14:creationId xmlns:p14="http://schemas.microsoft.com/office/powerpoint/2010/main" val="1424435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Experience within the organization</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4236564"/>
              </p:ext>
            </p:extLst>
          </p:nvPr>
        </p:nvGraphicFramePr>
        <p:xfrm>
          <a:off x="838200" y="1825625"/>
          <a:ext cx="10515600" cy="4490720"/>
        </p:xfrm>
        <a:graphic>
          <a:graphicData uri="http://schemas.openxmlformats.org/drawingml/2006/table">
            <a:tbl>
              <a:tblPr firstRow="1" bandRow="1">
                <a:tableStyleId>{5940675A-B579-460E-94D1-54222C63F5DA}</a:tableStyleId>
              </a:tblPr>
              <a:tblGrid>
                <a:gridCol w="2318238">
                  <a:extLst>
                    <a:ext uri="{9D8B030D-6E8A-4147-A177-3AD203B41FA5}">
                      <a16:colId xmlns:a16="http://schemas.microsoft.com/office/drawing/2014/main" val="3635776608"/>
                    </a:ext>
                  </a:extLst>
                </a:gridCol>
                <a:gridCol w="4098681">
                  <a:extLst>
                    <a:ext uri="{9D8B030D-6E8A-4147-A177-3AD203B41FA5}">
                      <a16:colId xmlns:a16="http://schemas.microsoft.com/office/drawing/2014/main" val="3432869944"/>
                    </a:ext>
                  </a:extLst>
                </a:gridCol>
                <a:gridCol w="4098681">
                  <a:extLst>
                    <a:ext uri="{9D8B030D-6E8A-4147-A177-3AD203B41FA5}">
                      <a16:colId xmlns:a16="http://schemas.microsoft.com/office/drawing/2014/main" val="3051210348"/>
                    </a:ext>
                  </a:extLst>
                </a:gridCol>
              </a:tblGrid>
              <a:tr h="370840">
                <a:tc>
                  <a:txBody>
                    <a:bodyPr/>
                    <a:lstStyle/>
                    <a:p>
                      <a:endParaRPr lang="en-US" dirty="0"/>
                    </a:p>
                  </a:txBody>
                  <a:tcPr/>
                </a:tc>
                <a:tc>
                  <a:txBody>
                    <a:bodyPr/>
                    <a:lstStyle/>
                    <a:p>
                      <a:pPr algn="ctr"/>
                      <a:r>
                        <a:rPr lang="en-US" dirty="0">
                          <a:solidFill>
                            <a:srgbClr val="FF00FF"/>
                          </a:solidFill>
                        </a:rPr>
                        <a:t>IT/ABC/DEF</a:t>
                      </a:r>
                      <a:r>
                        <a:rPr lang="en-US" dirty="0"/>
                        <a:t> (2019-2021)</a:t>
                      </a:r>
                    </a:p>
                  </a:txBody>
                  <a:tcPr/>
                </a:tc>
                <a:tc>
                  <a:txBody>
                    <a:bodyPr/>
                    <a:lstStyle/>
                    <a:p>
                      <a:pPr algn="ctr"/>
                      <a:r>
                        <a:rPr lang="en-US" dirty="0">
                          <a:solidFill>
                            <a:srgbClr val="FF00FF"/>
                          </a:solidFill>
                        </a:rPr>
                        <a:t>DSAI/ABC/XYZ</a:t>
                      </a:r>
                      <a:r>
                        <a:rPr lang="en-US" baseline="0" dirty="0">
                          <a:solidFill>
                            <a:schemeClr val="tx1"/>
                          </a:solidFill>
                        </a:rPr>
                        <a:t> (2022-Present</a:t>
                      </a:r>
                      <a:r>
                        <a:rPr lang="en-US" baseline="0" dirty="0"/>
                        <a:t>)</a:t>
                      </a:r>
                      <a:endParaRPr lang="en-US" dirty="0"/>
                    </a:p>
                  </a:txBody>
                  <a:tcPr/>
                </a:tc>
                <a:extLst>
                  <a:ext uri="{0D108BD9-81ED-4DB2-BD59-A6C34878D82A}">
                    <a16:rowId xmlns:a16="http://schemas.microsoft.com/office/drawing/2014/main" val="1976962471"/>
                  </a:ext>
                </a:extLst>
              </a:tr>
              <a:tr h="370840">
                <a:tc>
                  <a:txBody>
                    <a:bodyPr/>
                    <a:lstStyle/>
                    <a:p>
                      <a:r>
                        <a:rPr lang="en-US" dirty="0"/>
                        <a:t>R&amp;D</a:t>
                      </a:r>
                    </a:p>
                  </a:txBody>
                  <a:tcPr/>
                </a:tc>
                <a:tc>
                  <a:txBody>
                    <a:bodyPr/>
                    <a:lstStyle/>
                    <a:p>
                      <a:endParaRPr lang="en-US" dirty="0"/>
                    </a:p>
                  </a:txBody>
                  <a:tcPr/>
                </a:tc>
                <a:tc>
                  <a:txBody>
                    <a:bodyPr/>
                    <a:lstStyle/>
                    <a:p>
                      <a:pPr marL="285750" indent="-285750">
                        <a:buFont typeface="Arial" panose="020B0604020202020204" pitchFamily="34" charset="0"/>
                        <a:buChar char="•"/>
                      </a:pPr>
                      <a:r>
                        <a:rPr lang="en-US" dirty="0"/>
                        <a:t>Explored some stuff</a:t>
                      </a:r>
                    </a:p>
                    <a:p>
                      <a:pPr marL="285750" indent="-285750">
                        <a:buFont typeface="Arial" panose="020B0604020202020204" pitchFamily="34" charset="0"/>
                        <a:buChar char="•"/>
                      </a:pPr>
                      <a:r>
                        <a:rPr lang="en-US" dirty="0"/>
                        <a:t>Some random project</a:t>
                      </a:r>
                    </a:p>
                  </a:txBody>
                  <a:tcPr/>
                </a:tc>
                <a:extLst>
                  <a:ext uri="{0D108BD9-81ED-4DB2-BD59-A6C34878D82A}">
                    <a16:rowId xmlns:a16="http://schemas.microsoft.com/office/drawing/2014/main" val="30328232"/>
                  </a:ext>
                </a:extLst>
              </a:tr>
              <a:tr h="370840">
                <a:tc>
                  <a:txBody>
                    <a:bodyPr/>
                    <a:lstStyle/>
                    <a:p>
                      <a:r>
                        <a:rPr lang="en-US" dirty="0"/>
                        <a:t>Engineering</a:t>
                      </a:r>
                    </a:p>
                  </a:txBody>
                  <a:tcPr/>
                </a:tc>
                <a:tc>
                  <a:txBody>
                    <a:bodyPr/>
                    <a:lstStyle/>
                    <a:p>
                      <a:pPr marL="285750" indent="-285750">
                        <a:buFont typeface="Arial" panose="020B0604020202020204" pitchFamily="34" charset="0"/>
                        <a:buChar char="•"/>
                      </a:pPr>
                      <a:r>
                        <a:rPr lang="en-US" dirty="0"/>
                        <a:t>Designed some ML system</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Deployed some other inference thing</a:t>
                      </a:r>
                    </a:p>
                  </a:txBody>
                  <a:tcPr/>
                </a:tc>
                <a:extLst>
                  <a:ext uri="{0D108BD9-81ED-4DB2-BD59-A6C34878D82A}">
                    <a16:rowId xmlns:a16="http://schemas.microsoft.com/office/drawing/2014/main" val="465923146"/>
                  </a:ext>
                </a:extLst>
              </a:tr>
              <a:tr h="370840">
                <a:tc>
                  <a:txBody>
                    <a:bodyPr/>
                    <a:lstStyle/>
                    <a:p>
                      <a:r>
                        <a:rPr lang="en-US" dirty="0"/>
                        <a:t>Tech evaluation / horizon scanning</a:t>
                      </a:r>
                    </a:p>
                  </a:txBody>
                  <a:tcPr/>
                </a:tc>
                <a:tc>
                  <a:txBody>
                    <a:bodyPr/>
                    <a:lstStyle/>
                    <a:p>
                      <a:pPr marL="285750" indent="-285750">
                        <a:buFont typeface="Arial" panose="020B0604020202020204" pitchFamily="34" charset="0"/>
                        <a:buChar char="•"/>
                      </a:pPr>
                      <a:r>
                        <a:rPr lang="en-US" dirty="0"/>
                        <a:t>Evaluated some thing or other</a:t>
                      </a:r>
                    </a:p>
                    <a:p>
                      <a:pPr marL="285750" indent="-285750">
                        <a:buFont typeface="Arial" panose="020B0604020202020204" pitchFamily="34" charset="0"/>
                        <a:buChar char="•"/>
                      </a:pPr>
                      <a:r>
                        <a:rPr lang="en-US" dirty="0"/>
                        <a:t>POC on some stuff</a:t>
                      </a:r>
                    </a:p>
                  </a:txBody>
                  <a:tcPr/>
                </a:tc>
                <a:tc>
                  <a:txBody>
                    <a:bodyPr/>
                    <a:lstStyle/>
                    <a:p>
                      <a:pPr marL="285750" indent="-285750">
                        <a:buFont typeface="Arial" panose="020B0604020202020204" pitchFamily="34" charset="0"/>
                        <a:buChar char="•"/>
                      </a:pPr>
                      <a:r>
                        <a:rPr lang="en-US" dirty="0"/>
                        <a:t>Some evaluations don’t end up in prod, and that’s fine</a:t>
                      </a:r>
                    </a:p>
                  </a:txBody>
                  <a:tcPr/>
                </a:tc>
                <a:extLst>
                  <a:ext uri="{0D108BD9-81ED-4DB2-BD59-A6C34878D82A}">
                    <a16:rowId xmlns:a16="http://schemas.microsoft.com/office/drawing/2014/main" val="3485389630"/>
                  </a:ext>
                </a:extLst>
              </a:tr>
              <a:tr h="370840">
                <a:tc>
                  <a:txBody>
                    <a:bodyPr/>
                    <a:lstStyle/>
                    <a:p>
                      <a:r>
                        <a:rPr lang="en-US" dirty="0"/>
                        <a:t>Onboarding, mentorship, &amp; support</a:t>
                      </a:r>
                    </a:p>
                  </a:txBody>
                  <a:tcPr/>
                </a:tc>
                <a:tc>
                  <a:txBody>
                    <a:bodyPr/>
                    <a:lstStyle/>
                    <a:p>
                      <a:pPr marL="285750" indent="-285750">
                        <a:buFont typeface="Arial" panose="020B0604020202020204" pitchFamily="34" charset="0"/>
                        <a:buChar char="•"/>
                      </a:pPr>
                      <a:r>
                        <a:rPr lang="en-US" dirty="0"/>
                        <a:t>Intern—some</a:t>
                      </a:r>
                      <a:r>
                        <a:rPr lang="en-US" baseline="0" dirty="0"/>
                        <a:t> project</a:t>
                      </a:r>
                    </a:p>
                    <a:p>
                      <a:pPr marL="285750" indent="-285750">
                        <a:buFont typeface="Arial" panose="020B0604020202020204" pitchFamily="34" charset="0"/>
                        <a:buChar char="•"/>
                      </a:pPr>
                      <a:r>
                        <a:rPr lang="en-US" baseline="0" dirty="0"/>
                        <a:t>Intern—some other project</a:t>
                      </a:r>
                      <a:endParaRPr lang="en-US" dirty="0"/>
                    </a:p>
                  </a:txBody>
                  <a:tcPr/>
                </a:tc>
                <a:tc>
                  <a:txBody>
                    <a:bodyPr/>
                    <a:lstStyle/>
                    <a:p>
                      <a:pPr marL="285750" indent="-285750">
                        <a:buFont typeface="Arial" panose="020B0604020202020204" pitchFamily="34" charset="0"/>
                        <a:buChar char="•"/>
                      </a:pPr>
                      <a:r>
                        <a:rPr lang="en-US" baseline="0" dirty="0"/>
                        <a:t>Onboard new officer</a:t>
                      </a:r>
                    </a:p>
                    <a:p>
                      <a:pPr marL="285750" indent="-285750">
                        <a:buFont typeface="Arial" panose="020B0604020202020204" pitchFamily="34" charset="0"/>
                        <a:buChar char="•"/>
                      </a:pPr>
                      <a:r>
                        <a:rPr lang="en-US" baseline="0" dirty="0"/>
                        <a:t>Mentor to 2 officers</a:t>
                      </a:r>
                    </a:p>
                  </a:txBody>
                  <a:tcPr/>
                </a:tc>
                <a:extLst>
                  <a:ext uri="{0D108BD9-81ED-4DB2-BD59-A6C34878D82A}">
                    <a16:rowId xmlns:a16="http://schemas.microsoft.com/office/drawing/2014/main" val="957165570"/>
                  </a:ext>
                </a:extLst>
              </a:tr>
              <a:tr h="0">
                <a:tc>
                  <a:txBody>
                    <a:bodyPr/>
                    <a:lstStyle/>
                    <a:p>
                      <a:r>
                        <a:rPr lang="en-US" dirty="0"/>
                        <a:t>Community </a:t>
                      </a:r>
                      <a:r>
                        <a:rPr lang="en-US" dirty="0" err="1"/>
                        <a:t>Contrib</a:t>
                      </a:r>
                      <a:endParaRPr lang="en-US"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Innohack comm</a:t>
                      </a:r>
                      <a:endParaRPr lang="en-US"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err="1"/>
                        <a:t>Devcom</a:t>
                      </a:r>
                      <a:r>
                        <a:rPr lang="en-US" dirty="0"/>
                        <a:t> stuff</a:t>
                      </a:r>
                    </a:p>
                  </a:txBody>
                  <a:tcPr/>
                </a:tc>
                <a:extLst>
                  <a:ext uri="{0D108BD9-81ED-4DB2-BD59-A6C34878D82A}">
                    <a16:rowId xmlns:a16="http://schemas.microsoft.com/office/drawing/2014/main" val="4164033442"/>
                  </a:ext>
                </a:extLst>
              </a:tr>
              <a:tr h="370840">
                <a:tc>
                  <a:txBody>
                    <a:bodyPr/>
                    <a:lstStyle/>
                    <a:p>
                      <a:r>
                        <a:rPr lang="en-US" dirty="0"/>
                        <a:t>Other</a:t>
                      </a:r>
                    </a:p>
                  </a:txBody>
                  <a:tcPr/>
                </a:tc>
                <a:tc>
                  <a:txBody>
                    <a:bodyPr/>
                    <a:lstStyle/>
                    <a:p>
                      <a:pPr marL="285750" indent="-285750">
                        <a:buFont typeface="Arial" panose="020B0604020202020204" pitchFamily="34" charset="0"/>
                        <a:buChar char="•"/>
                      </a:pPr>
                      <a:r>
                        <a:rPr lang="en-US" dirty="0"/>
                        <a:t>Outreach to students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FF00FF"/>
                          </a:solidFill>
                        </a:rPr>
                        <a:t>External / overseas engagement</a:t>
                      </a:r>
                      <a:r>
                        <a:rPr lang="en-US" baseline="0" dirty="0">
                          <a:solidFill>
                            <a:srgbClr val="FF00FF"/>
                          </a:solidFill>
                        </a:rPr>
                        <a:t> </a:t>
                      </a:r>
                      <a:r>
                        <a:rPr lang="en-US" baseline="0" dirty="0"/>
                        <a:t>things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You can delete</a:t>
                      </a:r>
                      <a:r>
                        <a:rPr lang="en-US" baseline="0" dirty="0"/>
                        <a:t> rows that don’t have any content</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If the categories</a:t>
                      </a:r>
                      <a:r>
                        <a:rPr lang="en-US" baseline="0" dirty="0"/>
                        <a:t> don’t fit, feel free to add your own or just create an “Other” to dump everything else</a:t>
                      </a:r>
                      <a:endParaRPr lang="en-US" dirty="0"/>
                    </a:p>
                    <a:p>
                      <a:pPr marL="285750" indent="-285750">
                        <a:buFont typeface="Arial" panose="020B0604020202020204" pitchFamily="34" charset="0"/>
                        <a:buChar char="•"/>
                      </a:pPr>
                      <a:r>
                        <a:rPr lang="en-US" dirty="0"/>
                        <a:t>Can also dump in PM work if you don’t want a row dedicated to that</a:t>
                      </a:r>
                    </a:p>
                  </a:txBody>
                  <a:tcPr/>
                </a:tc>
                <a:extLst>
                  <a:ext uri="{0D108BD9-81ED-4DB2-BD59-A6C34878D82A}">
                    <a16:rowId xmlns:a16="http://schemas.microsoft.com/office/drawing/2014/main" val="2499959776"/>
                  </a:ext>
                </a:extLst>
              </a:tr>
            </a:tbl>
          </a:graphicData>
        </a:graphic>
      </p:graphicFrame>
      <p:sp>
        <p:nvSpPr>
          <p:cNvPr id="6" name="TextBox 5">
            <a:extLst>
              <a:ext uri="{FF2B5EF4-FFF2-40B4-BE49-F238E27FC236}">
                <a16:creationId xmlns:a16="http://schemas.microsoft.com/office/drawing/2014/main" id="{C8EF1C55-FF19-45E8-A620-34AF22F1FEE6}"/>
              </a:ext>
            </a:extLst>
          </p:cNvPr>
          <p:cNvSpPr txBox="1"/>
          <p:nvPr/>
        </p:nvSpPr>
        <p:spPr>
          <a:xfrm>
            <a:off x="10738843" y="-4207"/>
            <a:ext cx="1453157" cy="369332"/>
          </a:xfrm>
          <a:prstGeom prst="rect">
            <a:avLst/>
          </a:prstGeom>
          <a:noFill/>
        </p:spPr>
        <p:txBody>
          <a:bodyPr wrap="square">
            <a:spAutoFit/>
          </a:bodyPr>
          <a:lstStyle/>
          <a:p>
            <a:r>
              <a:rPr lang="en-US" dirty="0">
                <a:highlight>
                  <a:srgbClr val="FFFF00"/>
                </a:highlight>
              </a:rPr>
              <a:t>Taken as read</a:t>
            </a:r>
            <a:endParaRPr lang="en-GB" dirty="0">
              <a:highlight>
                <a:srgbClr val="FFFF00"/>
              </a:highlight>
            </a:endParaRPr>
          </a:p>
        </p:txBody>
      </p:sp>
      <p:sp>
        <p:nvSpPr>
          <p:cNvPr id="7" name="TextBox 6">
            <a:extLst>
              <a:ext uri="{FF2B5EF4-FFF2-40B4-BE49-F238E27FC236}">
                <a16:creationId xmlns:a16="http://schemas.microsoft.com/office/drawing/2014/main" id="{7C5C266C-CE89-4E3A-BE35-49622FF6998B}"/>
              </a:ext>
            </a:extLst>
          </p:cNvPr>
          <p:cNvSpPr txBox="1"/>
          <p:nvPr/>
        </p:nvSpPr>
        <p:spPr>
          <a:xfrm>
            <a:off x="9839195" y="363494"/>
            <a:ext cx="2421698" cy="923330"/>
          </a:xfrm>
          <a:prstGeom prst="rect">
            <a:avLst/>
          </a:prstGeom>
          <a:noFill/>
        </p:spPr>
        <p:txBody>
          <a:bodyPr wrap="square">
            <a:spAutoFit/>
          </a:bodyPr>
          <a:lstStyle/>
          <a:p>
            <a:r>
              <a:rPr lang="en-US" i="1" dirty="0">
                <a:solidFill>
                  <a:srgbClr val="FF0000"/>
                </a:solidFill>
              </a:rPr>
              <a:t>You can have multiple slides with this tag, but don’t overdo it.</a:t>
            </a:r>
            <a:endParaRPr lang="en-GB" i="1" dirty="0">
              <a:solidFill>
                <a:srgbClr val="FF0000"/>
              </a:solidFill>
            </a:endParaRPr>
          </a:p>
        </p:txBody>
      </p:sp>
    </p:spTree>
    <p:extLst>
      <p:ext uri="{BB962C8B-B14F-4D97-AF65-F5344CB8AC3E}">
        <p14:creationId xmlns:p14="http://schemas.microsoft.com/office/powerpoint/2010/main" val="1955921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A97F0-A49D-4AFD-8C9F-FBEAC0ADCBA6}"/>
              </a:ext>
            </a:extLst>
          </p:cNvPr>
          <p:cNvSpPr>
            <a:spLocks noGrp="1"/>
          </p:cNvSpPr>
          <p:nvPr>
            <p:ph type="ctrTitle"/>
          </p:nvPr>
        </p:nvSpPr>
        <p:spPr/>
        <p:txBody>
          <a:bodyPr/>
          <a:lstStyle/>
          <a:p>
            <a:r>
              <a:rPr lang="en-US" dirty="0"/>
              <a:t>Project 1</a:t>
            </a:r>
            <a:endParaRPr lang="en-GB" dirty="0"/>
          </a:p>
        </p:txBody>
      </p:sp>
      <p:sp>
        <p:nvSpPr>
          <p:cNvPr id="4" name="Subtitle 3">
            <a:extLst>
              <a:ext uri="{FF2B5EF4-FFF2-40B4-BE49-F238E27FC236}">
                <a16:creationId xmlns:a16="http://schemas.microsoft.com/office/drawing/2014/main" id="{2E3788E6-E3A5-4555-9344-6ABBF9D359BD}"/>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652785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C34BA-F17D-4CB1-B925-7DF94ADDB192}"/>
              </a:ext>
            </a:extLst>
          </p:cNvPr>
          <p:cNvSpPr>
            <a:spLocks noGrp="1"/>
          </p:cNvSpPr>
          <p:nvPr>
            <p:ph type="title"/>
          </p:nvPr>
        </p:nvSpPr>
        <p:spPr/>
        <p:txBody>
          <a:bodyPr/>
          <a:lstStyle/>
          <a:p>
            <a:r>
              <a:rPr lang="en-US" dirty="0"/>
              <a:t>Background/Problem Statement</a:t>
            </a:r>
            <a:endParaRPr lang="en-GB" dirty="0"/>
          </a:p>
        </p:txBody>
      </p:sp>
      <p:sp>
        <p:nvSpPr>
          <p:cNvPr id="3" name="Content Placeholder 2">
            <a:extLst>
              <a:ext uri="{FF2B5EF4-FFF2-40B4-BE49-F238E27FC236}">
                <a16:creationId xmlns:a16="http://schemas.microsoft.com/office/drawing/2014/main" id="{BFD5494D-FC04-4DF3-A83C-8DD3F9365B14}"/>
              </a:ext>
            </a:extLst>
          </p:cNvPr>
          <p:cNvSpPr>
            <a:spLocks noGrp="1"/>
          </p:cNvSpPr>
          <p:nvPr>
            <p:ph idx="1"/>
          </p:nvPr>
        </p:nvSpPr>
        <p:spPr/>
        <p:txBody>
          <a:bodyPr/>
          <a:lstStyle/>
          <a:p>
            <a:r>
              <a:rPr lang="en-US" dirty="0"/>
              <a:t>Explain problem context</a:t>
            </a:r>
          </a:p>
          <a:p>
            <a:r>
              <a:rPr lang="en-GB" dirty="0"/>
              <a:t>Help the audience understand the problem from both perspectives:</a:t>
            </a:r>
          </a:p>
          <a:p>
            <a:pPr lvl="1"/>
            <a:r>
              <a:rPr lang="en-GB" dirty="0"/>
              <a:t>User perspective: How does the problem affect the users</a:t>
            </a:r>
          </a:p>
          <a:p>
            <a:pPr lvl="1"/>
            <a:r>
              <a:rPr lang="en-GB" dirty="0"/>
              <a:t>Developer perspective: Frame your problem in technical terms</a:t>
            </a:r>
          </a:p>
          <a:p>
            <a:r>
              <a:rPr lang="en-GB" dirty="0"/>
              <a:t>What constraints you had</a:t>
            </a:r>
          </a:p>
          <a:p>
            <a:r>
              <a:rPr lang="en-GB" dirty="0"/>
              <a:t>The goal/objective of the project</a:t>
            </a:r>
          </a:p>
          <a:p>
            <a:r>
              <a:rPr lang="en-GB" dirty="0"/>
              <a:t>You should demonstrate how you translated the business questions into data questions.</a:t>
            </a:r>
          </a:p>
          <a:p>
            <a:pPr lvl="1"/>
            <a:endParaRPr lang="en-GB" dirty="0"/>
          </a:p>
        </p:txBody>
      </p:sp>
    </p:spTree>
    <p:extLst>
      <p:ext uri="{BB962C8B-B14F-4D97-AF65-F5344CB8AC3E}">
        <p14:creationId xmlns:p14="http://schemas.microsoft.com/office/powerpoint/2010/main" val="277212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727A2-C61B-4AF7-8C1A-FCFADF16774E}"/>
              </a:ext>
            </a:extLst>
          </p:cNvPr>
          <p:cNvSpPr>
            <a:spLocks noGrp="1"/>
          </p:cNvSpPr>
          <p:nvPr>
            <p:ph type="title"/>
          </p:nvPr>
        </p:nvSpPr>
        <p:spPr/>
        <p:txBody>
          <a:bodyPr/>
          <a:lstStyle/>
          <a:p>
            <a:r>
              <a:rPr lang="en-US" dirty="0"/>
              <a:t>Methodology</a:t>
            </a:r>
            <a:endParaRPr lang="en-GB" dirty="0"/>
          </a:p>
        </p:txBody>
      </p:sp>
      <p:sp>
        <p:nvSpPr>
          <p:cNvPr id="3" name="Content Placeholder 2">
            <a:extLst>
              <a:ext uri="{FF2B5EF4-FFF2-40B4-BE49-F238E27FC236}">
                <a16:creationId xmlns:a16="http://schemas.microsoft.com/office/drawing/2014/main" id="{2F181378-8E0A-4B4D-9F7E-26E62BFB1895}"/>
              </a:ext>
            </a:extLst>
          </p:cNvPr>
          <p:cNvSpPr>
            <a:spLocks noGrp="1"/>
          </p:cNvSpPr>
          <p:nvPr>
            <p:ph idx="1"/>
          </p:nvPr>
        </p:nvSpPr>
        <p:spPr/>
        <p:txBody>
          <a:bodyPr/>
          <a:lstStyle/>
          <a:p>
            <a:r>
              <a:rPr lang="en-US" dirty="0"/>
              <a:t>Explain how you turned raw data into insight. Most project methodologies follow this frame:</a:t>
            </a:r>
          </a:p>
          <a:p>
            <a:pPr lvl="1"/>
            <a:r>
              <a:rPr lang="en-US" dirty="0"/>
              <a:t>Data Retrieval – Help the audience appreciate the data you are working with. Give statistics of volume/variety from EDA if possible.</a:t>
            </a:r>
          </a:p>
          <a:p>
            <a:pPr lvl="1"/>
            <a:r>
              <a:rPr lang="en-US" dirty="0"/>
              <a:t>Data Manipulation – Filtering, Processing. All the stuff you did to the data.</a:t>
            </a:r>
          </a:p>
          <a:p>
            <a:pPr lvl="1"/>
            <a:r>
              <a:rPr lang="en-US" dirty="0"/>
              <a:t>Data Modelling – Statistical Analysis/Machine Learning</a:t>
            </a:r>
          </a:p>
          <a:p>
            <a:pPr lvl="1"/>
            <a:r>
              <a:rPr lang="en-US" dirty="0"/>
              <a:t>Data Visualization – How do you interpret output/results?</a:t>
            </a:r>
          </a:p>
          <a:p>
            <a:r>
              <a:rPr lang="en-GB" dirty="0"/>
              <a:t>It may be useful to have a flowchart to visualize the overall methodology (see next slide), and then elaborate on specific portions</a:t>
            </a:r>
          </a:p>
        </p:txBody>
      </p:sp>
    </p:spTree>
    <p:extLst>
      <p:ext uri="{BB962C8B-B14F-4D97-AF65-F5344CB8AC3E}">
        <p14:creationId xmlns:p14="http://schemas.microsoft.com/office/powerpoint/2010/main" val="3674231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033E384-E710-4FFE-80BC-D7BB098AF71C}"/>
              </a:ext>
            </a:extLst>
          </p:cNvPr>
          <p:cNvSpPr/>
          <p:nvPr/>
        </p:nvSpPr>
        <p:spPr>
          <a:xfrm>
            <a:off x="6129680" y="2451032"/>
            <a:ext cx="3564955" cy="3411473"/>
          </a:xfrm>
          <a:prstGeom prst="rect">
            <a:avLst/>
          </a:prstGeom>
          <a:solidFill>
            <a:srgbClr val="D8EB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2" name="Title 1">
            <a:extLst>
              <a:ext uri="{FF2B5EF4-FFF2-40B4-BE49-F238E27FC236}">
                <a16:creationId xmlns:a16="http://schemas.microsoft.com/office/drawing/2014/main" id="{10FE4712-3314-458D-B2E1-3F25D58E0F6A}"/>
              </a:ext>
            </a:extLst>
          </p:cNvPr>
          <p:cNvSpPr>
            <a:spLocks noGrp="1"/>
          </p:cNvSpPr>
          <p:nvPr>
            <p:ph type="title"/>
          </p:nvPr>
        </p:nvSpPr>
        <p:spPr/>
        <p:txBody>
          <a:bodyPr/>
          <a:lstStyle/>
          <a:p>
            <a:r>
              <a:rPr lang="en-US" dirty="0"/>
              <a:t>Sample Methodology Overview</a:t>
            </a:r>
            <a:endParaRPr lang="en-GB" dirty="0"/>
          </a:p>
        </p:txBody>
      </p:sp>
      <p:sp>
        <p:nvSpPr>
          <p:cNvPr id="4" name="Rectangle 3">
            <a:extLst>
              <a:ext uri="{FF2B5EF4-FFF2-40B4-BE49-F238E27FC236}">
                <a16:creationId xmlns:a16="http://schemas.microsoft.com/office/drawing/2014/main" id="{ABBBA75F-0C6B-4780-A66C-E863AE24AF02}"/>
              </a:ext>
            </a:extLst>
          </p:cNvPr>
          <p:cNvSpPr/>
          <p:nvPr/>
        </p:nvSpPr>
        <p:spPr>
          <a:xfrm>
            <a:off x="519653" y="2434103"/>
            <a:ext cx="1375994" cy="3411472"/>
          </a:xfrm>
          <a:prstGeom prst="rect">
            <a:avLst/>
          </a:prstGeom>
          <a:solidFill>
            <a:srgbClr val="FF99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5" name="Rectangle 4">
            <a:extLst>
              <a:ext uri="{FF2B5EF4-FFF2-40B4-BE49-F238E27FC236}">
                <a16:creationId xmlns:a16="http://schemas.microsoft.com/office/drawing/2014/main" id="{E9508307-8E90-4D8B-B384-3D9168514949}"/>
              </a:ext>
            </a:extLst>
          </p:cNvPr>
          <p:cNvSpPr/>
          <p:nvPr/>
        </p:nvSpPr>
        <p:spPr>
          <a:xfrm>
            <a:off x="519652" y="2451032"/>
            <a:ext cx="1375995" cy="307777"/>
          </a:xfrm>
          <a:prstGeom prst="rect">
            <a:avLst/>
          </a:prstGeom>
        </p:spPr>
        <p:txBody>
          <a:bodyPr wrap="square">
            <a:spAutoFit/>
          </a:bodyPr>
          <a:lstStyle/>
          <a:p>
            <a:pPr algn="ctr"/>
            <a:r>
              <a:rPr lang="en-US" sz="1400" b="1" dirty="0">
                <a:latin typeface="Arial" panose="020B0604020202020204" pitchFamily="34" charset="0"/>
                <a:cs typeface="Arial" panose="020B0604020202020204" pitchFamily="34" charset="0"/>
              </a:rPr>
              <a:t>Retrieval</a:t>
            </a:r>
            <a:endParaRPr lang="en-GB" sz="1400" b="1"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63CEEC5D-F0DE-46DA-B3D0-DD72DD547053}"/>
              </a:ext>
            </a:extLst>
          </p:cNvPr>
          <p:cNvSpPr/>
          <p:nvPr/>
        </p:nvSpPr>
        <p:spPr>
          <a:xfrm>
            <a:off x="563448" y="2927135"/>
            <a:ext cx="1266249" cy="54403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Data Source 1</a:t>
            </a:r>
          </a:p>
          <a:p>
            <a:pPr algn="ctr"/>
            <a:r>
              <a:rPr lang="en-US" sz="1000" i="1" dirty="0">
                <a:solidFill>
                  <a:schemeClr val="tx1"/>
                </a:solidFill>
              </a:rPr>
              <a:t>(details)</a:t>
            </a:r>
            <a:endParaRPr lang="en-US" sz="900" i="1" dirty="0">
              <a:solidFill>
                <a:schemeClr val="tx1"/>
              </a:solidFill>
            </a:endParaRPr>
          </a:p>
        </p:txBody>
      </p:sp>
      <p:sp>
        <p:nvSpPr>
          <p:cNvPr id="8" name="Rectangle 7">
            <a:extLst>
              <a:ext uri="{FF2B5EF4-FFF2-40B4-BE49-F238E27FC236}">
                <a16:creationId xmlns:a16="http://schemas.microsoft.com/office/drawing/2014/main" id="{651AF225-0E70-4F08-917D-70F6A50137E4}"/>
              </a:ext>
            </a:extLst>
          </p:cNvPr>
          <p:cNvSpPr/>
          <p:nvPr/>
        </p:nvSpPr>
        <p:spPr>
          <a:xfrm>
            <a:off x="2103990" y="2434102"/>
            <a:ext cx="3817348" cy="3428403"/>
          </a:xfrm>
          <a:prstGeom prst="rect">
            <a:avLst/>
          </a:prstGeom>
          <a:solidFill>
            <a:srgbClr val="FFD3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9" name="Rectangle 8">
            <a:extLst>
              <a:ext uri="{FF2B5EF4-FFF2-40B4-BE49-F238E27FC236}">
                <a16:creationId xmlns:a16="http://schemas.microsoft.com/office/drawing/2014/main" id="{B31EBF2F-F18A-4C4D-AFA9-08E49AEB8DC4}"/>
              </a:ext>
            </a:extLst>
          </p:cNvPr>
          <p:cNvSpPr/>
          <p:nvPr/>
        </p:nvSpPr>
        <p:spPr>
          <a:xfrm>
            <a:off x="2103989" y="2434102"/>
            <a:ext cx="3817349" cy="307777"/>
          </a:xfrm>
          <a:prstGeom prst="rect">
            <a:avLst/>
          </a:prstGeom>
        </p:spPr>
        <p:txBody>
          <a:bodyPr wrap="square">
            <a:spAutoFit/>
          </a:bodyPr>
          <a:lstStyle/>
          <a:p>
            <a:pPr algn="ctr"/>
            <a:r>
              <a:rPr lang="en-US" sz="1400" b="1" i="0" dirty="0">
                <a:effectLst/>
                <a:latin typeface="Arial" panose="020B0604020202020204" pitchFamily="34" charset="0"/>
                <a:cs typeface="Arial" panose="020B0604020202020204" pitchFamily="34" charset="0"/>
              </a:rPr>
              <a:t>Manipulation / EDA</a:t>
            </a:r>
            <a:endParaRPr lang="en-GB" sz="1400" b="1"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7E109E41-3FD3-46CF-9867-C4136179B226}"/>
              </a:ext>
            </a:extLst>
          </p:cNvPr>
          <p:cNvSpPr/>
          <p:nvPr/>
        </p:nvSpPr>
        <p:spPr>
          <a:xfrm>
            <a:off x="2739927" y="2921288"/>
            <a:ext cx="1266248" cy="54403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ETL</a:t>
            </a:r>
            <a:endParaRPr lang="en-US" sz="1200" b="1" dirty="0">
              <a:solidFill>
                <a:schemeClr val="tx1"/>
              </a:solidFill>
              <a:highlight>
                <a:srgbClr val="FF00FF"/>
              </a:highlight>
            </a:endParaRPr>
          </a:p>
        </p:txBody>
      </p:sp>
      <p:sp>
        <p:nvSpPr>
          <p:cNvPr id="12" name="Rectangle 11">
            <a:extLst>
              <a:ext uri="{FF2B5EF4-FFF2-40B4-BE49-F238E27FC236}">
                <a16:creationId xmlns:a16="http://schemas.microsoft.com/office/drawing/2014/main" id="{330A57A9-DEDE-4731-85A1-1AA33CFE00E8}"/>
              </a:ext>
            </a:extLst>
          </p:cNvPr>
          <p:cNvSpPr/>
          <p:nvPr/>
        </p:nvSpPr>
        <p:spPr>
          <a:xfrm>
            <a:off x="2739927" y="3643421"/>
            <a:ext cx="1266248" cy="54403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Cleaning / Munging</a:t>
            </a:r>
          </a:p>
        </p:txBody>
      </p:sp>
      <p:sp>
        <p:nvSpPr>
          <p:cNvPr id="14" name="Rectangle 13">
            <a:extLst>
              <a:ext uri="{FF2B5EF4-FFF2-40B4-BE49-F238E27FC236}">
                <a16:creationId xmlns:a16="http://schemas.microsoft.com/office/drawing/2014/main" id="{08C6438F-C77C-492A-BA23-C6C06BDCF16E}"/>
              </a:ext>
            </a:extLst>
          </p:cNvPr>
          <p:cNvSpPr/>
          <p:nvPr/>
        </p:nvSpPr>
        <p:spPr>
          <a:xfrm>
            <a:off x="2739927" y="4405969"/>
            <a:ext cx="1266248" cy="54403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Feature Engineering</a:t>
            </a:r>
          </a:p>
        </p:txBody>
      </p:sp>
      <p:sp>
        <p:nvSpPr>
          <p:cNvPr id="15" name="TextBox 14">
            <a:extLst>
              <a:ext uri="{FF2B5EF4-FFF2-40B4-BE49-F238E27FC236}">
                <a16:creationId xmlns:a16="http://schemas.microsoft.com/office/drawing/2014/main" id="{8F94AB09-B2B1-488B-9551-21182C6F2C59}"/>
              </a:ext>
            </a:extLst>
          </p:cNvPr>
          <p:cNvSpPr txBox="1"/>
          <p:nvPr/>
        </p:nvSpPr>
        <p:spPr>
          <a:xfrm>
            <a:off x="3980554" y="4446502"/>
            <a:ext cx="1842324" cy="400110"/>
          </a:xfrm>
          <a:prstGeom prst="rect">
            <a:avLst/>
          </a:prstGeom>
          <a:noFill/>
        </p:spPr>
        <p:txBody>
          <a:bodyPr wrap="square" rtlCol="0">
            <a:spAutoFit/>
          </a:bodyPr>
          <a:lstStyle/>
          <a:p>
            <a:pPr marL="171450" indent="-171450">
              <a:buFontTx/>
              <a:buChar char="-"/>
            </a:pPr>
            <a:r>
              <a:rPr lang="en-US" sz="1000" dirty="0"/>
              <a:t>Created new columns xxx</a:t>
            </a:r>
          </a:p>
          <a:p>
            <a:pPr marL="171450" indent="-171450">
              <a:buFontTx/>
              <a:buChar char="-"/>
            </a:pPr>
            <a:endParaRPr lang="en-GB" sz="1000" dirty="0"/>
          </a:p>
        </p:txBody>
      </p:sp>
      <p:sp>
        <p:nvSpPr>
          <p:cNvPr id="16" name="Rectangle 15">
            <a:extLst>
              <a:ext uri="{FF2B5EF4-FFF2-40B4-BE49-F238E27FC236}">
                <a16:creationId xmlns:a16="http://schemas.microsoft.com/office/drawing/2014/main" id="{347B7CEE-C70A-49AF-8995-DEDFCB520281}"/>
              </a:ext>
            </a:extLst>
          </p:cNvPr>
          <p:cNvSpPr/>
          <p:nvPr/>
        </p:nvSpPr>
        <p:spPr>
          <a:xfrm>
            <a:off x="2739927" y="5192413"/>
            <a:ext cx="1266248" cy="54403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Statistical Analysis</a:t>
            </a:r>
          </a:p>
        </p:txBody>
      </p:sp>
      <p:cxnSp>
        <p:nvCxnSpPr>
          <p:cNvPr id="18" name="Straight Arrow Connector 17">
            <a:extLst>
              <a:ext uri="{FF2B5EF4-FFF2-40B4-BE49-F238E27FC236}">
                <a16:creationId xmlns:a16="http://schemas.microsoft.com/office/drawing/2014/main" id="{2D3CB507-65A9-4808-8FD3-BEF2607C068D}"/>
              </a:ext>
            </a:extLst>
          </p:cNvPr>
          <p:cNvCxnSpPr>
            <a:cxnSpLocks/>
            <a:stCxn id="12" idx="2"/>
            <a:endCxn id="14" idx="0"/>
          </p:cNvCxnSpPr>
          <p:nvPr/>
        </p:nvCxnSpPr>
        <p:spPr>
          <a:xfrm>
            <a:off x="3373051" y="4187455"/>
            <a:ext cx="0" cy="2185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DA3A3AC2-6B83-4685-8ACF-8FCBA9C56565}"/>
              </a:ext>
            </a:extLst>
          </p:cNvPr>
          <p:cNvCxnSpPr>
            <a:cxnSpLocks/>
            <a:stCxn id="10" idx="2"/>
            <a:endCxn id="12" idx="0"/>
          </p:cNvCxnSpPr>
          <p:nvPr/>
        </p:nvCxnSpPr>
        <p:spPr>
          <a:xfrm>
            <a:off x="3373051" y="3465322"/>
            <a:ext cx="0" cy="1780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Rectangle 23">
            <a:extLst>
              <a:ext uri="{FF2B5EF4-FFF2-40B4-BE49-F238E27FC236}">
                <a16:creationId xmlns:a16="http://schemas.microsoft.com/office/drawing/2014/main" id="{FB2A9837-599D-47B7-A1F9-65E13D026790}"/>
              </a:ext>
            </a:extLst>
          </p:cNvPr>
          <p:cNvSpPr/>
          <p:nvPr/>
        </p:nvSpPr>
        <p:spPr>
          <a:xfrm>
            <a:off x="6598213" y="2956387"/>
            <a:ext cx="1127504" cy="54403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Text </a:t>
            </a:r>
          </a:p>
          <a:p>
            <a:pPr algn="ctr"/>
            <a:r>
              <a:rPr lang="en-US" sz="1200" b="1" dirty="0">
                <a:solidFill>
                  <a:schemeClr val="tx1"/>
                </a:solidFill>
              </a:rPr>
              <a:t>Pre-processing</a:t>
            </a:r>
            <a:endParaRPr lang="en-US" sz="1200" dirty="0">
              <a:solidFill>
                <a:schemeClr val="tx1"/>
              </a:solidFill>
            </a:endParaRPr>
          </a:p>
        </p:txBody>
      </p:sp>
      <p:sp>
        <p:nvSpPr>
          <p:cNvPr id="25" name="TextBox 24">
            <a:extLst>
              <a:ext uri="{FF2B5EF4-FFF2-40B4-BE49-F238E27FC236}">
                <a16:creationId xmlns:a16="http://schemas.microsoft.com/office/drawing/2014/main" id="{979A09E4-1A6E-4AE9-BDE5-192BA500D11B}"/>
              </a:ext>
            </a:extLst>
          </p:cNvPr>
          <p:cNvSpPr txBox="1"/>
          <p:nvPr/>
        </p:nvSpPr>
        <p:spPr>
          <a:xfrm>
            <a:off x="7682934" y="4453773"/>
            <a:ext cx="1531404" cy="707886"/>
          </a:xfrm>
          <a:prstGeom prst="rect">
            <a:avLst/>
          </a:prstGeom>
          <a:noFill/>
        </p:spPr>
        <p:txBody>
          <a:bodyPr wrap="square" rtlCol="0">
            <a:spAutoFit/>
          </a:bodyPr>
          <a:lstStyle/>
          <a:p>
            <a:pPr marL="171450" indent="-171450">
              <a:buFontTx/>
              <a:buChar char="-"/>
            </a:pPr>
            <a:r>
              <a:rPr lang="en-GB" sz="1000" dirty="0"/>
              <a:t>Remove </a:t>
            </a:r>
            <a:r>
              <a:rPr lang="en-GB" sz="1000" dirty="0" err="1"/>
              <a:t>stopword</a:t>
            </a:r>
            <a:endParaRPr lang="en-GB" sz="1000" dirty="0"/>
          </a:p>
          <a:p>
            <a:pPr marL="171450" indent="-171450">
              <a:buFontTx/>
              <a:buChar char="-"/>
            </a:pPr>
            <a:r>
              <a:rPr lang="en-GB" sz="1000" dirty="0"/>
              <a:t>Stemming </a:t>
            </a:r>
          </a:p>
          <a:p>
            <a:pPr marL="171450" indent="-171450">
              <a:buFontTx/>
              <a:buChar char="-"/>
            </a:pPr>
            <a:r>
              <a:rPr lang="en-GB" sz="1000" dirty="0"/>
              <a:t>…</a:t>
            </a:r>
          </a:p>
          <a:p>
            <a:endParaRPr lang="en-GB" sz="1000" dirty="0"/>
          </a:p>
        </p:txBody>
      </p:sp>
      <p:sp>
        <p:nvSpPr>
          <p:cNvPr id="26" name="Rectangle 25">
            <a:extLst>
              <a:ext uri="{FF2B5EF4-FFF2-40B4-BE49-F238E27FC236}">
                <a16:creationId xmlns:a16="http://schemas.microsoft.com/office/drawing/2014/main" id="{F21D7509-3745-4AFC-942C-0D30780C233B}"/>
              </a:ext>
            </a:extLst>
          </p:cNvPr>
          <p:cNvSpPr/>
          <p:nvPr/>
        </p:nvSpPr>
        <p:spPr>
          <a:xfrm>
            <a:off x="6616104" y="4441817"/>
            <a:ext cx="1091722" cy="54403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Classification</a:t>
            </a:r>
            <a:endParaRPr lang="en-US" sz="1200" dirty="0">
              <a:solidFill>
                <a:schemeClr val="tx1"/>
              </a:solidFill>
            </a:endParaRPr>
          </a:p>
        </p:txBody>
      </p:sp>
      <p:sp>
        <p:nvSpPr>
          <p:cNvPr id="27" name="Rectangle 26">
            <a:extLst>
              <a:ext uri="{FF2B5EF4-FFF2-40B4-BE49-F238E27FC236}">
                <a16:creationId xmlns:a16="http://schemas.microsoft.com/office/drawing/2014/main" id="{06DCF387-AFD6-4031-A462-8954DA41ACC8}"/>
              </a:ext>
            </a:extLst>
          </p:cNvPr>
          <p:cNvSpPr/>
          <p:nvPr/>
        </p:nvSpPr>
        <p:spPr>
          <a:xfrm>
            <a:off x="9852788" y="2434103"/>
            <a:ext cx="1989962" cy="3411472"/>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28" name="Rectangle 27">
            <a:extLst>
              <a:ext uri="{FF2B5EF4-FFF2-40B4-BE49-F238E27FC236}">
                <a16:creationId xmlns:a16="http://schemas.microsoft.com/office/drawing/2014/main" id="{FE35634C-B9EE-49FF-9BE2-C9C405F765BD}"/>
              </a:ext>
            </a:extLst>
          </p:cNvPr>
          <p:cNvSpPr/>
          <p:nvPr/>
        </p:nvSpPr>
        <p:spPr>
          <a:xfrm>
            <a:off x="9852788" y="2440260"/>
            <a:ext cx="1989962" cy="307777"/>
          </a:xfrm>
          <a:prstGeom prst="rect">
            <a:avLst/>
          </a:prstGeom>
        </p:spPr>
        <p:txBody>
          <a:bodyPr wrap="square">
            <a:spAutoFit/>
          </a:bodyPr>
          <a:lstStyle/>
          <a:p>
            <a:pPr algn="ctr"/>
            <a:r>
              <a:rPr lang="en-US" sz="1400" b="1" i="0" dirty="0">
                <a:effectLst/>
                <a:latin typeface="Arial" panose="020B0604020202020204" pitchFamily="34" charset="0"/>
                <a:cs typeface="Arial" panose="020B0604020202020204" pitchFamily="34" charset="0"/>
              </a:rPr>
              <a:t>Visualization</a:t>
            </a:r>
            <a:endParaRPr lang="en-GB" sz="1400" b="1" dirty="0">
              <a:latin typeface="Arial" panose="020B0604020202020204" pitchFamily="34" charset="0"/>
              <a:cs typeface="Arial" panose="020B0604020202020204" pitchFamily="34" charset="0"/>
            </a:endParaRPr>
          </a:p>
        </p:txBody>
      </p:sp>
      <p:cxnSp>
        <p:nvCxnSpPr>
          <p:cNvPr id="29" name="Straight Arrow Connector 28">
            <a:extLst>
              <a:ext uri="{FF2B5EF4-FFF2-40B4-BE49-F238E27FC236}">
                <a16:creationId xmlns:a16="http://schemas.microsoft.com/office/drawing/2014/main" id="{6AC61202-6141-47C8-8071-2996D590DAC9}"/>
              </a:ext>
            </a:extLst>
          </p:cNvPr>
          <p:cNvCxnSpPr>
            <a:cxnSpLocks/>
            <a:stCxn id="24" idx="2"/>
            <a:endCxn id="129" idx="0"/>
          </p:cNvCxnSpPr>
          <p:nvPr/>
        </p:nvCxnSpPr>
        <p:spPr>
          <a:xfrm>
            <a:off x="7161965" y="3500421"/>
            <a:ext cx="0" cy="2146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Rectangle 31">
            <a:extLst>
              <a:ext uri="{FF2B5EF4-FFF2-40B4-BE49-F238E27FC236}">
                <a16:creationId xmlns:a16="http://schemas.microsoft.com/office/drawing/2014/main" id="{6264EFF9-C5F6-4CA6-9E3A-FB5432E58D6F}"/>
              </a:ext>
            </a:extLst>
          </p:cNvPr>
          <p:cNvSpPr/>
          <p:nvPr/>
        </p:nvSpPr>
        <p:spPr>
          <a:xfrm>
            <a:off x="10267950" y="3804469"/>
            <a:ext cx="1166766" cy="54403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Some dashboard</a:t>
            </a:r>
            <a:endParaRPr lang="en-US" sz="1200" dirty="0">
              <a:solidFill>
                <a:schemeClr val="tx1"/>
              </a:solidFill>
            </a:endParaRPr>
          </a:p>
        </p:txBody>
      </p:sp>
      <p:sp>
        <p:nvSpPr>
          <p:cNvPr id="36" name="TextBox 35">
            <a:extLst>
              <a:ext uri="{FF2B5EF4-FFF2-40B4-BE49-F238E27FC236}">
                <a16:creationId xmlns:a16="http://schemas.microsoft.com/office/drawing/2014/main" id="{75F58FAE-7A8C-4332-BA67-857A3355E439}"/>
              </a:ext>
            </a:extLst>
          </p:cNvPr>
          <p:cNvSpPr txBox="1"/>
          <p:nvPr/>
        </p:nvSpPr>
        <p:spPr>
          <a:xfrm>
            <a:off x="7707826" y="2940655"/>
            <a:ext cx="1531404" cy="246221"/>
          </a:xfrm>
          <a:prstGeom prst="rect">
            <a:avLst/>
          </a:prstGeom>
          <a:noFill/>
        </p:spPr>
        <p:txBody>
          <a:bodyPr wrap="square" rtlCol="0">
            <a:spAutoFit/>
          </a:bodyPr>
          <a:lstStyle/>
          <a:p>
            <a:pPr marL="171450" indent="-171450">
              <a:buFontTx/>
              <a:buChar char="-"/>
            </a:pPr>
            <a:r>
              <a:rPr lang="en-GB" sz="1000" dirty="0"/>
              <a:t>Predict labels xxx</a:t>
            </a:r>
          </a:p>
        </p:txBody>
      </p:sp>
      <p:sp>
        <p:nvSpPr>
          <p:cNvPr id="51" name="Rectangle 50">
            <a:extLst>
              <a:ext uri="{FF2B5EF4-FFF2-40B4-BE49-F238E27FC236}">
                <a16:creationId xmlns:a16="http://schemas.microsoft.com/office/drawing/2014/main" id="{528B285E-BCE5-49A3-A9B3-5635156C8B76}"/>
              </a:ext>
            </a:extLst>
          </p:cNvPr>
          <p:cNvSpPr/>
          <p:nvPr/>
        </p:nvSpPr>
        <p:spPr>
          <a:xfrm>
            <a:off x="563448" y="3643421"/>
            <a:ext cx="1266249" cy="54403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Data Source 2</a:t>
            </a:r>
          </a:p>
          <a:p>
            <a:pPr algn="ctr"/>
            <a:r>
              <a:rPr lang="en-US" sz="1000" i="1" dirty="0">
                <a:solidFill>
                  <a:schemeClr val="tx1"/>
                </a:solidFill>
              </a:rPr>
              <a:t>(details)</a:t>
            </a:r>
            <a:endParaRPr lang="en-US" sz="1050" i="1" dirty="0">
              <a:solidFill>
                <a:schemeClr val="tx1"/>
              </a:solidFill>
            </a:endParaRPr>
          </a:p>
        </p:txBody>
      </p:sp>
      <p:cxnSp>
        <p:nvCxnSpPr>
          <p:cNvPr id="53" name="Connector: Elbow 52">
            <a:extLst>
              <a:ext uri="{FF2B5EF4-FFF2-40B4-BE49-F238E27FC236}">
                <a16:creationId xmlns:a16="http://schemas.microsoft.com/office/drawing/2014/main" id="{51BCE70F-D6EB-448C-93F3-F3B54F0B0806}"/>
              </a:ext>
            </a:extLst>
          </p:cNvPr>
          <p:cNvCxnSpPr>
            <a:stCxn id="6" idx="3"/>
            <a:endCxn id="10" idx="1"/>
          </p:cNvCxnSpPr>
          <p:nvPr/>
        </p:nvCxnSpPr>
        <p:spPr>
          <a:xfrm flipV="1">
            <a:off x="1829697" y="3193305"/>
            <a:ext cx="910230" cy="5847"/>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4" name="Connector: Elbow 53">
            <a:extLst>
              <a:ext uri="{FF2B5EF4-FFF2-40B4-BE49-F238E27FC236}">
                <a16:creationId xmlns:a16="http://schemas.microsoft.com/office/drawing/2014/main" id="{6050394C-96A7-4CEF-8E12-0D428FC66553}"/>
              </a:ext>
            </a:extLst>
          </p:cNvPr>
          <p:cNvCxnSpPr>
            <a:cxnSpLocks/>
            <a:stCxn id="51" idx="3"/>
            <a:endCxn id="10" idx="1"/>
          </p:cNvCxnSpPr>
          <p:nvPr/>
        </p:nvCxnSpPr>
        <p:spPr>
          <a:xfrm flipV="1">
            <a:off x="1829697" y="3193305"/>
            <a:ext cx="910230" cy="722133"/>
          </a:xfrm>
          <a:prstGeom prst="bentConnector3">
            <a:avLst>
              <a:gd name="adj1" fmla="val 58371"/>
            </a:avLst>
          </a:prstGeom>
          <a:ln>
            <a:tailEnd type="triangle"/>
          </a:ln>
        </p:spPr>
        <p:style>
          <a:lnRef idx="1">
            <a:schemeClr val="dk1"/>
          </a:lnRef>
          <a:fillRef idx="0">
            <a:schemeClr val="dk1"/>
          </a:fillRef>
          <a:effectRef idx="0">
            <a:schemeClr val="dk1"/>
          </a:effectRef>
          <a:fontRef idx="minor">
            <a:schemeClr val="tx1"/>
          </a:fontRef>
        </p:style>
      </p:cxnSp>
      <p:sp>
        <p:nvSpPr>
          <p:cNvPr id="57" name="TextBox 56">
            <a:extLst>
              <a:ext uri="{FF2B5EF4-FFF2-40B4-BE49-F238E27FC236}">
                <a16:creationId xmlns:a16="http://schemas.microsoft.com/office/drawing/2014/main" id="{E05C5DB5-8581-4F51-8926-765A2B107A13}"/>
              </a:ext>
            </a:extLst>
          </p:cNvPr>
          <p:cNvSpPr txBox="1"/>
          <p:nvPr/>
        </p:nvSpPr>
        <p:spPr>
          <a:xfrm>
            <a:off x="3982284" y="3643180"/>
            <a:ext cx="1804829" cy="707886"/>
          </a:xfrm>
          <a:prstGeom prst="rect">
            <a:avLst/>
          </a:prstGeom>
          <a:noFill/>
        </p:spPr>
        <p:txBody>
          <a:bodyPr wrap="square" rtlCol="0">
            <a:spAutoFit/>
          </a:bodyPr>
          <a:lstStyle/>
          <a:p>
            <a:pPr marL="171450" indent="-171450">
              <a:buFontTx/>
              <a:buChar char="-"/>
            </a:pPr>
            <a:r>
              <a:rPr lang="en-US" sz="1000" dirty="0"/>
              <a:t>Clean / dedupe…</a:t>
            </a:r>
          </a:p>
          <a:p>
            <a:pPr marL="171450" indent="-171450">
              <a:buFontTx/>
              <a:buChar char="-"/>
            </a:pPr>
            <a:r>
              <a:rPr lang="en-US" sz="1000" dirty="0"/>
              <a:t>Impute / drop / fix…</a:t>
            </a:r>
          </a:p>
          <a:p>
            <a:pPr marL="171450" indent="-171450">
              <a:buFontTx/>
              <a:buChar char="-"/>
            </a:pPr>
            <a:r>
              <a:rPr lang="en-US" sz="1000" dirty="0"/>
              <a:t>Augment…</a:t>
            </a:r>
          </a:p>
          <a:p>
            <a:pPr marL="171450" indent="-171450">
              <a:buFontTx/>
              <a:buChar char="-"/>
            </a:pPr>
            <a:r>
              <a:rPr lang="en-US" sz="1000" dirty="0"/>
              <a:t>Label / Annotate…</a:t>
            </a:r>
          </a:p>
        </p:txBody>
      </p:sp>
      <p:cxnSp>
        <p:nvCxnSpPr>
          <p:cNvPr id="74" name="Connector: Elbow 73">
            <a:extLst>
              <a:ext uri="{FF2B5EF4-FFF2-40B4-BE49-F238E27FC236}">
                <a16:creationId xmlns:a16="http://schemas.microsoft.com/office/drawing/2014/main" id="{36CDFAE5-3CA3-40BE-9929-1F6EF0391FE9}"/>
              </a:ext>
            </a:extLst>
          </p:cNvPr>
          <p:cNvCxnSpPr>
            <a:cxnSpLocks/>
            <a:stCxn id="26" idx="2"/>
            <a:endCxn id="32" idx="1"/>
          </p:cNvCxnSpPr>
          <p:nvPr/>
        </p:nvCxnSpPr>
        <p:spPr>
          <a:xfrm rot="5400000" flipH="1" flipV="1">
            <a:off x="8260274" y="2978176"/>
            <a:ext cx="909365" cy="3105985"/>
          </a:xfrm>
          <a:prstGeom prst="bentConnector4">
            <a:avLst>
              <a:gd name="adj1" fmla="val -25138"/>
              <a:gd name="adj2" fmla="val 91907"/>
            </a:avLst>
          </a:prstGeom>
          <a:ln>
            <a:tailEnd type="triangle"/>
          </a:ln>
        </p:spPr>
        <p:style>
          <a:lnRef idx="1">
            <a:schemeClr val="dk1"/>
          </a:lnRef>
          <a:fillRef idx="0">
            <a:schemeClr val="dk1"/>
          </a:fillRef>
          <a:effectRef idx="0">
            <a:schemeClr val="dk1"/>
          </a:effectRef>
          <a:fontRef idx="minor">
            <a:schemeClr val="tx1"/>
          </a:fontRef>
        </p:style>
      </p:cxnSp>
      <p:sp>
        <p:nvSpPr>
          <p:cNvPr id="77" name="Rectangle 76">
            <a:extLst>
              <a:ext uri="{FF2B5EF4-FFF2-40B4-BE49-F238E27FC236}">
                <a16:creationId xmlns:a16="http://schemas.microsoft.com/office/drawing/2014/main" id="{B769878E-C5B4-4499-BD31-D819EDD90A9F}"/>
              </a:ext>
            </a:extLst>
          </p:cNvPr>
          <p:cNvSpPr/>
          <p:nvPr/>
        </p:nvSpPr>
        <p:spPr>
          <a:xfrm>
            <a:off x="10267950" y="5192413"/>
            <a:ext cx="1166766" cy="54403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Graph or chart or something</a:t>
            </a:r>
            <a:endParaRPr lang="en-US" sz="1200" dirty="0">
              <a:solidFill>
                <a:schemeClr val="tx1"/>
              </a:solidFill>
            </a:endParaRPr>
          </a:p>
        </p:txBody>
      </p:sp>
      <p:cxnSp>
        <p:nvCxnSpPr>
          <p:cNvPr id="79" name="Connector: Elbow 78">
            <a:extLst>
              <a:ext uri="{FF2B5EF4-FFF2-40B4-BE49-F238E27FC236}">
                <a16:creationId xmlns:a16="http://schemas.microsoft.com/office/drawing/2014/main" id="{6BD113ED-02AB-41B8-BE22-550F5AF2393F}"/>
              </a:ext>
            </a:extLst>
          </p:cNvPr>
          <p:cNvCxnSpPr>
            <a:cxnSpLocks/>
            <a:stCxn id="14" idx="3"/>
            <a:endCxn id="24" idx="1"/>
          </p:cNvCxnSpPr>
          <p:nvPr/>
        </p:nvCxnSpPr>
        <p:spPr>
          <a:xfrm flipV="1">
            <a:off x="4006175" y="3228404"/>
            <a:ext cx="2592038" cy="1449582"/>
          </a:xfrm>
          <a:prstGeom prst="bentConnector3">
            <a:avLst>
              <a:gd name="adj1" fmla="val 89009"/>
            </a:avLst>
          </a:prstGeom>
          <a:ln>
            <a:tailEnd type="triangle"/>
          </a:ln>
        </p:spPr>
        <p:style>
          <a:lnRef idx="1">
            <a:schemeClr val="dk1"/>
          </a:lnRef>
          <a:fillRef idx="0">
            <a:schemeClr val="dk1"/>
          </a:fillRef>
          <a:effectRef idx="0">
            <a:schemeClr val="dk1"/>
          </a:effectRef>
          <a:fontRef idx="minor">
            <a:schemeClr val="tx1"/>
          </a:fontRef>
        </p:style>
      </p:cxnSp>
      <p:sp>
        <p:nvSpPr>
          <p:cNvPr id="91" name="TextBox 90">
            <a:extLst>
              <a:ext uri="{FF2B5EF4-FFF2-40B4-BE49-F238E27FC236}">
                <a16:creationId xmlns:a16="http://schemas.microsoft.com/office/drawing/2014/main" id="{88865088-06B1-483F-9D32-BCDE93C6ACD7}"/>
              </a:ext>
            </a:extLst>
          </p:cNvPr>
          <p:cNvSpPr txBox="1"/>
          <p:nvPr/>
        </p:nvSpPr>
        <p:spPr>
          <a:xfrm>
            <a:off x="1527536" y="1578260"/>
            <a:ext cx="9340236" cy="646331"/>
          </a:xfrm>
          <a:prstGeom prst="rect">
            <a:avLst/>
          </a:prstGeom>
          <a:noFill/>
        </p:spPr>
        <p:txBody>
          <a:bodyPr wrap="square" rtlCol="0">
            <a:spAutoFit/>
          </a:bodyPr>
          <a:lstStyle/>
          <a:p>
            <a:r>
              <a:rPr lang="en-US" dirty="0">
                <a:solidFill>
                  <a:srgbClr val="FF0000"/>
                </a:solidFill>
              </a:rPr>
              <a:t>DISCLAIMER</a:t>
            </a:r>
            <a:r>
              <a:rPr lang="en-US" dirty="0"/>
              <a:t>: This is just an example of how to provide an overview of your project methodology. Your actual project may differ in representation.</a:t>
            </a:r>
            <a:endParaRPr lang="en-GB" dirty="0"/>
          </a:p>
        </p:txBody>
      </p:sp>
      <p:sp>
        <p:nvSpPr>
          <p:cNvPr id="35" name="Rectangle 34">
            <a:extLst>
              <a:ext uri="{FF2B5EF4-FFF2-40B4-BE49-F238E27FC236}">
                <a16:creationId xmlns:a16="http://schemas.microsoft.com/office/drawing/2014/main" id="{09BBC011-BA15-4DC0-B900-BA4E2F455BA7}"/>
              </a:ext>
            </a:extLst>
          </p:cNvPr>
          <p:cNvSpPr/>
          <p:nvPr/>
        </p:nvSpPr>
        <p:spPr>
          <a:xfrm>
            <a:off x="6129680" y="2434102"/>
            <a:ext cx="3564955" cy="307777"/>
          </a:xfrm>
          <a:prstGeom prst="rect">
            <a:avLst/>
          </a:prstGeom>
        </p:spPr>
        <p:txBody>
          <a:bodyPr wrap="square">
            <a:spAutoFit/>
          </a:bodyPr>
          <a:lstStyle/>
          <a:p>
            <a:pPr algn="ctr"/>
            <a:r>
              <a:rPr lang="en-US" sz="1400" b="1" i="0" dirty="0">
                <a:effectLst/>
                <a:latin typeface="Arial" panose="020B0604020202020204" pitchFamily="34" charset="0"/>
                <a:cs typeface="Arial" panose="020B0604020202020204" pitchFamily="34" charset="0"/>
              </a:rPr>
              <a:t>Modelling</a:t>
            </a:r>
            <a:endParaRPr lang="en-GB" sz="1400" b="1" dirty="0">
              <a:latin typeface="Arial" panose="020B0604020202020204" pitchFamily="34" charset="0"/>
              <a:cs typeface="Arial" panose="020B0604020202020204" pitchFamily="34" charset="0"/>
            </a:endParaRPr>
          </a:p>
        </p:txBody>
      </p:sp>
      <p:sp>
        <p:nvSpPr>
          <p:cNvPr id="55" name="Rectangle 54">
            <a:extLst>
              <a:ext uri="{FF2B5EF4-FFF2-40B4-BE49-F238E27FC236}">
                <a16:creationId xmlns:a16="http://schemas.microsoft.com/office/drawing/2014/main" id="{244A0611-131F-4E7B-A20F-D96E059ACAA5}"/>
              </a:ext>
            </a:extLst>
          </p:cNvPr>
          <p:cNvSpPr/>
          <p:nvPr/>
        </p:nvSpPr>
        <p:spPr>
          <a:xfrm>
            <a:off x="563448" y="4376186"/>
            <a:ext cx="1266249" cy="54403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Data Source 3</a:t>
            </a:r>
            <a:endParaRPr lang="en-US" sz="1600" b="1" dirty="0">
              <a:solidFill>
                <a:schemeClr val="tx1"/>
              </a:solidFill>
            </a:endParaRPr>
          </a:p>
          <a:p>
            <a:pPr algn="ctr"/>
            <a:r>
              <a:rPr lang="en-US" sz="1000" i="1" dirty="0">
                <a:solidFill>
                  <a:schemeClr val="tx1"/>
                </a:solidFill>
              </a:rPr>
              <a:t>(</a:t>
            </a:r>
            <a:r>
              <a:rPr lang="en-US" sz="900" i="1" dirty="0">
                <a:solidFill>
                  <a:schemeClr val="tx1"/>
                </a:solidFill>
              </a:rPr>
              <a:t>details)</a:t>
            </a:r>
            <a:endParaRPr lang="en-US" sz="1000" i="1" dirty="0">
              <a:solidFill>
                <a:schemeClr val="tx1"/>
              </a:solidFill>
            </a:endParaRPr>
          </a:p>
        </p:txBody>
      </p:sp>
      <p:cxnSp>
        <p:nvCxnSpPr>
          <p:cNvPr id="56" name="Connector: Elbow 55">
            <a:extLst>
              <a:ext uri="{FF2B5EF4-FFF2-40B4-BE49-F238E27FC236}">
                <a16:creationId xmlns:a16="http://schemas.microsoft.com/office/drawing/2014/main" id="{D903431E-6016-4720-BBC0-328113EE3E2E}"/>
              </a:ext>
            </a:extLst>
          </p:cNvPr>
          <p:cNvCxnSpPr>
            <a:cxnSpLocks/>
            <a:stCxn id="55" idx="3"/>
            <a:endCxn id="10" idx="1"/>
          </p:cNvCxnSpPr>
          <p:nvPr/>
        </p:nvCxnSpPr>
        <p:spPr>
          <a:xfrm flipV="1">
            <a:off x="1829697" y="3193305"/>
            <a:ext cx="910230" cy="1454898"/>
          </a:xfrm>
          <a:prstGeom prst="bentConnector3">
            <a:avLst>
              <a:gd name="adj1" fmla="val 59069"/>
            </a:avLst>
          </a:prstGeom>
          <a:ln>
            <a:tailEnd type="triangle"/>
          </a:ln>
        </p:spPr>
        <p:style>
          <a:lnRef idx="1">
            <a:schemeClr val="dk1"/>
          </a:lnRef>
          <a:fillRef idx="0">
            <a:schemeClr val="dk1"/>
          </a:fillRef>
          <a:effectRef idx="0">
            <a:schemeClr val="dk1"/>
          </a:effectRef>
          <a:fontRef idx="minor">
            <a:schemeClr val="tx1"/>
          </a:fontRef>
        </p:style>
      </p:cxnSp>
      <p:cxnSp>
        <p:nvCxnSpPr>
          <p:cNvPr id="82" name="Straight Arrow Connector 81">
            <a:extLst>
              <a:ext uri="{FF2B5EF4-FFF2-40B4-BE49-F238E27FC236}">
                <a16:creationId xmlns:a16="http://schemas.microsoft.com/office/drawing/2014/main" id="{CA653E70-D46F-4495-85FF-02C53FCBD0CE}"/>
              </a:ext>
            </a:extLst>
          </p:cNvPr>
          <p:cNvCxnSpPr>
            <a:cxnSpLocks/>
            <a:stCxn id="14" idx="2"/>
            <a:endCxn id="16" idx="0"/>
          </p:cNvCxnSpPr>
          <p:nvPr/>
        </p:nvCxnSpPr>
        <p:spPr>
          <a:xfrm>
            <a:off x="3373051" y="4950003"/>
            <a:ext cx="0" cy="2424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8" name="Straight Arrow Connector 87">
            <a:extLst>
              <a:ext uri="{FF2B5EF4-FFF2-40B4-BE49-F238E27FC236}">
                <a16:creationId xmlns:a16="http://schemas.microsoft.com/office/drawing/2014/main" id="{9746F279-119A-48C7-83FE-63A07ABEE5A2}"/>
              </a:ext>
            </a:extLst>
          </p:cNvPr>
          <p:cNvCxnSpPr>
            <a:cxnSpLocks/>
            <a:stCxn id="16" idx="3"/>
            <a:endCxn id="77" idx="1"/>
          </p:cNvCxnSpPr>
          <p:nvPr/>
        </p:nvCxnSpPr>
        <p:spPr>
          <a:xfrm>
            <a:off x="4006175" y="5464430"/>
            <a:ext cx="626177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3" name="TextBox 112">
            <a:extLst>
              <a:ext uri="{FF2B5EF4-FFF2-40B4-BE49-F238E27FC236}">
                <a16:creationId xmlns:a16="http://schemas.microsoft.com/office/drawing/2014/main" id="{2225AC99-BF4D-4F7B-A274-03C16BE1EFA1}"/>
              </a:ext>
            </a:extLst>
          </p:cNvPr>
          <p:cNvSpPr txBox="1"/>
          <p:nvPr/>
        </p:nvSpPr>
        <p:spPr>
          <a:xfrm>
            <a:off x="3982284" y="2919737"/>
            <a:ext cx="1804835" cy="553998"/>
          </a:xfrm>
          <a:prstGeom prst="rect">
            <a:avLst/>
          </a:prstGeom>
          <a:noFill/>
        </p:spPr>
        <p:txBody>
          <a:bodyPr wrap="square" rtlCol="0">
            <a:spAutoFit/>
          </a:bodyPr>
          <a:lstStyle/>
          <a:p>
            <a:pPr marL="171450" indent="-171450">
              <a:buFontTx/>
              <a:buChar char="-"/>
            </a:pPr>
            <a:r>
              <a:rPr lang="en-US" sz="1000" dirty="0"/>
              <a:t>Filter…</a:t>
            </a:r>
          </a:p>
          <a:p>
            <a:pPr marL="171450" indent="-171450">
              <a:buFontTx/>
              <a:buChar char="-"/>
            </a:pPr>
            <a:r>
              <a:rPr lang="en-US" sz="1000" dirty="0"/>
              <a:t>Join…</a:t>
            </a:r>
          </a:p>
          <a:p>
            <a:pPr marL="171450" indent="-171450">
              <a:buFontTx/>
              <a:buChar char="-"/>
            </a:pPr>
            <a:r>
              <a:rPr lang="en-US" sz="1000" dirty="0"/>
              <a:t>Transform…</a:t>
            </a:r>
          </a:p>
        </p:txBody>
      </p:sp>
      <p:sp>
        <p:nvSpPr>
          <p:cNvPr id="120" name="TextBox 119">
            <a:extLst>
              <a:ext uri="{FF2B5EF4-FFF2-40B4-BE49-F238E27FC236}">
                <a16:creationId xmlns:a16="http://schemas.microsoft.com/office/drawing/2014/main" id="{B9C458C7-DD70-4FB3-8B94-310AB1B6DF2E}"/>
              </a:ext>
            </a:extLst>
          </p:cNvPr>
          <p:cNvSpPr txBox="1"/>
          <p:nvPr/>
        </p:nvSpPr>
        <p:spPr>
          <a:xfrm>
            <a:off x="3953574" y="4713834"/>
            <a:ext cx="2071935" cy="215444"/>
          </a:xfrm>
          <a:prstGeom prst="rect">
            <a:avLst/>
          </a:prstGeom>
          <a:noFill/>
        </p:spPr>
        <p:txBody>
          <a:bodyPr wrap="square">
            <a:spAutoFit/>
          </a:bodyPr>
          <a:lstStyle/>
          <a:p>
            <a:r>
              <a:rPr lang="en-US" sz="800" i="1" dirty="0"/>
              <a:t>(this could also be parked under “Modelling”)</a:t>
            </a:r>
          </a:p>
        </p:txBody>
      </p:sp>
      <p:sp>
        <p:nvSpPr>
          <p:cNvPr id="129" name="Rectangle 128">
            <a:extLst>
              <a:ext uri="{FF2B5EF4-FFF2-40B4-BE49-F238E27FC236}">
                <a16:creationId xmlns:a16="http://schemas.microsoft.com/office/drawing/2014/main" id="{859BCD80-0F40-4B11-BF89-49695C0A8D13}"/>
              </a:ext>
            </a:extLst>
          </p:cNvPr>
          <p:cNvSpPr/>
          <p:nvPr/>
        </p:nvSpPr>
        <p:spPr>
          <a:xfrm>
            <a:off x="6616104" y="3715118"/>
            <a:ext cx="1091722" cy="54403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Tune </a:t>
            </a:r>
            <a:r>
              <a:rPr lang="en-US" sz="1200" b="1" dirty="0" err="1">
                <a:solidFill>
                  <a:schemeClr val="tx1"/>
                </a:solidFill>
              </a:rPr>
              <a:t>Hyperparams</a:t>
            </a:r>
            <a:endParaRPr lang="en-US" sz="1200" dirty="0">
              <a:solidFill>
                <a:schemeClr val="tx1"/>
              </a:solidFill>
            </a:endParaRPr>
          </a:p>
        </p:txBody>
      </p:sp>
      <p:cxnSp>
        <p:nvCxnSpPr>
          <p:cNvPr id="131" name="Straight Arrow Connector 130">
            <a:extLst>
              <a:ext uri="{FF2B5EF4-FFF2-40B4-BE49-F238E27FC236}">
                <a16:creationId xmlns:a16="http://schemas.microsoft.com/office/drawing/2014/main" id="{5083A841-BEA3-4872-972E-3C24995AD8A1}"/>
              </a:ext>
            </a:extLst>
          </p:cNvPr>
          <p:cNvCxnSpPr>
            <a:cxnSpLocks/>
            <a:stCxn id="129" idx="2"/>
            <a:endCxn id="26" idx="0"/>
          </p:cNvCxnSpPr>
          <p:nvPr/>
        </p:nvCxnSpPr>
        <p:spPr>
          <a:xfrm>
            <a:off x="7161965" y="4259152"/>
            <a:ext cx="0" cy="1826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4" name="TextBox 133">
            <a:extLst>
              <a:ext uri="{FF2B5EF4-FFF2-40B4-BE49-F238E27FC236}">
                <a16:creationId xmlns:a16="http://schemas.microsoft.com/office/drawing/2014/main" id="{FCA7886F-7D6F-479A-83D2-11941F4BDBA4}"/>
              </a:ext>
            </a:extLst>
          </p:cNvPr>
          <p:cNvSpPr txBox="1"/>
          <p:nvPr/>
        </p:nvSpPr>
        <p:spPr>
          <a:xfrm>
            <a:off x="7707826" y="3695042"/>
            <a:ext cx="1531404" cy="246221"/>
          </a:xfrm>
          <a:prstGeom prst="rect">
            <a:avLst/>
          </a:prstGeom>
          <a:noFill/>
        </p:spPr>
        <p:txBody>
          <a:bodyPr wrap="square" rtlCol="0">
            <a:spAutoFit/>
          </a:bodyPr>
          <a:lstStyle/>
          <a:p>
            <a:pPr marL="171450" indent="-171450">
              <a:buFontTx/>
              <a:buChar char="-"/>
            </a:pPr>
            <a:r>
              <a:rPr lang="en-GB" sz="1000" dirty="0"/>
              <a:t>Optional</a:t>
            </a:r>
          </a:p>
        </p:txBody>
      </p:sp>
    </p:spTree>
    <p:extLst>
      <p:ext uri="{BB962C8B-B14F-4D97-AF65-F5344CB8AC3E}">
        <p14:creationId xmlns:p14="http://schemas.microsoft.com/office/powerpoint/2010/main" val="756787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Methodology – More detail</a:t>
            </a:r>
          </a:p>
        </p:txBody>
      </p:sp>
      <p:sp>
        <p:nvSpPr>
          <p:cNvPr id="3" name="Content Placeholder 2"/>
          <p:cNvSpPr>
            <a:spLocks noGrp="1"/>
          </p:cNvSpPr>
          <p:nvPr>
            <p:ph idx="1"/>
          </p:nvPr>
        </p:nvSpPr>
        <p:spPr>
          <a:xfrm>
            <a:off x="838200" y="1690688"/>
            <a:ext cx="10515600" cy="4486275"/>
          </a:xfrm>
        </p:spPr>
        <p:txBody>
          <a:bodyPr>
            <a:normAutofit fontScale="77500" lnSpcReduction="20000"/>
          </a:bodyPr>
          <a:lstStyle/>
          <a:p>
            <a:pPr>
              <a:lnSpc>
                <a:spcPct val="120000"/>
              </a:lnSpc>
            </a:pPr>
            <a:r>
              <a:rPr lang="en-US" dirty="0"/>
              <a:t>Usually you start with getting some data, understanding its provenance, analysis and EDA, and get some kind of insights about it</a:t>
            </a:r>
          </a:p>
          <a:p>
            <a:pPr>
              <a:lnSpc>
                <a:spcPct val="120000"/>
              </a:lnSpc>
            </a:pPr>
            <a:r>
              <a:rPr lang="en-US" dirty="0"/>
              <a:t>Talk about something that you explored in depth (which need not have panned out) and go through your analysis step by step, explaining your rationale</a:t>
            </a:r>
          </a:p>
          <a:p>
            <a:pPr>
              <a:lnSpc>
                <a:spcPct val="120000"/>
              </a:lnSpc>
            </a:pPr>
            <a:r>
              <a:rPr lang="en-US" dirty="0"/>
              <a:t>What worked and what didn’t? What did you find in your lit review (which you probably did)? What are the results of your baseline models (if applicable)?</a:t>
            </a:r>
          </a:p>
          <a:p>
            <a:pPr>
              <a:lnSpc>
                <a:spcPct val="120000"/>
              </a:lnSpc>
            </a:pPr>
            <a:r>
              <a:rPr lang="en-US" dirty="0"/>
              <a:t>If you did engineering work, do (very briefly) show your data pipeline and tech stack</a:t>
            </a:r>
          </a:p>
          <a:p>
            <a:pPr>
              <a:lnSpc>
                <a:spcPct val="120000"/>
              </a:lnSpc>
            </a:pPr>
            <a:r>
              <a:rPr lang="en-US" dirty="0"/>
              <a:t>If you just did it in a notebook, that’s fine, but do cover the overall workflow and the cleaning steps taken to get to the final stage, and how you applied it to real data and presented the results to the end users</a:t>
            </a:r>
          </a:p>
          <a:p>
            <a:pPr>
              <a:lnSpc>
                <a:spcPct val="120000"/>
              </a:lnSpc>
            </a:pPr>
            <a:endParaRPr lang="en-US" dirty="0"/>
          </a:p>
        </p:txBody>
      </p:sp>
    </p:spTree>
    <p:extLst>
      <p:ext uri="{BB962C8B-B14F-4D97-AF65-F5344CB8AC3E}">
        <p14:creationId xmlns:p14="http://schemas.microsoft.com/office/powerpoint/2010/main" val="679507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Outcome/Results</a:t>
            </a:r>
          </a:p>
        </p:txBody>
      </p:sp>
      <p:sp>
        <p:nvSpPr>
          <p:cNvPr id="3" name="Content Placeholder 2"/>
          <p:cNvSpPr>
            <a:spLocks noGrp="1"/>
          </p:cNvSpPr>
          <p:nvPr>
            <p:ph idx="1"/>
          </p:nvPr>
        </p:nvSpPr>
        <p:spPr/>
        <p:txBody>
          <a:bodyPr>
            <a:normAutofit/>
          </a:bodyPr>
          <a:lstStyle/>
          <a:p>
            <a:r>
              <a:rPr lang="en-US" dirty="0"/>
              <a:t>Help the audience interpret the results, again from both perspectives:</a:t>
            </a:r>
          </a:p>
          <a:p>
            <a:pPr lvl="1"/>
            <a:r>
              <a:rPr lang="en-US" dirty="0"/>
              <a:t>User perspective: How can the user interpret the results?</a:t>
            </a:r>
          </a:p>
          <a:p>
            <a:pPr lvl="1"/>
            <a:r>
              <a:rPr lang="en-US" dirty="0"/>
              <a:t>Developer perspective: Are the results expected? Can you identify causal factors in your results?</a:t>
            </a:r>
          </a:p>
          <a:p>
            <a:r>
              <a:rPr lang="en-US" dirty="0"/>
              <a:t>Link back to the problem statement. How does your solution address the problem?</a:t>
            </a:r>
          </a:p>
          <a:p>
            <a:r>
              <a:rPr lang="en-US" dirty="0"/>
              <a:t>While outcomes are good, the main goal of data analytics is to have learned something, so it’s okay not to have it in prod (or to have it in prod but not used by anyone)</a:t>
            </a:r>
          </a:p>
          <a:p>
            <a:pPr lvl="1"/>
            <a:r>
              <a:rPr lang="en-US" dirty="0"/>
              <a:t>At least one thing you did should have some kind of outcome though</a:t>
            </a:r>
          </a:p>
        </p:txBody>
      </p:sp>
    </p:spTree>
    <p:extLst>
      <p:ext uri="{BB962C8B-B14F-4D97-AF65-F5344CB8AC3E}">
        <p14:creationId xmlns:p14="http://schemas.microsoft.com/office/powerpoint/2010/main" val="2177717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98CD0-278B-482A-AA49-37DC754CDD66}"/>
              </a:ext>
            </a:extLst>
          </p:cNvPr>
          <p:cNvSpPr>
            <a:spLocks noGrp="1"/>
          </p:cNvSpPr>
          <p:nvPr>
            <p:ph type="title"/>
          </p:nvPr>
        </p:nvSpPr>
        <p:spPr/>
        <p:txBody>
          <a:bodyPr/>
          <a:lstStyle/>
          <a:p>
            <a:r>
              <a:rPr lang="en-US" dirty="0"/>
              <a:t>Outcome/Results</a:t>
            </a:r>
            <a:endParaRPr lang="en-GB" dirty="0"/>
          </a:p>
        </p:txBody>
      </p:sp>
      <p:sp>
        <p:nvSpPr>
          <p:cNvPr id="3" name="Content Placeholder 2">
            <a:extLst>
              <a:ext uri="{FF2B5EF4-FFF2-40B4-BE49-F238E27FC236}">
                <a16:creationId xmlns:a16="http://schemas.microsoft.com/office/drawing/2014/main" id="{558FCBB7-FCB9-4995-A185-2C73EA49111C}"/>
              </a:ext>
            </a:extLst>
          </p:cNvPr>
          <p:cNvSpPr>
            <a:spLocks noGrp="1"/>
          </p:cNvSpPr>
          <p:nvPr>
            <p:ph idx="1"/>
          </p:nvPr>
        </p:nvSpPr>
        <p:spPr/>
        <p:txBody>
          <a:bodyPr>
            <a:normAutofit fontScale="92500" lnSpcReduction="10000"/>
          </a:bodyPr>
          <a:lstStyle/>
          <a:p>
            <a:r>
              <a:rPr lang="en-US" dirty="0"/>
              <a:t>If you have real world results or benchmark scores, you can show these</a:t>
            </a:r>
          </a:p>
          <a:p>
            <a:r>
              <a:rPr lang="en-US" dirty="0"/>
              <a:t>Talk about what you learned about the data. Even if what you learned was that it’s 90% null and the remainder is randomly-generated garbage, at least we now know that</a:t>
            </a:r>
          </a:p>
          <a:p>
            <a:r>
              <a:rPr lang="en-US" dirty="0"/>
              <a:t>Retrospective about something that didn’t work: at least one feature must have been less useful than expected, or maybe there was a user requirement that was a dud. Maybe something suggested by the lit review was not reproducible.</a:t>
            </a:r>
          </a:p>
          <a:p>
            <a:r>
              <a:rPr lang="en-US" dirty="0"/>
              <a:t>Share next steps of project if relevant. E.g. you are working on applying your methodology on other datasets/use cases, you are experimenting with alternate methods to achieve the same outcome</a:t>
            </a:r>
            <a:endParaRPr lang="en-GB" dirty="0"/>
          </a:p>
        </p:txBody>
      </p:sp>
    </p:spTree>
    <p:extLst>
      <p:ext uri="{BB962C8B-B14F-4D97-AF65-F5344CB8AC3E}">
        <p14:creationId xmlns:p14="http://schemas.microsoft.com/office/powerpoint/2010/main" val="19676915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F777D-474D-4D3D-9831-CC95E289593F}"/>
              </a:ext>
            </a:extLst>
          </p:cNvPr>
          <p:cNvSpPr>
            <a:spLocks noGrp="1"/>
          </p:cNvSpPr>
          <p:nvPr>
            <p:ph type="ctrTitle"/>
          </p:nvPr>
        </p:nvSpPr>
        <p:spPr/>
        <p:txBody>
          <a:bodyPr/>
          <a:lstStyle/>
          <a:p>
            <a:r>
              <a:rPr lang="en-US" dirty="0"/>
              <a:t>Project 2</a:t>
            </a:r>
            <a:endParaRPr lang="en-GB" dirty="0"/>
          </a:p>
        </p:txBody>
      </p:sp>
      <p:sp>
        <p:nvSpPr>
          <p:cNvPr id="4" name="Subtitle 3">
            <a:extLst>
              <a:ext uri="{FF2B5EF4-FFF2-40B4-BE49-F238E27FC236}">
                <a16:creationId xmlns:a16="http://schemas.microsoft.com/office/drawing/2014/main" id="{3910443B-67C0-4B35-A141-A6E18CCB90F1}"/>
              </a:ext>
            </a:extLst>
          </p:cNvPr>
          <p:cNvSpPr>
            <a:spLocks noGrp="1"/>
          </p:cNvSpPr>
          <p:nvPr>
            <p:ph type="subTitle" idx="1"/>
          </p:nvPr>
        </p:nvSpPr>
        <p:spPr>
          <a:xfrm>
            <a:off x="1524000" y="3602037"/>
            <a:ext cx="9144000" cy="2387599"/>
          </a:xfrm>
        </p:spPr>
        <p:txBody>
          <a:bodyPr>
            <a:normAutofit/>
          </a:bodyPr>
          <a:lstStyle/>
          <a:p>
            <a:pPr marL="342900" indent="-342900" algn="l">
              <a:buFont typeface="Arial" panose="020B0604020202020204" pitchFamily="34" charset="0"/>
              <a:buChar char="•"/>
            </a:pPr>
            <a:r>
              <a:rPr lang="en-US" dirty="0"/>
              <a:t>Presenting a second project is optional (but recommended)</a:t>
            </a:r>
          </a:p>
          <a:p>
            <a:pPr marL="342900" indent="-342900" algn="l">
              <a:buFont typeface="Arial" panose="020B0604020202020204" pitchFamily="34" charset="0"/>
              <a:buChar char="•"/>
            </a:pPr>
            <a:r>
              <a:rPr lang="en-US" dirty="0"/>
              <a:t>It helps you can cover all items in the full data project lifecycle</a:t>
            </a:r>
          </a:p>
          <a:p>
            <a:pPr marL="342900" indent="-342900" algn="l">
              <a:buFont typeface="Arial" panose="020B0604020202020204" pitchFamily="34" charset="0"/>
              <a:buChar char="•"/>
            </a:pPr>
            <a:r>
              <a:rPr lang="en-US" dirty="0"/>
              <a:t>But if your first project is large enough, that’s good too</a:t>
            </a:r>
          </a:p>
          <a:p>
            <a:pPr marL="342900" indent="-342900" algn="l">
              <a:buFont typeface="Arial" panose="020B0604020202020204" pitchFamily="34" charset="0"/>
              <a:buChar char="•"/>
            </a:pPr>
            <a:endParaRPr lang="en-US" dirty="0"/>
          </a:p>
          <a:p>
            <a:pPr marL="342900" indent="-342900">
              <a:buFont typeface="Arial" panose="020B0604020202020204" pitchFamily="34" charset="0"/>
              <a:buChar char="•"/>
            </a:pPr>
            <a:endParaRPr lang="en-GB" dirty="0"/>
          </a:p>
        </p:txBody>
      </p:sp>
    </p:spTree>
    <p:extLst>
      <p:ext uri="{BB962C8B-B14F-4D97-AF65-F5344CB8AC3E}">
        <p14:creationId xmlns:p14="http://schemas.microsoft.com/office/powerpoint/2010/main" val="24620903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9E146-69A4-4841-9EC6-BAB1D131ECA9}"/>
              </a:ext>
            </a:extLst>
          </p:cNvPr>
          <p:cNvSpPr>
            <a:spLocks noGrp="1"/>
          </p:cNvSpPr>
          <p:nvPr>
            <p:ph type="title"/>
          </p:nvPr>
        </p:nvSpPr>
        <p:spPr/>
        <p:txBody>
          <a:bodyPr/>
          <a:lstStyle/>
          <a:p>
            <a:r>
              <a:rPr lang="en-US" dirty="0"/>
              <a:t>Note</a:t>
            </a:r>
            <a:endParaRPr lang="en-GB" dirty="0"/>
          </a:p>
        </p:txBody>
      </p:sp>
      <p:sp>
        <p:nvSpPr>
          <p:cNvPr id="3" name="Content Placeholder 2">
            <a:extLst>
              <a:ext uri="{FF2B5EF4-FFF2-40B4-BE49-F238E27FC236}">
                <a16:creationId xmlns:a16="http://schemas.microsoft.com/office/drawing/2014/main" id="{4A49C366-3842-4019-BC3A-114A4BA03D57}"/>
              </a:ext>
            </a:extLst>
          </p:cNvPr>
          <p:cNvSpPr>
            <a:spLocks noGrp="1"/>
          </p:cNvSpPr>
          <p:nvPr>
            <p:ph idx="1"/>
          </p:nvPr>
        </p:nvSpPr>
        <p:spPr/>
        <p:txBody>
          <a:bodyPr/>
          <a:lstStyle/>
          <a:p>
            <a:pPr marL="360363" indent="-360363"/>
            <a:r>
              <a:rPr lang="en-US" dirty="0"/>
              <a:t>Try to avoid presenting your BSEAC project, because that’s usually too short to showcase what you can do</a:t>
            </a:r>
          </a:p>
          <a:p>
            <a:pPr marL="342900" indent="-342900" algn="l">
              <a:buFont typeface="Arial" panose="020B0604020202020204" pitchFamily="34" charset="0"/>
              <a:buChar char="•"/>
            </a:pPr>
            <a:r>
              <a:rPr lang="en-US" dirty="0"/>
              <a:t>If you can cover a couple of projects in the allotted time it helps to get a feel for the breadth of projects you’ve worked on</a:t>
            </a:r>
          </a:p>
          <a:p>
            <a:pPr marL="342900" indent="-342900" algn="l">
              <a:buFont typeface="Arial" panose="020B0604020202020204" pitchFamily="34" charset="0"/>
              <a:buChar char="•"/>
            </a:pPr>
            <a:r>
              <a:rPr lang="en-US" dirty="0"/>
              <a:t>You need to go through a similar process as project 1 (Slide 4-10). However, some of the things (retrospective, things you learned) can be done for just one project to save the extra time for questions</a:t>
            </a:r>
          </a:p>
          <a:p>
            <a:endParaRPr lang="en-US" dirty="0"/>
          </a:p>
          <a:p>
            <a:endParaRPr lang="en-GB" dirty="0"/>
          </a:p>
        </p:txBody>
      </p:sp>
      <p:graphicFrame>
        <p:nvGraphicFramePr>
          <p:cNvPr id="4" name="Object 3">
            <a:extLst>
              <a:ext uri="{FF2B5EF4-FFF2-40B4-BE49-F238E27FC236}">
                <a16:creationId xmlns:a16="http://schemas.microsoft.com/office/drawing/2014/main" id="{A6554830-80B6-4B77-8F68-F64E85886816}"/>
              </a:ext>
            </a:extLst>
          </p:cNvPr>
          <p:cNvGraphicFramePr>
            <a:graphicFrameLocks noChangeAspect="1"/>
          </p:cNvGraphicFramePr>
          <p:nvPr>
            <p:extLst>
              <p:ext uri="{D42A27DB-BD31-4B8C-83A1-F6EECF244321}">
                <p14:modId xmlns:p14="http://schemas.microsoft.com/office/powerpoint/2010/main" val="1993643377"/>
              </p:ext>
            </p:extLst>
          </p:nvPr>
        </p:nvGraphicFramePr>
        <p:xfrm>
          <a:off x="1133475" y="5259388"/>
          <a:ext cx="1549400" cy="749300"/>
        </p:xfrm>
        <a:graphic>
          <a:graphicData uri="http://schemas.openxmlformats.org/presentationml/2006/ole">
            <mc:AlternateContent xmlns:mc="http://schemas.openxmlformats.org/markup-compatibility/2006">
              <mc:Choice xmlns:v="urn:schemas-microsoft-com:vml" Requires="v">
                <p:oleObj spid="_x0000_s1061" name="Packager Shell Object" showAsIcon="1" r:id="rId3" imgW="1066698" imgH="514350" progId="Package">
                  <p:embed/>
                </p:oleObj>
              </mc:Choice>
              <mc:Fallback>
                <p:oleObj name="Packager Shell Object" showAsIcon="1" r:id="rId3" imgW="1066698" imgH="514350" progId="Package">
                  <p:embed/>
                  <p:pic>
                    <p:nvPicPr>
                      <p:cNvPr id="0" name=""/>
                      <p:cNvPicPr/>
                      <p:nvPr/>
                    </p:nvPicPr>
                    <p:blipFill>
                      <a:blip r:embed="rId4"/>
                      <a:stretch>
                        <a:fillRect/>
                      </a:stretch>
                    </p:blipFill>
                    <p:spPr>
                      <a:xfrm>
                        <a:off x="1133475" y="5259388"/>
                        <a:ext cx="1549400" cy="749300"/>
                      </a:xfrm>
                      <a:prstGeom prst="rect">
                        <a:avLst/>
                      </a:prstGeom>
                      <a:noFill/>
                    </p:spPr>
                  </p:pic>
                </p:oleObj>
              </mc:Fallback>
            </mc:AlternateContent>
          </a:graphicData>
        </a:graphic>
      </p:graphicFrame>
    </p:spTree>
    <p:extLst>
      <p:ext uri="{BB962C8B-B14F-4D97-AF65-F5344CB8AC3E}">
        <p14:creationId xmlns:p14="http://schemas.microsoft.com/office/powerpoint/2010/main" val="391348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51BDBA-FB79-4749-A488-1D80C80FFD4D}"/>
              </a:ext>
            </a:extLst>
          </p:cNvPr>
          <p:cNvSpPr>
            <a:spLocks noGrp="1"/>
          </p:cNvSpPr>
          <p:nvPr>
            <p:ph type="ctrTitle"/>
          </p:nvPr>
        </p:nvSpPr>
        <p:spPr/>
        <p:txBody>
          <a:bodyPr/>
          <a:lstStyle/>
          <a:p>
            <a:r>
              <a:rPr lang="en-US" dirty="0"/>
              <a:t>END</a:t>
            </a:r>
            <a:endParaRPr lang="en-GB" dirty="0"/>
          </a:p>
        </p:txBody>
      </p:sp>
      <p:sp>
        <p:nvSpPr>
          <p:cNvPr id="5" name="Subtitle 4">
            <a:extLst>
              <a:ext uri="{FF2B5EF4-FFF2-40B4-BE49-F238E27FC236}">
                <a16:creationId xmlns:a16="http://schemas.microsoft.com/office/drawing/2014/main" id="{CB9B7A2A-75A2-4A74-8A2C-CAD9E10D1083}"/>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869885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3D7B8-AA2B-4A97-85F2-B6D238CD0BCB}"/>
              </a:ext>
            </a:extLst>
          </p:cNvPr>
          <p:cNvSpPr>
            <a:spLocks noGrp="1"/>
          </p:cNvSpPr>
          <p:nvPr>
            <p:ph type="title"/>
          </p:nvPr>
        </p:nvSpPr>
        <p:spPr/>
        <p:txBody>
          <a:bodyPr/>
          <a:lstStyle/>
          <a:p>
            <a:r>
              <a:rPr lang="en-US" dirty="0"/>
              <a:t>Other tips – General</a:t>
            </a:r>
            <a:endParaRPr lang="en-GB" dirty="0"/>
          </a:p>
        </p:txBody>
      </p:sp>
      <p:sp>
        <p:nvSpPr>
          <p:cNvPr id="3" name="Content Placeholder 2">
            <a:extLst>
              <a:ext uri="{FF2B5EF4-FFF2-40B4-BE49-F238E27FC236}">
                <a16:creationId xmlns:a16="http://schemas.microsoft.com/office/drawing/2014/main" id="{CE94CF7A-177F-46A0-98D7-44D448D62E6E}"/>
              </a:ext>
            </a:extLst>
          </p:cNvPr>
          <p:cNvSpPr>
            <a:spLocks noGrp="1"/>
          </p:cNvSpPr>
          <p:nvPr>
            <p:ph idx="1"/>
          </p:nvPr>
        </p:nvSpPr>
        <p:spPr/>
        <p:txBody>
          <a:bodyPr>
            <a:normAutofit/>
          </a:bodyPr>
          <a:lstStyle/>
          <a:p>
            <a:r>
              <a:rPr lang="en-US" dirty="0"/>
              <a:t>Don’t feel limited by this template—you can cover future work, deployment, user testing (maybe skip the endless ops trials with no conclusions), and whatever else you feel like that’s reasonably pertinent</a:t>
            </a:r>
          </a:p>
          <a:p>
            <a:r>
              <a:rPr lang="en-US" dirty="0"/>
              <a:t>Your tech stack (if any) need not look like a stack, but you can refer to the SEA slides for inspiration if you want it that way</a:t>
            </a:r>
          </a:p>
          <a:p>
            <a:r>
              <a:rPr lang="en-US" dirty="0"/>
              <a:t>Do remember you need to show in this presentation that you have demonstrated the competencies in the </a:t>
            </a:r>
            <a:r>
              <a:rPr lang="en-US" u="sng" dirty="0"/>
              <a:t>DSAI competency framework </a:t>
            </a:r>
            <a:r>
              <a:rPr lang="en-US" dirty="0">
                <a:solidFill>
                  <a:srgbClr val="FF00FF"/>
                </a:solidFill>
              </a:rPr>
              <a:t>(hyperlink removed)</a:t>
            </a:r>
          </a:p>
        </p:txBody>
      </p:sp>
    </p:spTree>
    <p:extLst>
      <p:ext uri="{BB962C8B-B14F-4D97-AF65-F5344CB8AC3E}">
        <p14:creationId xmlns:p14="http://schemas.microsoft.com/office/powerpoint/2010/main" val="1234425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3D7B8-AA2B-4A97-85F2-B6D238CD0BCB}"/>
              </a:ext>
            </a:extLst>
          </p:cNvPr>
          <p:cNvSpPr>
            <a:spLocks noGrp="1"/>
          </p:cNvSpPr>
          <p:nvPr>
            <p:ph type="title"/>
          </p:nvPr>
        </p:nvSpPr>
        <p:spPr/>
        <p:txBody>
          <a:bodyPr/>
          <a:lstStyle/>
          <a:p>
            <a:r>
              <a:rPr lang="en-US" dirty="0"/>
              <a:t>Other tips – Challenges</a:t>
            </a:r>
            <a:endParaRPr lang="en-GB" dirty="0"/>
          </a:p>
        </p:txBody>
      </p:sp>
      <p:sp>
        <p:nvSpPr>
          <p:cNvPr id="3" name="Content Placeholder 2">
            <a:extLst>
              <a:ext uri="{FF2B5EF4-FFF2-40B4-BE49-F238E27FC236}">
                <a16:creationId xmlns:a16="http://schemas.microsoft.com/office/drawing/2014/main" id="{CE94CF7A-177F-46A0-98D7-44D448D62E6E}"/>
              </a:ext>
            </a:extLst>
          </p:cNvPr>
          <p:cNvSpPr>
            <a:spLocks noGrp="1"/>
          </p:cNvSpPr>
          <p:nvPr>
            <p:ph idx="1"/>
          </p:nvPr>
        </p:nvSpPr>
        <p:spPr/>
        <p:txBody>
          <a:bodyPr>
            <a:normAutofit lnSpcReduction="10000"/>
          </a:bodyPr>
          <a:lstStyle/>
          <a:p>
            <a:r>
              <a:rPr lang="en-US" dirty="0"/>
              <a:t>Challenges faced in your project would definitely be a topic of discussion. You may prefer to dedicate a slide to elaborate on the list of challenges you faced. Alternatively, you may integrate them with each step of your project.</a:t>
            </a:r>
          </a:p>
          <a:p>
            <a:r>
              <a:rPr lang="en-US" dirty="0"/>
              <a:t>For challenges which you have overcome, be ready to justify how you did it. Some examples:</a:t>
            </a:r>
          </a:p>
          <a:p>
            <a:pPr lvl="1"/>
            <a:r>
              <a:rPr lang="en-GB" dirty="0"/>
              <a:t>Shortlisting and deciding on the appropriate algorithm</a:t>
            </a:r>
          </a:p>
          <a:p>
            <a:pPr lvl="1"/>
            <a:r>
              <a:rPr lang="en-GB" dirty="0"/>
              <a:t>Dealing with issues in data source</a:t>
            </a:r>
          </a:p>
          <a:p>
            <a:pPr lvl="1"/>
            <a:r>
              <a:rPr lang="en-GB" dirty="0"/>
              <a:t>Visualization-related decisions</a:t>
            </a:r>
          </a:p>
          <a:p>
            <a:r>
              <a:rPr lang="en-GB" dirty="0"/>
              <a:t>For more open-ended challenges, it may be useful to read up on some theory/concepts (if any) that address them.</a:t>
            </a:r>
          </a:p>
        </p:txBody>
      </p:sp>
    </p:spTree>
    <p:extLst>
      <p:ext uri="{BB962C8B-B14F-4D97-AF65-F5344CB8AC3E}">
        <p14:creationId xmlns:p14="http://schemas.microsoft.com/office/powerpoint/2010/main" val="12358382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E7044-4C7C-46E0-9F3F-BF79B6284E5B}"/>
              </a:ext>
            </a:extLst>
          </p:cNvPr>
          <p:cNvSpPr>
            <a:spLocks noGrp="1"/>
          </p:cNvSpPr>
          <p:nvPr>
            <p:ph type="title"/>
          </p:nvPr>
        </p:nvSpPr>
        <p:spPr/>
        <p:txBody>
          <a:bodyPr/>
          <a:lstStyle/>
          <a:p>
            <a:r>
              <a:rPr lang="en-US" dirty="0"/>
              <a:t>Other tips – Visualizations</a:t>
            </a:r>
            <a:endParaRPr lang="en-GB" dirty="0"/>
          </a:p>
        </p:txBody>
      </p:sp>
      <p:sp>
        <p:nvSpPr>
          <p:cNvPr id="3" name="Content Placeholder 2">
            <a:extLst>
              <a:ext uri="{FF2B5EF4-FFF2-40B4-BE49-F238E27FC236}">
                <a16:creationId xmlns:a16="http://schemas.microsoft.com/office/drawing/2014/main" id="{7ABE4094-10FC-4187-8E3C-A74652CEA86C}"/>
              </a:ext>
            </a:extLst>
          </p:cNvPr>
          <p:cNvSpPr>
            <a:spLocks noGrp="1"/>
          </p:cNvSpPr>
          <p:nvPr>
            <p:ph idx="1"/>
          </p:nvPr>
        </p:nvSpPr>
        <p:spPr/>
        <p:txBody>
          <a:bodyPr/>
          <a:lstStyle/>
          <a:p>
            <a:r>
              <a:rPr lang="en-US" dirty="0"/>
              <a:t>Be clear – The key message of your visualization should be apparent.</a:t>
            </a:r>
          </a:p>
          <a:p>
            <a:r>
              <a:rPr lang="en-US" dirty="0"/>
              <a:t>Be meticulous in design – The details matter, like:</a:t>
            </a:r>
          </a:p>
          <a:p>
            <a:pPr lvl="1"/>
            <a:r>
              <a:rPr lang="en-GB" dirty="0"/>
              <a:t>Chart title</a:t>
            </a:r>
          </a:p>
          <a:p>
            <a:pPr lvl="1"/>
            <a:r>
              <a:rPr lang="en-GB" dirty="0"/>
              <a:t>Axis titles</a:t>
            </a:r>
          </a:p>
          <a:p>
            <a:pPr lvl="1"/>
            <a:r>
              <a:rPr lang="en-GB" dirty="0"/>
              <a:t>Tick labels</a:t>
            </a:r>
          </a:p>
          <a:p>
            <a:pPr lvl="1"/>
            <a:r>
              <a:rPr lang="en-GB" dirty="0" err="1"/>
              <a:t>Colors</a:t>
            </a:r>
            <a:r>
              <a:rPr lang="en-GB" dirty="0"/>
              <a:t> </a:t>
            </a:r>
          </a:p>
          <a:p>
            <a:pPr lvl="1"/>
            <a:r>
              <a:rPr lang="en-GB" dirty="0"/>
              <a:t>Legends</a:t>
            </a:r>
          </a:p>
          <a:p>
            <a:pPr lvl="1"/>
            <a:r>
              <a:rPr lang="en-GB" dirty="0"/>
              <a:t>Size</a:t>
            </a:r>
          </a:p>
          <a:p>
            <a:pPr lvl="1"/>
            <a:r>
              <a:rPr lang="en-GB" dirty="0"/>
              <a:t>Aligning x-/y-axes across multiple charts (if applicable)</a:t>
            </a:r>
          </a:p>
          <a:p>
            <a:pPr lvl="1"/>
            <a:r>
              <a:rPr lang="en-GB" dirty="0"/>
              <a:t>…</a:t>
            </a:r>
          </a:p>
          <a:p>
            <a:endParaRPr lang="en-GB" dirty="0"/>
          </a:p>
        </p:txBody>
      </p:sp>
    </p:spTree>
    <p:extLst>
      <p:ext uri="{BB962C8B-B14F-4D97-AF65-F5344CB8AC3E}">
        <p14:creationId xmlns:p14="http://schemas.microsoft.com/office/powerpoint/2010/main" val="37761265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1305</Words>
  <Application>Microsoft Office PowerPoint</Application>
  <PresentationFormat>Widescreen</PresentationFormat>
  <Paragraphs>140</Paragraphs>
  <Slides>16</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1" baseType="lpstr">
      <vt:lpstr>Arial</vt:lpstr>
      <vt:lpstr>Calibri</vt:lpstr>
      <vt:lpstr>Calibri Light</vt:lpstr>
      <vt:lpstr>Office Theme</vt:lpstr>
      <vt:lpstr>Packager Shell Object</vt:lpstr>
      <vt:lpstr>DSAI Appointment Packet</vt:lpstr>
      <vt:lpstr>Self-introduction</vt:lpstr>
      <vt:lpstr>Experience within the organization</vt:lpstr>
      <vt:lpstr>Project 1</vt:lpstr>
      <vt:lpstr>Background/Problem Statement</vt:lpstr>
      <vt:lpstr>Methodology</vt:lpstr>
      <vt:lpstr>Sample Methodology Overview</vt:lpstr>
      <vt:lpstr>Methodology – More detail</vt:lpstr>
      <vt:lpstr>Outcome/Results</vt:lpstr>
      <vt:lpstr>Outcome/Results</vt:lpstr>
      <vt:lpstr>Project 2</vt:lpstr>
      <vt:lpstr>Note</vt:lpstr>
      <vt:lpstr>END</vt:lpstr>
      <vt:lpstr>Other tips – General</vt:lpstr>
      <vt:lpstr>Other tips – Challenges</vt:lpstr>
      <vt:lpstr>Other tips – Visualizations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Background/Problem Statement</dc:title>
  <dc:creator/>
  <cp:lastModifiedBy/>
  <cp:revision>1</cp:revision>
  <dcterms:created xsi:type="dcterms:W3CDTF">2024-09-23T06:06:00Z</dcterms:created>
  <dcterms:modified xsi:type="dcterms:W3CDTF">2025-04-02T10:19:44Z</dcterms:modified>
</cp:coreProperties>
</file>