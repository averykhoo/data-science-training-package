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5"/>
  </p:notesMasterIdLst>
  <p:handoutMasterIdLst>
    <p:handoutMasterId r:id="rId36"/>
  </p:handoutMasterIdLst>
  <p:sldIdLst>
    <p:sldId id="256" r:id="rId5"/>
    <p:sldId id="273" r:id="rId6"/>
    <p:sldId id="275" r:id="rId7"/>
    <p:sldId id="276" r:id="rId8"/>
    <p:sldId id="295" r:id="rId9"/>
    <p:sldId id="288" r:id="rId10"/>
    <p:sldId id="297" r:id="rId11"/>
    <p:sldId id="299" r:id="rId12"/>
    <p:sldId id="284" r:id="rId13"/>
    <p:sldId id="301" r:id="rId14"/>
    <p:sldId id="300" r:id="rId15"/>
    <p:sldId id="285" r:id="rId16"/>
    <p:sldId id="286" r:id="rId17"/>
    <p:sldId id="302" r:id="rId18"/>
    <p:sldId id="291" r:id="rId19"/>
    <p:sldId id="259" r:id="rId20"/>
    <p:sldId id="289" r:id="rId21"/>
    <p:sldId id="272" r:id="rId22"/>
    <p:sldId id="292" r:id="rId23"/>
    <p:sldId id="290" r:id="rId24"/>
    <p:sldId id="304" r:id="rId25"/>
    <p:sldId id="294" r:id="rId26"/>
    <p:sldId id="303" r:id="rId27"/>
    <p:sldId id="310" r:id="rId28"/>
    <p:sldId id="305" r:id="rId29"/>
    <p:sldId id="306" r:id="rId30"/>
    <p:sldId id="308" r:id="rId31"/>
    <p:sldId id="283" r:id="rId32"/>
    <p:sldId id="311" r:id="rId33"/>
    <p:sldId id="3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5072547-5D10-42DE-A9D1-F150BF9D0B61}">
          <p14:sldIdLst>
            <p14:sldId id="256"/>
            <p14:sldId id="273"/>
          </p14:sldIdLst>
        </p14:section>
        <p14:section name="map" id="{5AFBD27E-B126-4471-B74A-2D8C5DD410A8}">
          <p14:sldIdLst>
            <p14:sldId id="275"/>
            <p14:sldId id="276"/>
            <p14:sldId id="295"/>
            <p14:sldId id="288"/>
            <p14:sldId id="297"/>
            <p14:sldId id="299"/>
            <p14:sldId id="284"/>
            <p14:sldId id="301"/>
            <p14:sldId id="300"/>
            <p14:sldId id="285"/>
            <p14:sldId id="286"/>
            <p14:sldId id="302"/>
          </p14:sldIdLst>
        </p14:section>
        <p14:section name="name" id="{B871A8CC-F898-491C-9E3E-134B995B34BA}">
          <p14:sldIdLst>
            <p14:sldId id="291"/>
            <p14:sldId id="259"/>
            <p14:sldId id="289"/>
            <p14:sldId id="272"/>
          </p14:sldIdLst>
        </p14:section>
        <p14:section name="timeline" id="{0253856D-7BF0-4DFC-8C3D-A24122611072}">
          <p14:sldIdLst>
            <p14:sldId id="292"/>
            <p14:sldId id="290"/>
          </p14:sldIdLst>
        </p14:section>
        <p14:section name="faq" id="{0D4A6573-55DA-4C79-B6D3-41DA48712F1A}">
          <p14:sldIdLst>
            <p14:sldId id="304"/>
            <p14:sldId id="294"/>
            <p14:sldId id="303"/>
            <p14:sldId id="310"/>
            <p14:sldId id="305"/>
            <p14:sldId id="306"/>
            <p14:sldId id="308"/>
            <p14:sldId id="283"/>
            <p14:sldId id="311"/>
            <p14:sldId id="31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extLst>
      <p:ext uri="{19B8F6BF-5375-455C-9EA6-DF929625EA0E}">
        <p15:presenceInfo xmlns:p15="http://schemas.microsoft.com/office/powerpoint/2012/main" userId="Auth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73" autoAdjust="0"/>
    <p:restoredTop sz="56163" autoAdjust="0"/>
  </p:normalViewPr>
  <p:slideViewPr>
    <p:cSldViewPr snapToGrid="0">
      <p:cViewPr varScale="1">
        <p:scale>
          <a:sx n="90" d="100"/>
          <a:sy n="90" d="100"/>
        </p:scale>
        <p:origin x="3222" y="96"/>
      </p:cViewPr>
      <p:guideLst/>
    </p:cSldViewPr>
  </p:slideViewPr>
  <p:notesTextViewPr>
    <p:cViewPr>
      <p:scale>
        <a:sx n="1" d="1"/>
        <a:sy n="1" d="1"/>
      </p:scale>
      <p:origin x="0" y="0"/>
    </p:cViewPr>
  </p:notesTextViewPr>
  <p:sorterViewPr>
    <p:cViewPr>
      <p:scale>
        <a:sx n="100" d="100"/>
        <a:sy n="100" d="100"/>
      </p:scale>
      <p:origin x="0" y="-3522"/>
    </p:cViewPr>
  </p:sorterViewPr>
  <p:notesViewPr>
    <p:cSldViewPr snapToGrid="0">
      <p:cViewPr varScale="1">
        <p:scale>
          <a:sx n="122" d="100"/>
          <a:sy n="122" d="100"/>
        </p:scale>
        <p:origin x="4998"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430BDB-607A-41D0-A306-1291C9229C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DF332C0B-0F5C-4266-AF25-8E2F8CF3849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691E7C-4868-4111-9D14-FD74137FF63D}" type="datetimeFigureOut">
              <a:rPr lang="en-GB" smtClean="0"/>
              <a:t>02/04/2025</a:t>
            </a:fld>
            <a:endParaRPr lang="en-GB"/>
          </a:p>
        </p:txBody>
      </p:sp>
      <p:sp>
        <p:nvSpPr>
          <p:cNvPr id="4" name="Footer Placeholder 3">
            <a:extLst>
              <a:ext uri="{FF2B5EF4-FFF2-40B4-BE49-F238E27FC236}">
                <a16:creationId xmlns:a16="http://schemas.microsoft.com/office/drawing/2014/main" id="{CAB59517-B336-4FE9-90B3-948A09F5A0E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6F28350E-1691-42DA-BBF2-ABE8CD8C60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1E5495-3EF3-4335-8577-30F87E0AE302}" type="slidenum">
              <a:rPr lang="en-GB" smtClean="0"/>
              <a:t>‹#›</a:t>
            </a:fld>
            <a:endParaRPr lang="en-GB"/>
          </a:p>
        </p:txBody>
      </p:sp>
    </p:spTree>
    <p:extLst>
      <p:ext uri="{BB962C8B-B14F-4D97-AF65-F5344CB8AC3E}">
        <p14:creationId xmlns:p14="http://schemas.microsoft.com/office/powerpoint/2010/main" val="314591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D140EE-83D2-4707-8D0F-A8CFE7E7230E}" type="datetimeFigureOut">
              <a:rPr lang="en-GB" smtClean="0"/>
              <a:t>02/04/2025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FE1F4B-C9F1-45DC-978B-0A40E506A8B0}" type="slidenum">
              <a:rPr lang="en-GB" smtClean="0"/>
              <a:t>‹#›</a:t>
            </a:fld>
            <a:endParaRPr lang="en-GB"/>
          </a:p>
        </p:txBody>
      </p:sp>
    </p:spTree>
    <p:extLst>
      <p:ext uri="{BB962C8B-B14F-4D97-AF65-F5344CB8AC3E}">
        <p14:creationId xmlns:p14="http://schemas.microsoft.com/office/powerpoint/2010/main" val="2980848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to be clear for those who are reading this instead of attending the townhall: </a:t>
            </a:r>
          </a:p>
          <a:p>
            <a:r>
              <a:rPr lang="en-US" dirty="0"/>
              <a:t>DSAI pronounced as 4 letters: D-S-A-I</a:t>
            </a:r>
          </a:p>
          <a:p>
            <a:endParaRPr lang="en-US" dirty="0"/>
          </a:p>
        </p:txBody>
      </p:sp>
      <p:sp>
        <p:nvSpPr>
          <p:cNvPr id="4" name="Slide Number Placeholder 3"/>
          <p:cNvSpPr>
            <a:spLocks noGrp="1"/>
          </p:cNvSpPr>
          <p:nvPr>
            <p:ph type="sldNum" sz="quarter" idx="5"/>
          </p:nvPr>
        </p:nvSpPr>
        <p:spPr/>
        <p:txBody>
          <a:bodyPr/>
          <a:lstStyle/>
          <a:p>
            <a:fld id="{81FE1F4B-C9F1-45DC-978B-0A40E506A8B0}" type="slidenum">
              <a:rPr lang="en-GB" smtClean="0"/>
              <a:t>1</a:t>
            </a:fld>
            <a:endParaRPr lang="en-GB"/>
          </a:p>
        </p:txBody>
      </p:sp>
    </p:spTree>
    <p:extLst>
      <p:ext uri="{BB962C8B-B14F-4D97-AF65-F5344CB8AC3E}">
        <p14:creationId xmlns:p14="http://schemas.microsoft.com/office/powerpoint/2010/main" val="3099652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trike="noStrike" dirty="0"/>
              <a:t>(If you’ve already gone through the email announcement and the linked HCD confluence page, feel free to take a nap until Q&amp;A)</a:t>
            </a:r>
          </a:p>
          <a:p>
            <a:endParaRPr lang="en-US" dirty="0"/>
          </a:p>
          <a:p>
            <a:r>
              <a:rPr lang="en-GB" dirty="0"/>
              <a:t>In short, what’s new is:</a:t>
            </a:r>
          </a:p>
          <a:p>
            <a:pPr marL="228600" indent="-228600">
              <a:buAutoNum type="arabicPeriod"/>
            </a:pPr>
            <a:r>
              <a:rPr lang="en-GB" dirty="0"/>
              <a:t>There’s a new competency-based assessment for tech panel</a:t>
            </a:r>
          </a:p>
          <a:p>
            <a:pPr marL="228600" indent="-228600">
              <a:buAutoNum type="arabicPeriod"/>
            </a:pPr>
            <a:r>
              <a:rPr lang="en-GB" dirty="0"/>
              <a:t>This is a unified framework across both DA and DS</a:t>
            </a:r>
          </a:p>
          <a:p>
            <a:pPr marL="228600" indent="-228600">
              <a:buAutoNum type="arabicPeriod"/>
            </a:pPr>
            <a:r>
              <a:rPr lang="en-GB" dirty="0"/>
              <a:t>DAs and DS-es are now all “Data Scientists”—and it’s not just the same name, it’s the same job progression track (and it uses the same unified competency-based assessment)</a:t>
            </a:r>
          </a:p>
          <a:p>
            <a:pPr marL="228600" indent="-228600">
              <a:buAutoNum type="arabicPeriod"/>
            </a:pPr>
            <a:r>
              <a:rPr lang="en-GB" dirty="0"/>
              <a:t>The “Data Analytics” job family is now called “Data Science and Artificial Intelligence”</a:t>
            </a:r>
          </a:p>
          <a:p>
            <a:pPr marL="0" indent="0">
              <a:buNone/>
            </a:pPr>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2</a:t>
            </a:fld>
            <a:endParaRPr lang="en-GB"/>
          </a:p>
        </p:txBody>
      </p:sp>
    </p:spTree>
    <p:extLst>
      <p:ext uri="{BB962C8B-B14F-4D97-AF65-F5344CB8AC3E}">
        <p14:creationId xmlns:p14="http://schemas.microsoft.com/office/powerpoint/2010/main" val="812663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Extra:</a:t>
            </a:r>
          </a:p>
          <a:p>
            <a:r>
              <a:rPr lang="en-US" dirty="0"/>
              <a:t>Why?</a:t>
            </a:r>
          </a:p>
          <a:p>
            <a:r>
              <a:rPr lang="en-US" dirty="0"/>
              <a:t>Well there’s a long backstory: </a:t>
            </a:r>
            <a:r>
              <a:rPr lang="en-US" dirty="0">
                <a:solidFill>
                  <a:srgbClr val="FF00FF"/>
                </a:solidFill>
              </a:rPr>
              <a:t>&lt;link to my personal confluence page removed&gt;</a:t>
            </a:r>
          </a:p>
          <a:p>
            <a:r>
              <a:rPr lang="en-US" dirty="0"/>
              <a:t>But the short version is that we got lucky, and PSD mandated a change to a better career framework.</a:t>
            </a:r>
          </a:p>
          <a:p>
            <a:endParaRPr lang="en-US" dirty="0"/>
          </a:p>
          <a:p>
            <a:r>
              <a:rPr lang="en-US" dirty="0"/>
              <a:t>What is a rubric?</a:t>
            </a:r>
          </a:p>
          <a:p>
            <a:r>
              <a:rPr lang="en-GB" dirty="0"/>
              <a:t>https://kiwix.rapid.internal/wikipedia_en_all_maxi_2023-05/A/Rubric_(academic)</a:t>
            </a:r>
          </a:p>
          <a:p>
            <a:endParaRPr lang="en-GB" dirty="0"/>
          </a:p>
          <a:p>
            <a:r>
              <a:rPr lang="en-GB" dirty="0"/>
              <a:t>(Some of) the main goals were:</a:t>
            </a:r>
          </a:p>
          <a:p>
            <a:pPr marL="171450" indent="-171450">
              <a:buFont typeface="Arial" panose="020B0604020202020204" pitchFamily="34" charset="0"/>
              <a:buChar char="•"/>
            </a:pPr>
            <a:r>
              <a:rPr lang="en-GB" dirty="0"/>
              <a:t>Objectivity in panel assessments</a:t>
            </a:r>
          </a:p>
          <a:p>
            <a:pPr marL="171450" indent="-171450">
              <a:buFont typeface="Arial" panose="020B0604020202020204" pitchFamily="34" charset="0"/>
              <a:buChar char="•"/>
            </a:pPr>
            <a:r>
              <a:rPr lang="en-GB" dirty="0"/>
              <a:t>Clarity of tech panel expectations (and </a:t>
            </a:r>
            <a:r>
              <a:rPr lang="en-GB" dirty="0" err="1"/>
              <a:t>explainability</a:t>
            </a:r>
            <a:r>
              <a:rPr lang="en-GB" dirty="0"/>
              <a:t> of outcomes)</a:t>
            </a:r>
          </a:p>
          <a:p>
            <a:pPr marL="171450" indent="-171450">
              <a:buFont typeface="Arial" panose="020B0604020202020204" pitchFamily="34" charset="0"/>
              <a:buChar char="•"/>
            </a:pPr>
            <a:r>
              <a:rPr lang="en-GB" dirty="0"/>
              <a:t>Relevance to the data track</a:t>
            </a:r>
          </a:p>
          <a:p>
            <a:pPr marL="171450" indent="-171450">
              <a:buFont typeface="Arial" panose="020B0604020202020204" pitchFamily="34" charset="0"/>
              <a:buChar char="•"/>
            </a:pPr>
            <a:r>
              <a:rPr lang="en-GB" dirty="0"/>
              <a:t>Transparency of evaluation criteria</a:t>
            </a:r>
          </a:p>
          <a:p>
            <a:pPr marL="171450" indent="-171450">
              <a:buFont typeface="Arial" panose="020B0604020202020204" pitchFamily="34" charset="0"/>
              <a:buChar char="•"/>
            </a:pPr>
            <a:r>
              <a:rPr lang="en-GB" dirty="0"/>
              <a:t>Enabling self-directed learning</a:t>
            </a:r>
          </a:p>
        </p:txBody>
      </p:sp>
      <p:sp>
        <p:nvSpPr>
          <p:cNvPr id="4" name="Slide Number Placeholder 3"/>
          <p:cNvSpPr>
            <a:spLocks noGrp="1"/>
          </p:cNvSpPr>
          <p:nvPr>
            <p:ph type="sldNum" sz="quarter" idx="5"/>
          </p:nvPr>
        </p:nvSpPr>
        <p:spPr/>
        <p:txBody>
          <a:bodyPr/>
          <a:lstStyle/>
          <a:p>
            <a:fld id="{81FE1F4B-C9F1-45DC-978B-0A40E506A8B0}" type="slidenum">
              <a:rPr lang="en-GB" smtClean="0"/>
              <a:t>3</a:t>
            </a:fld>
            <a:endParaRPr lang="en-GB"/>
          </a:p>
        </p:txBody>
      </p:sp>
    </p:spTree>
    <p:extLst>
      <p:ext uri="{BB962C8B-B14F-4D97-AF65-F5344CB8AC3E}">
        <p14:creationId xmlns:p14="http://schemas.microsoft.com/office/powerpoint/2010/main" val="1545569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(existing) assessment is based on the “Design, Build, Run” framework we inherited from SE.</a:t>
            </a:r>
          </a:p>
          <a:p>
            <a:r>
              <a:rPr lang="en-US" dirty="0"/>
              <a:t>(To be fair, it makes sense for the Software Engineer folks, whose job usually consists of designing, building, and running systems.)</a:t>
            </a:r>
          </a:p>
          <a:p>
            <a:endParaRPr lang="en-US" dirty="0"/>
          </a:p>
          <a:p>
            <a:r>
              <a:rPr lang="en-GB" dirty="0"/>
              <a:t>The new one is designed to match the lifecycle of a data project, and makes more intuitive sense in how it matches our work.</a:t>
            </a:r>
          </a:p>
          <a:p>
            <a:pPr marL="228600" indent="-228600">
              <a:buAutoNum type="arabicPeriod"/>
            </a:pPr>
            <a:r>
              <a:rPr lang="en-GB" dirty="0"/>
              <a:t>“Data Project Design” covers requirements gathering, user research, problem formulation, project scoping, and managing the project throughout its lifecycle.</a:t>
            </a:r>
          </a:p>
          <a:p>
            <a:pPr marL="228600" indent="-228600">
              <a:buAutoNum type="arabicPeriod"/>
            </a:pPr>
            <a:r>
              <a:rPr lang="en-GB" dirty="0"/>
              <a:t>“EDA” covers everything you do to understand the data, including running common benchmark tests.</a:t>
            </a:r>
          </a:p>
          <a:p>
            <a:pPr marL="228600" indent="-228600">
              <a:buAutoNum type="arabicPeriod"/>
            </a:pPr>
            <a:r>
              <a:rPr lang="en-GB" dirty="0"/>
              <a:t>“Data Prep” covers ETL, cleaning, labelling, featurization, augmentation, and fusing multiple datasets.</a:t>
            </a:r>
          </a:p>
          <a:p>
            <a:pPr marL="228600" indent="-228600">
              <a:buAutoNum type="arabicPeriod"/>
            </a:pPr>
            <a:r>
              <a:rPr lang="en-GB" dirty="0"/>
              <a:t>“Visualizations &amp; Storytelling” covers how well you communicate, be it visual or verbal.</a:t>
            </a:r>
          </a:p>
          <a:p>
            <a:pPr marL="228600" indent="-228600">
              <a:buAutoNum type="arabicPeriod"/>
            </a:pPr>
            <a:r>
              <a:rPr lang="en-GB" dirty="0"/>
              <a:t>“Statistical Analysis” covers using statistical methods.</a:t>
            </a:r>
          </a:p>
          <a:p>
            <a:pPr marL="228600" indent="-228600">
              <a:buAutoNum type="arabicPeriod"/>
            </a:pPr>
            <a:r>
              <a:rPr lang="en-GB" dirty="0"/>
              <a:t>“ML” covers using machine learning methods. (Note: statistical (“traditional”) machine learning is still machine learning; it doesn’t count towards both competencies.)</a:t>
            </a:r>
          </a:p>
          <a:p>
            <a:pPr marL="228600" indent="-228600">
              <a:buAutoNum type="arabicPeriod"/>
            </a:pPr>
            <a:r>
              <a:rPr lang="en-GB" dirty="0"/>
              <a:t>“Specialization” covers technical depth in a specialized domain.</a:t>
            </a:r>
          </a:p>
          <a:p>
            <a:pPr marL="0" indent="0">
              <a:buNone/>
            </a:pPr>
            <a:endParaRPr lang="en-GB" dirty="0"/>
          </a:p>
          <a:p>
            <a:r>
              <a:rPr lang="en-GB" b="1" u="sng" dirty="0"/>
              <a:t>FAQ:</a:t>
            </a:r>
          </a:p>
          <a:p>
            <a:pPr marL="171450" indent="-171450">
              <a:buFont typeface="Arial" panose="020B0604020202020204" pitchFamily="34" charset="0"/>
              <a:buChar char="•"/>
            </a:pPr>
            <a:r>
              <a:rPr lang="en-US" dirty="0"/>
              <a:t>What’s the difference between stats and ML?</a:t>
            </a:r>
          </a:p>
          <a:p>
            <a:pPr marL="171450" indent="-171450">
              <a:buFont typeface="Arial" panose="020B0604020202020204" pitchFamily="34" charset="0"/>
              <a:buChar char="•"/>
            </a:pPr>
            <a:r>
              <a:rPr lang="en-US" dirty="0"/>
              <a:t>So we need to meet the PL checklist?</a:t>
            </a:r>
          </a:p>
          <a:p>
            <a:pPr marL="171450" indent="-171450">
              <a:buFont typeface="Arial" panose="020B0604020202020204" pitchFamily="34" charset="0"/>
              <a:buChar char="•"/>
            </a:pPr>
            <a:endParaRPr lang="en-GB" dirty="0"/>
          </a:p>
          <a:p>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4</a:t>
            </a:fld>
            <a:endParaRPr lang="en-GB"/>
          </a:p>
        </p:txBody>
      </p:sp>
    </p:spTree>
    <p:extLst>
      <p:ext uri="{BB962C8B-B14F-4D97-AF65-F5344CB8AC3E}">
        <p14:creationId xmlns:p14="http://schemas.microsoft.com/office/powerpoint/2010/main" val="858352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last slide you may have noticed that “specializations” sounds a bit general; this was intentional.)</a:t>
            </a:r>
          </a:p>
          <a:p>
            <a:r>
              <a:rPr lang="en-US" dirty="0"/>
              <a:t>You can pick any specialization you like, as long as it’s relevant to your work.</a:t>
            </a:r>
          </a:p>
          <a:p>
            <a:r>
              <a:rPr lang="en-US" dirty="0"/>
              <a:t>You can pick more than one, and as many as you like.</a:t>
            </a:r>
          </a:p>
          <a:p>
            <a:r>
              <a:rPr lang="en-US" dirty="0"/>
              <a:t>You can swap or pick up a new one at any time. </a:t>
            </a:r>
          </a:p>
          <a:p>
            <a:r>
              <a:rPr lang="en-US" dirty="0"/>
              <a:t>What you pick does not limit the projects you can take up, does not limit where you can rotate to, and does not limit how far you can progress.</a:t>
            </a:r>
          </a:p>
          <a:p>
            <a:endParaRPr lang="en-US" dirty="0"/>
          </a:p>
          <a:p>
            <a:r>
              <a:rPr lang="en-US" b="1" u="sng" dirty="0"/>
              <a:t>Extra:</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the granularity at which they’re defined—they’re not super narrowly scoped, but neither are they very broadly scoped.</a:t>
            </a:r>
          </a:p>
          <a:p>
            <a:r>
              <a:rPr lang="en-US" dirty="0"/>
              <a:t>The segregation by domains is primarily for visual clarity, but also provides a “safe” delineation of what would clearly be separate competencies.</a:t>
            </a:r>
          </a:p>
          <a:p>
            <a:r>
              <a:rPr lang="en-US" dirty="0"/>
              <a:t>OCR + face identification doesn’t </a:t>
            </a:r>
            <a:r>
              <a:rPr lang="en-US" i="1" dirty="0"/>
              <a:t>feel</a:t>
            </a:r>
            <a:r>
              <a:rPr lang="en-US" i="0" dirty="0"/>
              <a:t> very different (both </a:t>
            </a:r>
            <a:r>
              <a:rPr lang="en-US" i="0" dirty="0" err="1"/>
              <a:t>kinda</a:t>
            </a:r>
            <a:r>
              <a:rPr lang="en-US" i="0" dirty="0"/>
              <a:t> under CV </a:t>
            </a:r>
            <a:r>
              <a:rPr lang="en-US" i="0" dirty="0" err="1"/>
              <a:t>tbh</a:t>
            </a:r>
            <a:r>
              <a:rPr lang="en-US" i="0" dirty="0"/>
              <a:t>), but OCR + diffusion models could indeed count as 2 specializations.</a:t>
            </a:r>
          </a:p>
          <a:p>
            <a:endParaRPr lang="en-US" b="0" u="none" dirty="0"/>
          </a:p>
          <a:p>
            <a:r>
              <a:rPr lang="en-US" b="1" u="sng" dirty="0"/>
              <a:t>FAQ:</a:t>
            </a:r>
          </a:p>
          <a:p>
            <a:pPr marL="171450" indent="-171450">
              <a:buFont typeface="Arial" panose="020B0604020202020204" pitchFamily="34" charset="0"/>
              <a:buChar char="•"/>
            </a:pPr>
            <a:r>
              <a:rPr lang="en-US" u="none" dirty="0"/>
              <a:t>If I choose a specialization can I change it?</a:t>
            </a:r>
          </a:p>
          <a:p>
            <a:pPr marL="171450" indent="-171450">
              <a:buFont typeface="Arial" panose="020B0604020202020204" pitchFamily="34" charset="0"/>
              <a:buChar char="•"/>
            </a:pPr>
            <a:endParaRPr lang="en-US" b="0" u="none" dirty="0"/>
          </a:p>
          <a:p>
            <a:endParaRPr lang="en-US" b="0" u="none" dirty="0"/>
          </a:p>
        </p:txBody>
      </p:sp>
      <p:sp>
        <p:nvSpPr>
          <p:cNvPr id="4" name="Slide Number Placeholder 3"/>
          <p:cNvSpPr>
            <a:spLocks noGrp="1"/>
          </p:cNvSpPr>
          <p:nvPr>
            <p:ph type="sldNum" sz="quarter" idx="5"/>
          </p:nvPr>
        </p:nvSpPr>
        <p:spPr/>
        <p:txBody>
          <a:bodyPr/>
          <a:lstStyle/>
          <a:p>
            <a:fld id="{81FE1F4B-C9F1-45DC-978B-0A40E506A8B0}" type="slidenum">
              <a:rPr lang="en-GB" smtClean="0"/>
              <a:t>5</a:t>
            </a:fld>
            <a:endParaRPr lang="en-GB"/>
          </a:p>
        </p:txBody>
      </p:sp>
    </p:spTree>
    <p:extLst>
      <p:ext uri="{BB962C8B-B14F-4D97-AF65-F5344CB8AC3E}">
        <p14:creationId xmlns:p14="http://schemas.microsoft.com/office/powerpoint/2010/main" val="529223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old (existing) framework, senior engineers will be forced to sprinkle in a little extra complexity, and the very senior ones will end up building extra systems to form a product line.</a:t>
            </a:r>
          </a:p>
          <a:p>
            <a:r>
              <a:rPr lang="en-US" dirty="0"/>
              <a:t>But data science doesn’t intrinsically value complexity and complication, and we </a:t>
            </a:r>
            <a:r>
              <a:rPr lang="en-US" i="1" dirty="0"/>
              <a:t>really</a:t>
            </a:r>
            <a:r>
              <a:rPr lang="en-US" dirty="0"/>
              <a:t> don’t want to reward people for creating solutions that are more complex than necessary.</a:t>
            </a:r>
          </a:p>
          <a:p>
            <a:r>
              <a:rPr lang="en-US" dirty="0"/>
              <a:t>So we wanted a foundational change in how we grade competencies.</a:t>
            </a:r>
          </a:p>
        </p:txBody>
      </p:sp>
      <p:sp>
        <p:nvSpPr>
          <p:cNvPr id="4" name="Slide Number Placeholder 3"/>
          <p:cNvSpPr>
            <a:spLocks noGrp="1"/>
          </p:cNvSpPr>
          <p:nvPr>
            <p:ph type="sldNum" sz="quarter" idx="5"/>
          </p:nvPr>
        </p:nvSpPr>
        <p:spPr/>
        <p:txBody>
          <a:bodyPr/>
          <a:lstStyle/>
          <a:p>
            <a:fld id="{81FE1F4B-C9F1-45DC-978B-0A40E506A8B0}" type="slidenum">
              <a:rPr lang="en-GB" smtClean="0"/>
              <a:t>6</a:t>
            </a:fld>
            <a:endParaRPr lang="en-GB"/>
          </a:p>
        </p:txBody>
      </p:sp>
    </p:spTree>
    <p:extLst>
      <p:ext uri="{BB962C8B-B14F-4D97-AF65-F5344CB8AC3E}">
        <p14:creationId xmlns:p14="http://schemas.microsoft.com/office/powerpoint/2010/main" val="414143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hidden because it doesn’t quite fit in the storyline I have in mind.</a:t>
            </a:r>
          </a:p>
          <a:p>
            <a:r>
              <a:rPr lang="en-US" dirty="0"/>
              <a:t>Also the community requirements have been slightly rephrased to match them with our PL framework, so this isn’t an accurate reference for our final state.</a:t>
            </a:r>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7</a:t>
            </a:fld>
            <a:endParaRPr lang="en-GB"/>
          </a:p>
        </p:txBody>
      </p:sp>
    </p:spTree>
    <p:extLst>
      <p:ext uri="{BB962C8B-B14F-4D97-AF65-F5344CB8AC3E}">
        <p14:creationId xmlns:p14="http://schemas.microsoft.com/office/powerpoint/2010/main" val="2266059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pivoted from levels of complexity to levels of proficiency.</a:t>
            </a:r>
          </a:p>
          <a:p>
            <a:r>
              <a:rPr lang="en-US" dirty="0"/>
              <a:t>(Aside from making more sense, it’s also what PSD now recommends for the entire civil service.)</a:t>
            </a:r>
          </a:p>
          <a:p>
            <a:endParaRPr lang="en-US" dirty="0"/>
          </a:p>
          <a:p>
            <a:r>
              <a:rPr lang="en-US" dirty="0"/>
              <a:t>On this slide you’ll see PLs 1 and 2.</a:t>
            </a:r>
          </a:p>
          <a:p>
            <a:r>
              <a:rPr lang="en-US" dirty="0"/>
              <a:t>We’ve also defined higher levels of PLs—internally, up to PL4 for the competencies where it makes sense.</a:t>
            </a:r>
          </a:p>
          <a:p>
            <a:r>
              <a:rPr lang="en-US" dirty="0"/>
              <a:t>(The higher PLs just didn’t fit in this slide.)</a:t>
            </a:r>
          </a:p>
          <a:p>
            <a:endParaRPr lang="en-US" dirty="0"/>
          </a:p>
          <a:p>
            <a:r>
              <a:rPr lang="en-US" dirty="0"/>
              <a:t>These statements are not intended to be a checklist; the listed tasks are neither necessary nor sufficient for assessment.</a:t>
            </a:r>
          </a:p>
          <a:p>
            <a:r>
              <a:rPr lang="en-US" dirty="0"/>
              <a:t>Instead they’re merely descriptors—a list of behavioral indicators that describe what a person at that specified level of proficiency should be able to do day to day.</a:t>
            </a:r>
          </a:p>
          <a:p>
            <a:r>
              <a:rPr lang="en-US" dirty="0"/>
              <a:t>So while this serves as a guide, you shouldn’t try to memorize how the PLs are described; instead, you should try to understand what the PLs </a:t>
            </a:r>
            <a:r>
              <a:rPr lang="en-US" i="0" dirty="0"/>
              <a:t>mean</a:t>
            </a:r>
            <a:r>
              <a:rPr lang="en-US" dirty="0"/>
              <a:t>.</a:t>
            </a:r>
          </a:p>
          <a:p>
            <a:endParaRPr lang="en-US" dirty="0"/>
          </a:p>
          <a:p>
            <a:r>
              <a:rPr lang="en-US" b="1" u="sng" dirty="0"/>
              <a:t>Extra:</a:t>
            </a:r>
          </a:p>
          <a:p>
            <a:r>
              <a:rPr lang="en-US" dirty="0"/>
              <a:t>The sharp-eyed (and fast readers) among you may have noticed there’s no PL1 definition specifically for “Data Storytelling”.</a:t>
            </a:r>
          </a:p>
          <a:p>
            <a:r>
              <a:rPr lang="en-US" dirty="0"/>
              <a:t>That’s because at the PL1 level, storytelling is largely performative (i.e., superficial exhibited behavior), making it hard to quantifiably measure in a candidate.</a:t>
            </a:r>
          </a:p>
          <a:p>
            <a:r>
              <a:rPr lang="en-GB" dirty="0"/>
              <a:t>But PL1 for this competency is never measured at tech panel anyway, so it doesn’t really matter.</a:t>
            </a:r>
          </a:p>
          <a:p>
            <a:endParaRPr lang="en-GB" dirty="0"/>
          </a:p>
          <a:p>
            <a:pPr marL="0" indent="0">
              <a:buNone/>
            </a:pPr>
            <a:endParaRPr lang="en-GB" dirty="0"/>
          </a:p>
          <a:p>
            <a:r>
              <a:rPr lang="en-GB" b="1" u="sng" dirty="0"/>
              <a:t>FAQ:</a:t>
            </a:r>
          </a:p>
          <a:p>
            <a:pPr marL="171450" indent="-171450">
              <a:buFont typeface="Arial" panose="020B0604020202020204" pitchFamily="34" charset="0"/>
              <a:buChar char="•"/>
            </a:pPr>
            <a:r>
              <a:rPr lang="en-US" dirty="0"/>
              <a:t>What’s the difference between stats and ML?</a:t>
            </a:r>
          </a:p>
          <a:p>
            <a:pPr marL="171450" indent="-171450">
              <a:buFont typeface="Arial" panose="020B0604020202020204" pitchFamily="34" charset="0"/>
              <a:buChar char="•"/>
            </a:pPr>
            <a:r>
              <a:rPr lang="en-US" dirty="0"/>
              <a:t>So we need to meet the PL checklist?</a:t>
            </a:r>
          </a:p>
          <a:p>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8</a:t>
            </a:fld>
            <a:endParaRPr lang="en-GB"/>
          </a:p>
        </p:txBody>
      </p:sp>
    </p:spTree>
    <p:extLst>
      <p:ext uri="{BB962C8B-B14F-4D97-AF65-F5344CB8AC3E}">
        <p14:creationId xmlns:p14="http://schemas.microsoft.com/office/powerpoint/2010/main" val="601590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rule of thumb is that Consultants are generally expected to exhibit mostly PL2 behaviors, and STS-es are expected to exhibit mostly PL3 behaviors.</a:t>
            </a:r>
          </a:p>
          <a:p>
            <a:r>
              <a:rPr lang="en-US" dirty="0"/>
              <a:t>This trend doesn’t extend to LTS-es because their work tends to skew towards organizational initiatives and cross-disciplinary projects.</a:t>
            </a:r>
          </a:p>
          <a:p>
            <a:r>
              <a:rPr lang="en-US" dirty="0"/>
              <a:t>(Hence LTS-es will exhibit a mix of PL4s, PL3s, and PL2s, depending on whether that specific project is mostly within their domain of expertise.)</a:t>
            </a:r>
          </a:p>
          <a:p>
            <a:endParaRPr lang="en-US" dirty="0"/>
          </a:p>
          <a:p>
            <a:r>
              <a:rPr lang="en-US" dirty="0"/>
              <a:t>The underlined keywords indicate the levels of cognitive process expected at each proficiency level.</a:t>
            </a:r>
          </a:p>
          <a:p>
            <a:r>
              <a:rPr lang="en-US" dirty="0"/>
              <a:t>You may recognize these words from Bloom’s Taxonomy (specifically, the revised edition from 2001), which is used (among other things) to guide curriculum development.</a:t>
            </a:r>
          </a:p>
          <a:p>
            <a:r>
              <a:rPr lang="en-US" dirty="0"/>
              <a:t>The other words on the slide aren’t just filler: they indicate the expected task and problem scopes.</a:t>
            </a:r>
          </a:p>
          <a:p>
            <a:endParaRPr lang="en-US" dirty="0"/>
          </a:p>
          <a:p>
            <a:r>
              <a:rPr lang="en-US" b="1" u="sng" dirty="0"/>
              <a:t>Extra:</a:t>
            </a:r>
          </a:p>
          <a:p>
            <a:r>
              <a:rPr lang="en-US" dirty="0"/>
              <a:t>There’s also an implicit link to the levels of knowledge needed at each PL:</a:t>
            </a:r>
          </a:p>
          <a:p>
            <a:pPr marL="171450" indent="-171450">
              <a:buFont typeface="Arial" panose="020B0604020202020204" pitchFamily="34" charset="0"/>
              <a:buChar char="•"/>
            </a:pPr>
            <a:r>
              <a:rPr lang="en-US" dirty="0"/>
              <a:t>PL1: factual knowledge; e.g., terminology</a:t>
            </a:r>
          </a:p>
          <a:p>
            <a:pPr marL="171450" indent="-171450">
              <a:buFont typeface="Arial" panose="020B0604020202020204" pitchFamily="34" charset="0"/>
              <a:buChar char="•"/>
            </a:pPr>
            <a:r>
              <a:rPr lang="en-GB" dirty="0"/>
              <a:t>PL2: conceptual knowledge; e.g., principles, theories</a:t>
            </a:r>
          </a:p>
          <a:p>
            <a:pPr marL="171450" indent="-171450">
              <a:buFont typeface="Arial" panose="020B0604020202020204" pitchFamily="34" charset="0"/>
              <a:buChar char="•"/>
            </a:pPr>
            <a:r>
              <a:rPr lang="en-GB" dirty="0"/>
              <a:t>PL3: procedural knowledge; e.g., techniques, evaluation criteria</a:t>
            </a:r>
          </a:p>
          <a:p>
            <a:pPr marL="171450" indent="-171450">
              <a:buFont typeface="Arial" panose="020B0604020202020204" pitchFamily="34" charset="0"/>
              <a:buChar char="•"/>
            </a:pPr>
            <a:r>
              <a:rPr lang="en-GB" dirty="0"/>
              <a:t>PL4: metacognitive knowledge; e.g., strategy</a:t>
            </a:r>
          </a:p>
          <a:p>
            <a:endParaRPr lang="en-GB" dirty="0"/>
          </a:p>
          <a:p>
            <a:r>
              <a:rPr lang="en-GB" dirty="0"/>
              <a:t>So there are 4 separate dimensions of proficiency that are distilled into these sentences: cognitive process, knowledge, task scope, and problem scope.</a:t>
            </a:r>
          </a:p>
          <a:p>
            <a:endParaRPr lang="en-GB" dirty="0"/>
          </a:p>
          <a:p>
            <a:r>
              <a:rPr lang="en-GB" dirty="0"/>
              <a:t>PSD actually has 5 PLs, but we’ve compressed it into 4 to simplify the framework, and because (I feel) their expectations are a bit too low.</a:t>
            </a:r>
          </a:p>
          <a:p>
            <a:r>
              <a:rPr lang="en-GB" dirty="0"/>
              <a:t>(Their PL5 also starts to diverge from technical competency and veers off into the realm of planning and management, which was not super relevant to our tech panel.)</a:t>
            </a:r>
          </a:p>
          <a:p>
            <a:endParaRPr lang="en-GB" dirty="0"/>
          </a:p>
          <a:p>
            <a:r>
              <a:rPr lang="en-GB" b="1" u="sng" dirty="0"/>
              <a:t>FAQ:</a:t>
            </a:r>
          </a:p>
          <a:p>
            <a:pPr marL="171450" indent="-171450">
              <a:buFont typeface="Arial" panose="020B0604020202020204" pitchFamily="34" charset="0"/>
              <a:buChar char="•"/>
            </a:pPr>
            <a:r>
              <a:rPr lang="en-US" u="none" dirty="0"/>
              <a:t>Is JR11 the same as “Citizen Data Scientist”?</a:t>
            </a:r>
          </a:p>
          <a:p>
            <a:pPr marL="171450" indent="-171450">
              <a:buFont typeface="Arial" panose="020B0604020202020204" pitchFamily="34" charset="0"/>
              <a:buChar char="•"/>
            </a:pPr>
            <a:endParaRPr lang="en-US" u="none" dirty="0"/>
          </a:p>
          <a:p>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9</a:t>
            </a:fld>
            <a:endParaRPr lang="en-GB"/>
          </a:p>
        </p:txBody>
      </p:sp>
    </p:spTree>
    <p:extLst>
      <p:ext uri="{BB962C8B-B14F-4D97-AF65-F5344CB8AC3E}">
        <p14:creationId xmlns:p14="http://schemas.microsoft.com/office/powerpoint/2010/main" val="135558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this apply to you?</a:t>
            </a:r>
          </a:p>
          <a:p>
            <a:r>
              <a:rPr lang="en-US" dirty="0"/>
              <a:t>For the majority of you who use statistical analysis to find/generate insights, this is what you’ll need for the consultant tech panel.</a:t>
            </a:r>
          </a:p>
          <a:p>
            <a:r>
              <a:rPr lang="en-GB" dirty="0"/>
              <a:t>Pretty much all PL2, except for PL1 in machine learning.</a:t>
            </a:r>
          </a:p>
          <a:p>
            <a:endParaRPr lang="en-GB" dirty="0"/>
          </a:p>
          <a:p>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10</a:t>
            </a:fld>
            <a:endParaRPr lang="en-GB"/>
          </a:p>
        </p:txBody>
      </p:sp>
    </p:spTree>
    <p:extLst>
      <p:ext uri="{BB962C8B-B14F-4D97-AF65-F5344CB8AC3E}">
        <p14:creationId xmlns:p14="http://schemas.microsoft.com/office/powerpoint/2010/main" val="2267455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Conversely, those of you whose work focuses on machine learning will need PL1 in stats, but PL2 in ML.</a:t>
            </a:r>
          </a:p>
          <a:p>
            <a:endParaRPr lang="en-US" dirty="0"/>
          </a:p>
          <a:p>
            <a:r>
              <a:rPr lang="en-US" dirty="0"/>
              <a:t>&lt;Toggle back and forth one slide to emphasize the difference&gt;</a:t>
            </a:r>
          </a:p>
          <a:p>
            <a:endParaRPr lang="en-US" dirty="0"/>
          </a:p>
        </p:txBody>
      </p:sp>
      <p:sp>
        <p:nvSpPr>
          <p:cNvPr id="4" name="Slide Number Placeholder 3"/>
          <p:cNvSpPr>
            <a:spLocks noGrp="1"/>
          </p:cNvSpPr>
          <p:nvPr>
            <p:ph type="sldNum" sz="quarter" idx="5"/>
          </p:nvPr>
        </p:nvSpPr>
        <p:spPr/>
        <p:txBody>
          <a:bodyPr/>
          <a:lstStyle/>
          <a:p>
            <a:fld id="{81FE1F4B-C9F1-45DC-978B-0A40E506A8B0}" type="slidenum">
              <a:rPr lang="en-GB" smtClean="0"/>
              <a:t>11</a:t>
            </a:fld>
            <a:endParaRPr lang="en-GB"/>
          </a:p>
        </p:txBody>
      </p:sp>
    </p:spTree>
    <p:extLst>
      <p:ext uri="{BB962C8B-B14F-4D97-AF65-F5344CB8AC3E}">
        <p14:creationId xmlns:p14="http://schemas.microsoft.com/office/powerpoint/2010/main" val="3040464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inherit both our leadership competencies from our parent SEA family.</a:t>
            </a:r>
          </a:p>
          <a:p>
            <a:r>
              <a:rPr lang="en-US" dirty="0"/>
              <a:t>This includes “technical leadership”, which covers how well you give technical direction, plus what you do to grow organizational culture.</a:t>
            </a:r>
          </a:p>
          <a:p>
            <a:r>
              <a:rPr lang="en-US" dirty="0"/>
              <a:t>And also includes “community contribution”, which covers facilitation, coaching, mentoring, and working on tech initiatives.</a:t>
            </a:r>
          </a:p>
          <a:p>
            <a:endParaRPr lang="en-US" dirty="0"/>
          </a:p>
          <a:p>
            <a:r>
              <a:rPr lang="en-US" b="1" u="sng" dirty="0"/>
              <a:t>Extra: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bit skipped for SEA townhall to avoid antagonizing any SE folks who may be present.)</a:t>
            </a:r>
          </a:p>
          <a:p>
            <a:r>
              <a:rPr lang="en-US" dirty="0"/>
              <a:t>We also chose to inherit our requirements for code quality and writing documentation from the Software Engineering track;</a:t>
            </a:r>
          </a:p>
          <a:p>
            <a:r>
              <a:rPr lang="en-US" dirty="0"/>
              <a:t>And so just like them, we conspicuously have zero requirements for either those things—yolo.</a:t>
            </a:r>
          </a:p>
        </p:txBody>
      </p:sp>
      <p:sp>
        <p:nvSpPr>
          <p:cNvPr id="4" name="Slide Number Placeholder 3"/>
          <p:cNvSpPr>
            <a:spLocks noGrp="1"/>
          </p:cNvSpPr>
          <p:nvPr>
            <p:ph type="sldNum" sz="quarter" idx="5"/>
          </p:nvPr>
        </p:nvSpPr>
        <p:spPr/>
        <p:txBody>
          <a:bodyPr/>
          <a:lstStyle/>
          <a:p>
            <a:fld id="{81FE1F4B-C9F1-45DC-978B-0A40E506A8B0}" type="slidenum">
              <a:rPr lang="en-GB" smtClean="0"/>
              <a:t>12</a:t>
            </a:fld>
            <a:endParaRPr lang="en-GB"/>
          </a:p>
        </p:txBody>
      </p:sp>
    </p:spTree>
    <p:extLst>
      <p:ext uri="{BB962C8B-B14F-4D97-AF65-F5344CB8AC3E}">
        <p14:creationId xmlns:p14="http://schemas.microsoft.com/office/powerpoint/2010/main" val="27899163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 I’ve underlined the words that indicate the scope of your leadership and expected contributions.</a:t>
            </a:r>
          </a:p>
          <a:p>
            <a:pPr marL="171450" indent="-171450">
              <a:buFont typeface="Arial" panose="020B0604020202020204" pitchFamily="34" charset="0"/>
              <a:buChar char="•"/>
            </a:pPr>
            <a:r>
              <a:rPr lang="en-US" dirty="0"/>
              <a:t>There’s no PL1, because that just doesn’t make sense.</a:t>
            </a:r>
          </a:p>
          <a:p>
            <a:pPr marL="171450" indent="-171450">
              <a:buFont typeface="Arial" panose="020B0604020202020204" pitchFamily="34" charset="0"/>
              <a:buChar char="•"/>
            </a:pPr>
            <a:r>
              <a:rPr lang="en-US" dirty="0"/>
              <a:t>PL2 applies to consultants, and is generally scoped to your team (plus participation in the wider community).</a:t>
            </a:r>
          </a:p>
          <a:p>
            <a:pPr marL="171450" indent="-171450">
              <a:buFont typeface="Arial" panose="020B0604020202020204" pitchFamily="34" charset="0"/>
              <a:buChar char="•"/>
            </a:pPr>
            <a:r>
              <a:rPr lang="en-US" dirty="0"/>
              <a:t>PL3 applies to STS-es, and is generally scoped to your section (plus being an active contributor).</a:t>
            </a:r>
          </a:p>
          <a:p>
            <a:pPr marL="171450" indent="-171450">
              <a:buFont typeface="Arial" panose="020B0604020202020204" pitchFamily="34" charset="0"/>
              <a:buChar char="•"/>
            </a:pPr>
            <a:r>
              <a:rPr lang="en-US" dirty="0"/>
              <a:t>PL4 applies to LTS-es, is generally scoped at the cluster or directorate level, and also starts to touch on external engagement (plus leading internal initiatives).</a:t>
            </a:r>
          </a:p>
          <a:p>
            <a:endParaRPr lang="en-US" dirty="0"/>
          </a:p>
          <a:p>
            <a:r>
              <a:rPr lang="en-US" dirty="0"/>
              <a:t>(If you’re wondering; yes, it was slightly force-fit into the PL framework.)</a:t>
            </a:r>
          </a:p>
          <a:p>
            <a:endParaRPr lang="en-US" dirty="0"/>
          </a:p>
          <a:p>
            <a:r>
              <a:rPr lang="en-US" b="1" u="sng" dirty="0"/>
              <a:t>FAQ:</a:t>
            </a:r>
          </a:p>
          <a:p>
            <a:pPr marL="171450" indent="-171450">
              <a:buFont typeface="Arial" panose="020B0604020202020204" pitchFamily="34" charset="0"/>
              <a:buChar char="•"/>
            </a:pPr>
            <a:r>
              <a:rPr lang="en-US" dirty="0"/>
              <a:t>How do you track community contribution?</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1FE1F4B-C9F1-45DC-978B-0A40E506A8B0}" type="slidenum">
              <a:rPr lang="en-GB" smtClean="0"/>
              <a:t>13</a:t>
            </a:fld>
            <a:endParaRPr lang="en-GB"/>
          </a:p>
        </p:txBody>
      </p:sp>
    </p:spTree>
    <p:extLst>
      <p:ext uri="{BB962C8B-B14F-4D97-AF65-F5344CB8AC3E}">
        <p14:creationId xmlns:p14="http://schemas.microsoft.com/office/powerpoint/2010/main" val="11298144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Overall this is what the expectations look like for consultants, STS-es, and LTS-es.</a:t>
            </a:r>
          </a:p>
          <a:p>
            <a:r>
              <a:rPr lang="en-GB" dirty="0"/>
              <a:t>Just to be extra clear, that means this is the level you should be at when you go for the tech panel to become a consultant, STS, or LTS respectively.</a:t>
            </a:r>
          </a:p>
          <a:p>
            <a:endParaRPr lang="en-GB" dirty="0"/>
          </a:p>
          <a:p>
            <a:r>
              <a:rPr lang="en-GB" b="1" u="sng" dirty="0"/>
              <a:t>Extra:</a:t>
            </a:r>
          </a:p>
          <a:p>
            <a:r>
              <a:rPr lang="en-GB" dirty="0"/>
              <a:t>I doubt anybody cares, but please note that this competency-based assessment does not replace the OCC framework; this is simply one layer above it.</a:t>
            </a:r>
          </a:p>
          <a:p>
            <a:r>
              <a:rPr lang="en-GB" dirty="0"/>
              <a:t>Technically this is two layers: functional competencies + leadership competencies.</a:t>
            </a:r>
          </a:p>
          <a:p>
            <a:r>
              <a:rPr lang="en-GB" dirty="0"/>
              <a:t>But PSD has not </a:t>
            </a:r>
            <a:r>
              <a:rPr lang="en-GB"/>
              <a:t>published enough </a:t>
            </a:r>
            <a:r>
              <a:rPr lang="en-GB" dirty="0"/>
              <a:t>about how they want leadership competencies to work, so for now we’re making do by pretending they’re functional competencies.</a:t>
            </a:r>
          </a:p>
          <a:p>
            <a:endParaRPr lang="en-GB" dirty="0"/>
          </a:p>
          <a:p>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14</a:t>
            </a:fld>
            <a:endParaRPr lang="en-GB"/>
          </a:p>
        </p:txBody>
      </p:sp>
    </p:spTree>
    <p:extLst>
      <p:ext uri="{BB962C8B-B14F-4D97-AF65-F5344CB8AC3E}">
        <p14:creationId xmlns:p14="http://schemas.microsoft.com/office/powerpoint/2010/main" val="33181213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15</a:t>
            </a:fld>
            <a:endParaRPr lang="en-GB"/>
          </a:p>
        </p:txBody>
      </p:sp>
    </p:spTree>
    <p:extLst>
      <p:ext uri="{BB962C8B-B14F-4D97-AF65-F5344CB8AC3E}">
        <p14:creationId xmlns:p14="http://schemas.microsoft.com/office/powerpoint/2010/main" val="9641056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be pretty straightforward to understand this change, about half of you can go update your LinkedIn job title.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name change may also help with &lt;previously the Data Analyst Cluster&gt; recruitment and hiring.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they’re still hiring, which they probably aren’t since (I think) their </a:t>
            </a:r>
            <a:r>
              <a:rPr lang="en-US" dirty="0" err="1"/>
              <a:t>estab</a:t>
            </a:r>
            <a:r>
              <a:rPr lang="en-US" dirty="0"/>
              <a:t> is full.</a:t>
            </a:r>
          </a:p>
          <a:p>
            <a:endParaRPr lang="en-US" dirty="0"/>
          </a:p>
          <a:p>
            <a:r>
              <a:rPr lang="en-US" dirty="0"/>
              <a:t>This also affects the job title you provide externally.</a:t>
            </a:r>
          </a:p>
          <a:p>
            <a:r>
              <a:rPr lang="en-US" dirty="0"/>
              <a:t>Which in turn affects your </a:t>
            </a:r>
            <a:r>
              <a:rPr lang="en-US" dirty="0" err="1"/>
              <a:t>namecards</a:t>
            </a:r>
            <a:r>
              <a:rPr lang="en-US" dirty="0"/>
              <a:t>, but I’m pretty sure nobody here has any.</a:t>
            </a:r>
          </a:p>
          <a:p>
            <a:r>
              <a:rPr lang="en-US" dirty="0"/>
              <a:t>(The job titles are slightly inflated relative to industry standards, but I guess that’s fine.)</a:t>
            </a:r>
          </a:p>
          <a:p>
            <a:endParaRPr lang="en-US" dirty="0"/>
          </a:p>
        </p:txBody>
      </p:sp>
      <p:sp>
        <p:nvSpPr>
          <p:cNvPr id="4" name="Slide Number Placeholder 3"/>
          <p:cNvSpPr>
            <a:spLocks noGrp="1"/>
          </p:cNvSpPr>
          <p:nvPr>
            <p:ph type="sldNum" sz="quarter" idx="5"/>
          </p:nvPr>
        </p:nvSpPr>
        <p:spPr/>
        <p:txBody>
          <a:bodyPr/>
          <a:lstStyle/>
          <a:p>
            <a:fld id="{81FE1F4B-C9F1-45DC-978B-0A40E506A8B0}" type="slidenum">
              <a:rPr lang="en-GB" smtClean="0"/>
              <a:t>16</a:t>
            </a:fld>
            <a:endParaRPr lang="en-GB"/>
          </a:p>
        </p:txBody>
      </p:sp>
    </p:spTree>
    <p:extLst>
      <p:ext uri="{BB962C8B-B14F-4D97-AF65-F5344CB8AC3E}">
        <p14:creationId xmlns:p14="http://schemas.microsoft.com/office/powerpoint/2010/main" val="35609340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no change to the kinds of work you do at each level.</a:t>
            </a:r>
          </a:p>
          <a:p>
            <a:r>
              <a:rPr lang="en-US" dirty="0"/>
              <a:t>If you cross-reference this with your understanding of the PLs, you’ll be able to get a feeling for how they correspond to each other.</a:t>
            </a:r>
          </a:p>
          <a:p>
            <a:br>
              <a:rPr lang="en-US" dirty="0"/>
            </a:br>
            <a:r>
              <a:rPr lang="en-US" dirty="0"/>
              <a:t>This time the underlined words indicate the scope of the work you’re usually performing at that level.</a:t>
            </a:r>
          </a:p>
          <a:p>
            <a:r>
              <a:rPr lang="en-US" dirty="0"/>
              <a:t>(These are accurate for technical roles across all job families, and should also be reasonably accurate for the management track.)</a:t>
            </a:r>
          </a:p>
          <a:p>
            <a:endParaRPr lang="en-US" dirty="0"/>
          </a:p>
          <a:p>
            <a:r>
              <a:rPr lang="en-US" b="1" u="sng" dirty="0"/>
              <a:t>Extra:</a:t>
            </a:r>
          </a:p>
          <a:p>
            <a:r>
              <a:rPr lang="en-US" dirty="0"/>
              <a:t>What most people (regardless of skill level) would consider a problem suitable for your level:</a:t>
            </a:r>
          </a:p>
          <a:p>
            <a:pPr marL="171450" indent="-171450">
              <a:buFont typeface="Arial" panose="020B0604020202020204" pitchFamily="34" charset="0"/>
              <a:buChar char="•"/>
            </a:pPr>
            <a:r>
              <a:rPr lang="en-US" dirty="0"/>
              <a:t>Newbie: a Jira task</a:t>
            </a:r>
          </a:p>
          <a:p>
            <a:pPr marL="171450" indent="-171450">
              <a:buFont typeface="Arial" panose="020B0604020202020204" pitchFamily="34" charset="0"/>
              <a:buChar char="•"/>
            </a:pPr>
            <a:r>
              <a:rPr lang="en-US" dirty="0"/>
              <a:t>Consultant: stuff that’s niche, non-routine, and (often) tedious</a:t>
            </a:r>
          </a:p>
          <a:p>
            <a:pPr marL="171450" indent="-171450">
              <a:buFont typeface="Arial" panose="020B0604020202020204" pitchFamily="34" charset="0"/>
              <a:buChar char="•"/>
            </a:pPr>
            <a:r>
              <a:rPr lang="en-US" dirty="0"/>
              <a:t>STS: a working solution isn’t hard to imagine, but it has a lot of stakeholders, moving parts, and/or inherent complexity, and is too much work for a single (normal) person to complete—so it’s usually a team project</a:t>
            </a:r>
          </a:p>
          <a:p>
            <a:pPr marL="171450" indent="-171450">
              <a:buFont typeface="Arial" panose="020B0604020202020204" pitchFamily="34" charset="0"/>
              <a:buChar char="•"/>
            </a:pPr>
            <a:r>
              <a:rPr lang="en-US" dirty="0"/>
              <a:t>LTS: most people aren’t sure how to approach the problem, much less solve it; even if it was solved, it’s hard to guess the impact</a:t>
            </a:r>
          </a:p>
          <a:p>
            <a:endParaRPr lang="en-US" dirty="0"/>
          </a:p>
          <a:p>
            <a:r>
              <a:rPr lang="en-US" dirty="0"/>
              <a:t>While the career framework does not reach PTS, you can extrapolate upwards pretty easily.</a:t>
            </a:r>
          </a:p>
          <a:p>
            <a:r>
              <a:rPr lang="en-US" dirty="0"/>
              <a:t>A reasonable analytic continuation from the current definitions could be to require the PTS to:</a:t>
            </a:r>
          </a:p>
          <a:p>
            <a:pPr marL="171450" indent="-171450">
              <a:buFont typeface="Arial" panose="020B0604020202020204" pitchFamily="34" charset="0"/>
              <a:buChar char="•"/>
            </a:pPr>
            <a:r>
              <a:rPr lang="en-US" dirty="0"/>
              <a:t>Strategize, define organizational goals, and ensure </a:t>
            </a:r>
            <a:r>
              <a:rPr lang="en-US" u="sng" dirty="0"/>
              <a:t>success</a:t>
            </a:r>
            <a:r>
              <a:rPr lang="en-US" dirty="0"/>
              <a:t>.</a:t>
            </a:r>
          </a:p>
        </p:txBody>
      </p:sp>
      <p:sp>
        <p:nvSpPr>
          <p:cNvPr id="4" name="Slide Number Placeholder 3"/>
          <p:cNvSpPr>
            <a:spLocks noGrp="1"/>
          </p:cNvSpPr>
          <p:nvPr>
            <p:ph type="sldNum" sz="quarter" idx="5"/>
          </p:nvPr>
        </p:nvSpPr>
        <p:spPr/>
        <p:txBody>
          <a:bodyPr/>
          <a:lstStyle/>
          <a:p>
            <a:fld id="{81FE1F4B-C9F1-45DC-978B-0A40E506A8B0}" type="slidenum">
              <a:rPr lang="en-GB" smtClean="0"/>
              <a:t>17</a:t>
            </a:fld>
            <a:endParaRPr lang="en-GB"/>
          </a:p>
        </p:txBody>
      </p:sp>
    </p:spTree>
    <p:extLst>
      <p:ext uri="{BB962C8B-B14F-4D97-AF65-F5344CB8AC3E}">
        <p14:creationId xmlns:p14="http://schemas.microsoft.com/office/powerpoint/2010/main" val="34836262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old name (Data Analytics) was no longer fashionable.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Also now that everyone is a data scientist, it made extra sense to update the name.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you know what’s fashionable now?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✨AI✨</a:t>
            </a:r>
          </a:p>
          <a:p>
            <a:endParaRPr lang="en-GB" dirty="0"/>
          </a:p>
          <a:p>
            <a:endParaRPr lang="en-GB" dirty="0"/>
          </a:p>
          <a:p>
            <a:r>
              <a:rPr lang="en-GB" dirty="0"/>
              <a:t>(…yeah there’s not much to say here, just skip to the end)</a:t>
            </a:r>
          </a:p>
          <a:p>
            <a:endParaRPr lang="en-US" dirty="0"/>
          </a:p>
          <a:p>
            <a:r>
              <a:rPr lang="en-US" dirty="0" err="1"/>
              <a:t>Afternote</a:t>
            </a:r>
            <a:r>
              <a:rPr lang="en-US" dirty="0"/>
              <a:t>:</a:t>
            </a:r>
          </a:p>
          <a:p>
            <a:r>
              <a:rPr lang="en-US" dirty="0"/>
              <a:t>I</a:t>
            </a:r>
            <a:r>
              <a:rPr lang="en-US" baseline="0" dirty="0"/>
              <a:t> kind of undersold the work done for this slide </a:t>
            </a:r>
            <a:r>
              <a:rPr lang="en-US" baseline="0" dirty="0" err="1"/>
              <a:t>tbh</a:t>
            </a:r>
            <a:r>
              <a:rPr lang="en-US" baseline="0" dirty="0"/>
              <a:t>, we did a bunch of market research etc. to determine what the correct names should be to optimize our recruitment and hiring</a:t>
            </a:r>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18</a:t>
            </a:fld>
            <a:endParaRPr lang="en-GB"/>
          </a:p>
        </p:txBody>
      </p:sp>
    </p:spTree>
    <p:extLst>
      <p:ext uri="{BB962C8B-B14F-4D97-AF65-F5344CB8AC3E}">
        <p14:creationId xmlns:p14="http://schemas.microsoft.com/office/powerpoint/2010/main" val="22788752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19</a:t>
            </a:fld>
            <a:endParaRPr lang="en-GB"/>
          </a:p>
        </p:txBody>
      </p:sp>
    </p:spTree>
    <p:extLst>
      <p:ext uri="{BB962C8B-B14F-4D97-AF65-F5344CB8AC3E}">
        <p14:creationId xmlns:p14="http://schemas.microsoft.com/office/powerpoint/2010/main" val="18846742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gotten approval, we’ve published the materials, and we’ve sent the mass mailer.</a:t>
            </a:r>
          </a:p>
          <a:p>
            <a:r>
              <a:rPr lang="en-US" dirty="0"/>
              <a:t>And here we are at townhall today.</a:t>
            </a:r>
          </a:p>
          <a:p>
            <a:endParaRPr lang="en-US" dirty="0"/>
          </a:p>
          <a:p>
            <a:r>
              <a:rPr lang="en-US" dirty="0"/>
              <a:t>At the upcoming cycle of the tech panel, you get to choose if you prefer to stick to the old framework or go with the new one.</a:t>
            </a:r>
          </a:p>
          <a:p>
            <a:r>
              <a:rPr lang="en-US" dirty="0"/>
              <a:t>(Honestly not much is different.)</a:t>
            </a:r>
          </a:p>
          <a:p>
            <a:endParaRPr lang="en-US" dirty="0"/>
          </a:p>
          <a:p>
            <a:r>
              <a:rPr lang="en-US" dirty="0"/>
              <a:t>Fingers crossed we won’t hit any teething issues, or if we do we’ll be able to easily iron them out.</a:t>
            </a:r>
          </a:p>
          <a:p>
            <a:r>
              <a:rPr lang="en-US" dirty="0"/>
              <a:t>And so from the following cycle onwards the new competency framework will apply to all tech panel candidates.</a:t>
            </a:r>
          </a:p>
          <a:p>
            <a:endParaRPr lang="en-US" dirty="0"/>
          </a:p>
        </p:txBody>
      </p:sp>
      <p:sp>
        <p:nvSpPr>
          <p:cNvPr id="4" name="Slide Number Placeholder 3"/>
          <p:cNvSpPr>
            <a:spLocks noGrp="1"/>
          </p:cNvSpPr>
          <p:nvPr>
            <p:ph type="sldNum" sz="quarter" idx="5"/>
          </p:nvPr>
        </p:nvSpPr>
        <p:spPr/>
        <p:txBody>
          <a:bodyPr/>
          <a:lstStyle/>
          <a:p>
            <a:fld id="{81FE1F4B-C9F1-45DC-978B-0A40E506A8B0}" type="slidenum">
              <a:rPr lang="en-GB" smtClean="0"/>
              <a:t>20</a:t>
            </a:fld>
            <a:endParaRPr lang="en-GB"/>
          </a:p>
        </p:txBody>
      </p:sp>
    </p:spTree>
    <p:extLst>
      <p:ext uri="{BB962C8B-B14F-4D97-AF65-F5344CB8AC3E}">
        <p14:creationId xmlns:p14="http://schemas.microsoft.com/office/powerpoint/2010/main" val="17531706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we come to what is actually the main part of the townhall presentation</a:t>
            </a:r>
            <a:r>
              <a:rPr lang="en-GB" dirty="0"/>
              <a:t>.</a:t>
            </a:r>
          </a:p>
          <a:p>
            <a:r>
              <a:rPr lang="en-GB" dirty="0"/>
              <a:t>Please ask questions, or raise concerns that something might go wrong, or ask about your specific scenario.</a:t>
            </a:r>
          </a:p>
          <a:p>
            <a:r>
              <a:rPr lang="en-GB" dirty="0"/>
              <a:t>(Or just complain about yet another complex structural change nobody asked for.)</a:t>
            </a:r>
          </a:p>
          <a:p>
            <a:endParaRPr lang="en-US" dirty="0"/>
          </a:p>
        </p:txBody>
      </p:sp>
      <p:sp>
        <p:nvSpPr>
          <p:cNvPr id="4" name="Slide Number Placeholder 3"/>
          <p:cNvSpPr>
            <a:spLocks noGrp="1"/>
          </p:cNvSpPr>
          <p:nvPr>
            <p:ph type="sldNum" sz="quarter" idx="5"/>
          </p:nvPr>
        </p:nvSpPr>
        <p:spPr/>
        <p:txBody>
          <a:bodyPr/>
          <a:lstStyle/>
          <a:p>
            <a:fld id="{81FE1F4B-C9F1-45DC-978B-0A40E506A8B0}" type="slidenum">
              <a:rPr lang="en-GB" smtClean="0"/>
              <a:t>21</a:t>
            </a:fld>
            <a:endParaRPr lang="en-GB"/>
          </a:p>
        </p:txBody>
      </p:sp>
    </p:spTree>
    <p:extLst>
      <p:ext uri="{BB962C8B-B14F-4D97-AF65-F5344CB8AC3E}">
        <p14:creationId xmlns:p14="http://schemas.microsoft.com/office/powerpoint/2010/main" val="4053514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going to be an updated slide template</a:t>
            </a:r>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22</a:t>
            </a:fld>
            <a:endParaRPr lang="en-GB"/>
          </a:p>
        </p:txBody>
      </p:sp>
    </p:spTree>
    <p:extLst>
      <p:ext uri="{BB962C8B-B14F-4D97-AF65-F5344CB8AC3E}">
        <p14:creationId xmlns:p14="http://schemas.microsoft.com/office/powerpoint/2010/main" val="7954591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“Dropping” your proficiency in a specialization implies unlearning, i.e., “forgetting how to ride a bike”—you </a:t>
            </a:r>
            <a:r>
              <a:rPr lang="en-US" i="1" dirty="0"/>
              <a:t>can</a:t>
            </a:r>
            <a:r>
              <a:rPr lang="en-US" i="0" dirty="0"/>
              <a:t>, with a lot of trying (or a car accident).</a:t>
            </a:r>
          </a:p>
          <a:p>
            <a:r>
              <a:rPr lang="en-US" i="0" dirty="0"/>
              <a:t>But even if you can, why would you want to? ._.</a:t>
            </a:r>
          </a:p>
          <a:p>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24</a:t>
            </a:fld>
            <a:endParaRPr lang="en-GB"/>
          </a:p>
        </p:txBody>
      </p:sp>
    </p:spTree>
    <p:extLst>
      <p:ext uri="{BB962C8B-B14F-4D97-AF65-F5344CB8AC3E}">
        <p14:creationId xmlns:p14="http://schemas.microsoft.com/office/powerpoint/2010/main" val="3919776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Avery for slide template</a:t>
            </a:r>
            <a:br>
              <a:rPr lang="en-US" dirty="0"/>
            </a:br>
            <a:br>
              <a:rPr lang="en-US" dirty="0"/>
            </a:br>
            <a:r>
              <a:rPr lang="en-US" dirty="0" err="1"/>
              <a:t>Afternote</a:t>
            </a:r>
            <a:r>
              <a:rPr lang="en-US" dirty="0"/>
              <a:t>:</a:t>
            </a:r>
          </a:p>
          <a:p>
            <a:r>
              <a:rPr lang="en-US" dirty="0"/>
              <a:t>OOPS lol I used “DA” again,</a:t>
            </a:r>
            <a:r>
              <a:rPr lang="en-US" baseline="0" dirty="0"/>
              <a:t> fixed</a:t>
            </a:r>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25</a:t>
            </a:fld>
            <a:endParaRPr lang="en-GB"/>
          </a:p>
        </p:txBody>
      </p:sp>
    </p:spTree>
    <p:extLst>
      <p:ext uri="{BB962C8B-B14F-4D97-AF65-F5344CB8AC3E}">
        <p14:creationId xmlns:p14="http://schemas.microsoft.com/office/powerpoint/2010/main" val="2485337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But also </a:t>
            </a:r>
            <a:r>
              <a:rPr lang="en-GB" i="1" dirty="0"/>
              <a:t>kind of</a:t>
            </a:r>
            <a:r>
              <a:rPr lang="en-GB" dirty="0"/>
              <a:t> yes—if you meet all the PLs, you’re probably safe</a:t>
            </a:r>
          </a:p>
          <a:p>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26</a:t>
            </a:fld>
            <a:endParaRPr lang="en-GB"/>
          </a:p>
        </p:txBody>
      </p:sp>
    </p:spTree>
    <p:extLst>
      <p:ext uri="{BB962C8B-B14F-4D97-AF65-F5344CB8AC3E}">
        <p14:creationId xmlns:p14="http://schemas.microsoft.com/office/powerpoint/2010/main" val="17949242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1FE1F4B-C9F1-45DC-978B-0A40E506A8B0}" type="slidenum">
              <a:rPr lang="en-GB" smtClean="0"/>
              <a:t>27</a:t>
            </a:fld>
            <a:endParaRPr lang="en-GB"/>
          </a:p>
        </p:txBody>
      </p:sp>
    </p:spTree>
    <p:extLst>
      <p:ext uri="{BB962C8B-B14F-4D97-AF65-F5344CB8AC3E}">
        <p14:creationId xmlns:p14="http://schemas.microsoft.com/office/powerpoint/2010/main" val="22127373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28</a:t>
            </a:fld>
            <a:endParaRPr lang="en-GB"/>
          </a:p>
        </p:txBody>
      </p:sp>
    </p:spTree>
    <p:extLst>
      <p:ext uri="{BB962C8B-B14F-4D97-AF65-F5344CB8AC3E}">
        <p14:creationId xmlns:p14="http://schemas.microsoft.com/office/powerpoint/2010/main" val="15502253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someone joins, in their first year they have:</a:t>
            </a:r>
          </a:p>
          <a:p>
            <a:pPr marL="171450" indent="-171450">
              <a:buFont typeface="Arial" panose="020B0604020202020204" pitchFamily="34" charset="0"/>
              <a:buChar char="•"/>
            </a:pPr>
            <a:r>
              <a:rPr lang="en-US" dirty="0"/>
              <a:t>About a month of the internal foundation </a:t>
            </a:r>
            <a:r>
              <a:rPr lang="en-US" dirty="0" err="1"/>
              <a:t>programme</a:t>
            </a:r>
            <a:endParaRPr lang="en-US" dirty="0"/>
          </a:p>
          <a:p>
            <a:pPr marL="171450" indent="-171450">
              <a:buFont typeface="Arial" panose="020B0604020202020204" pitchFamily="34" charset="0"/>
              <a:buChar char="•"/>
            </a:pPr>
            <a:r>
              <a:rPr lang="en-US" dirty="0"/>
              <a:t>A month of leave</a:t>
            </a:r>
          </a:p>
          <a:p>
            <a:pPr marL="171450" indent="-171450">
              <a:buFont typeface="Arial" panose="020B0604020202020204" pitchFamily="34" charset="0"/>
              <a:buChar char="•"/>
            </a:pPr>
            <a:r>
              <a:rPr lang="en-US" dirty="0"/>
              <a:t>A month (4 weeks) of other mandatory courses</a:t>
            </a:r>
          </a:p>
          <a:p>
            <a:pPr marL="171450" indent="-171450">
              <a:buFont typeface="Arial" panose="020B0604020202020204" pitchFamily="34" charset="0"/>
              <a:buChar char="•"/>
            </a:pPr>
            <a:r>
              <a:rPr lang="en-US" dirty="0"/>
              <a:t>A couple months to properly onboard</a:t>
            </a:r>
          </a:p>
          <a:p>
            <a:pPr marL="171450" indent="-171450">
              <a:buFont typeface="Arial" panose="020B0604020202020204" pitchFamily="34" charset="0"/>
              <a:buChar char="•"/>
            </a:pPr>
            <a:r>
              <a:rPr lang="en-US" dirty="0"/>
              <a:t>Maybe 6+ months to be helpful</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Please take the numbers with a grain of salt: I don’t have access to actual career progression stats, I’m basing this on anecdotes</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The fastest </a:t>
            </a:r>
            <a:r>
              <a:rPr lang="en-US" dirty="0">
                <a:sym typeface="Wingdings" panose="05000000000000000000" pitchFamily="2" charset="2"/>
              </a:rPr>
              <a:t>(maybe the 99</a:t>
            </a:r>
            <a:r>
              <a:rPr lang="en-US" baseline="30000" dirty="0">
                <a:sym typeface="Wingdings" panose="05000000000000000000" pitchFamily="2" charset="2"/>
              </a:rPr>
              <a:t>th</a:t>
            </a:r>
            <a:r>
              <a:rPr lang="en-US" dirty="0">
                <a:sym typeface="Wingdings" panose="05000000000000000000" pitchFamily="2" charset="2"/>
              </a:rPr>
              <a:t> percentile) </a:t>
            </a:r>
            <a:r>
              <a:rPr lang="en-US" dirty="0"/>
              <a:t>fresh grad </a:t>
            </a:r>
            <a:r>
              <a:rPr lang="en-US" dirty="0">
                <a:sym typeface="Wingdings" panose="05000000000000000000" pitchFamily="2" charset="2"/>
              </a:rPr>
              <a:t> consultant could be about 2 YIS—expect this to happen very rarely</a:t>
            </a:r>
          </a:p>
          <a:p>
            <a:pPr marL="0" indent="0">
              <a:buFont typeface="Arial" panose="020B0604020202020204" pitchFamily="34" charset="0"/>
              <a:buNone/>
            </a:pPr>
            <a:r>
              <a:rPr lang="en-US" dirty="0">
                <a:sym typeface="Wingdings" panose="05000000000000000000" pitchFamily="2" charset="2"/>
              </a:rPr>
              <a:t>Similarly, the 99</a:t>
            </a:r>
            <a:r>
              <a:rPr lang="en-US" baseline="30000" dirty="0">
                <a:sym typeface="Wingdings" panose="05000000000000000000" pitchFamily="2" charset="2"/>
              </a:rPr>
              <a:t>th</a:t>
            </a:r>
            <a:r>
              <a:rPr lang="en-US" dirty="0">
                <a:sym typeface="Wingdings" panose="05000000000000000000" pitchFamily="2" charset="2"/>
              </a:rPr>
              <a:t> percentile fresh grad  STS could be around 4-5 YIS</a:t>
            </a:r>
          </a:p>
          <a:p>
            <a:pPr marL="0" indent="0">
              <a:buFont typeface="Arial" panose="020B0604020202020204" pitchFamily="34" charset="0"/>
              <a:buNone/>
            </a:pPr>
            <a:endParaRPr lang="en-US" dirty="0">
              <a:sym typeface="Wingdings" panose="05000000000000000000" pitchFamily="2" charset="2"/>
            </a:endParaRPr>
          </a:p>
          <a:p>
            <a:pPr marL="0" indent="0">
              <a:buFont typeface="Arial" panose="020B0604020202020204" pitchFamily="34" charset="0"/>
              <a:buNone/>
            </a:pPr>
            <a:r>
              <a:rPr lang="en-US" dirty="0">
                <a:sym typeface="Wingdings" panose="05000000000000000000" pitchFamily="2" charset="2"/>
              </a:rPr>
              <a:t>You can think of the timeline as approximately matching big tech levels in this way:</a:t>
            </a:r>
          </a:p>
          <a:p>
            <a:pPr marL="171450" indent="-171450">
              <a:buFont typeface="Arial" panose="020B0604020202020204" pitchFamily="34" charset="0"/>
              <a:buChar char="•"/>
            </a:pPr>
            <a:r>
              <a:rPr lang="en-US" dirty="0">
                <a:sym typeface="Wingdings" panose="05000000000000000000" pitchFamily="2" charset="2"/>
              </a:rPr>
              <a:t>Newbie = L3</a:t>
            </a:r>
          </a:p>
          <a:p>
            <a:pPr marL="171450" indent="-171450">
              <a:buFont typeface="Arial" panose="020B0604020202020204" pitchFamily="34" charset="0"/>
              <a:buChar char="•"/>
            </a:pPr>
            <a:r>
              <a:rPr lang="en-US" dirty="0">
                <a:sym typeface="Wingdings" panose="05000000000000000000" pitchFamily="2" charset="2"/>
              </a:rPr>
              <a:t>Consultant = L4</a:t>
            </a:r>
          </a:p>
          <a:p>
            <a:pPr marL="171450" indent="-171450">
              <a:buFont typeface="Arial" panose="020B0604020202020204" pitchFamily="34" charset="0"/>
              <a:buChar char="•"/>
            </a:pPr>
            <a:r>
              <a:rPr lang="en-US" dirty="0">
                <a:sym typeface="Wingdings" panose="05000000000000000000" pitchFamily="2" charset="2"/>
              </a:rPr>
              <a:t>STS = L5</a:t>
            </a:r>
          </a:p>
          <a:p>
            <a:pPr marL="171450" indent="-171450">
              <a:buFont typeface="Arial" panose="020B0604020202020204" pitchFamily="34" charset="0"/>
              <a:buChar char="•"/>
            </a:pPr>
            <a:r>
              <a:rPr lang="en-US" dirty="0">
                <a:sym typeface="Wingdings" panose="05000000000000000000" pitchFamily="2" charset="2"/>
              </a:rPr>
              <a:t>LTS = L6 (usually 10-20 YIS)</a:t>
            </a:r>
          </a:p>
          <a:p>
            <a:pPr marL="171450" indent="-171450">
              <a:buFont typeface="Arial" panose="020B0604020202020204" pitchFamily="34" charset="0"/>
              <a:buChar char="•"/>
            </a:pPr>
            <a:r>
              <a:rPr lang="en-US" dirty="0">
                <a:sym typeface="Wingdings" panose="05000000000000000000" pitchFamily="2" charset="2"/>
              </a:rPr>
              <a:t>PTS = probably L8 (usually 15-20+ YIS, but the variance is huge)</a:t>
            </a:r>
          </a:p>
          <a:p>
            <a:pPr marL="0" indent="0">
              <a:buFont typeface="Arial" panose="020B0604020202020204" pitchFamily="34" charset="0"/>
              <a:buNone/>
            </a:pPr>
            <a:endParaRPr lang="en-US" dirty="0"/>
          </a:p>
          <a:p>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29</a:t>
            </a:fld>
            <a:endParaRPr lang="en-GB"/>
          </a:p>
        </p:txBody>
      </p:sp>
    </p:spTree>
    <p:extLst>
      <p:ext uri="{BB962C8B-B14F-4D97-AF65-F5344CB8AC3E}">
        <p14:creationId xmlns:p14="http://schemas.microsoft.com/office/powerpoint/2010/main" val="9817058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FE1F4B-C9F1-45DC-978B-0A40E506A8B0}" type="slidenum">
              <a:rPr lang="en-GB" smtClean="0"/>
              <a:t>30</a:t>
            </a:fld>
            <a:endParaRPr lang="en-GB"/>
          </a:p>
        </p:txBody>
      </p:sp>
    </p:spTree>
    <p:extLst>
      <p:ext uri="{BB962C8B-B14F-4D97-AF65-F5344CB8AC3E}">
        <p14:creationId xmlns:p14="http://schemas.microsoft.com/office/powerpoint/2010/main" val="3376729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0448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530050"/>
            <a:ext cx="10515600" cy="46469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10640" y="1122363"/>
            <a:ext cx="9570720" cy="2387600"/>
          </a:xfrm>
        </p:spPr>
        <p:txBody>
          <a:bodyPr/>
          <a:lstStyle/>
          <a:p>
            <a:r>
              <a:rPr lang="en-US" dirty="0"/>
              <a:t>DSAI Competency Framework</a:t>
            </a:r>
          </a:p>
        </p:txBody>
      </p:sp>
      <p:sp>
        <p:nvSpPr>
          <p:cNvPr id="3" name="Subtitle 2"/>
          <p:cNvSpPr>
            <a:spLocks noGrp="1"/>
          </p:cNvSpPr>
          <p:nvPr>
            <p:ph type="subTitle" idx="1"/>
          </p:nvPr>
        </p:nvSpPr>
        <p:spPr>
          <a:xfrm>
            <a:off x="1524000" y="3602038"/>
            <a:ext cx="9144000" cy="1655762"/>
          </a:xfrm>
        </p:spPr>
        <p:txBody>
          <a:bodyPr vert="horz" lIns="91440" tIns="45720" rIns="91440" bIns="45720" rtlCol="0" anchor="t">
            <a:normAutofit/>
          </a:bodyPr>
          <a:lstStyle/>
          <a:p>
            <a:r>
              <a:rPr lang="en-US" dirty="0"/>
              <a:t>SEA Townhall</a:t>
            </a:r>
          </a:p>
          <a:p>
            <a:r>
              <a:rPr lang="en-US" dirty="0"/>
              <a:t>4</a:t>
            </a:r>
            <a:r>
              <a:rPr lang="en-US" baseline="30000" dirty="0"/>
              <a:t>th</a:t>
            </a:r>
            <a:r>
              <a:rPr lang="en-US" dirty="0"/>
              <a:t> Feb 2025</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10F4D-99E6-4EE9-B952-8EA996E2C8C2}"/>
              </a:ext>
            </a:extLst>
          </p:cNvPr>
          <p:cNvSpPr>
            <a:spLocks noGrp="1"/>
          </p:cNvSpPr>
          <p:nvPr>
            <p:ph type="title"/>
          </p:nvPr>
        </p:nvSpPr>
        <p:spPr>
          <a:xfrm>
            <a:off x="838200" y="204487"/>
            <a:ext cx="10515600" cy="1325563"/>
          </a:xfrm>
        </p:spPr>
        <p:txBody>
          <a:bodyPr/>
          <a:lstStyle/>
          <a:p>
            <a:r>
              <a:rPr lang="en-US"/>
              <a:t>TL;DR</a:t>
            </a:r>
            <a:endParaRPr lang="en-US" dirty="0"/>
          </a:p>
        </p:txBody>
      </p:sp>
      <p:sp>
        <p:nvSpPr>
          <p:cNvPr id="3" name="Content Placeholder 2">
            <a:extLst>
              <a:ext uri="{FF2B5EF4-FFF2-40B4-BE49-F238E27FC236}">
                <a16:creationId xmlns:a16="http://schemas.microsoft.com/office/drawing/2014/main" id="{3375F9FE-6810-4D21-8CEF-C8F0CF6A0953}"/>
              </a:ext>
            </a:extLst>
          </p:cNvPr>
          <p:cNvSpPr>
            <a:spLocks noGrp="1"/>
          </p:cNvSpPr>
          <p:nvPr>
            <p:ph idx="1"/>
          </p:nvPr>
        </p:nvSpPr>
        <p:spPr>
          <a:xfrm>
            <a:off x="838200" y="1530050"/>
            <a:ext cx="10515600" cy="4646913"/>
          </a:xfrm>
        </p:spPr>
        <p:txBody>
          <a:bodyPr>
            <a:normAutofit/>
          </a:bodyPr>
          <a:lstStyle/>
          <a:p>
            <a:r>
              <a:rPr lang="en-US" dirty="0"/>
              <a:t>New:</a:t>
            </a:r>
          </a:p>
          <a:p>
            <a:pPr lvl="1"/>
            <a:r>
              <a:rPr lang="en-US" dirty="0"/>
              <a:t>Competency-based tech panel assessment</a:t>
            </a:r>
          </a:p>
          <a:p>
            <a:pPr lvl="1"/>
            <a:r>
              <a:rPr lang="en-US" dirty="0"/>
              <a:t>Leadership competencies inherited from SEA community</a:t>
            </a:r>
          </a:p>
          <a:p>
            <a:r>
              <a:rPr lang="en-US" dirty="0"/>
              <a:t>Merge:</a:t>
            </a:r>
          </a:p>
          <a:p>
            <a:pPr lvl="1"/>
            <a:r>
              <a:rPr lang="en-US" dirty="0"/>
              <a:t>Single career progression track for DA and DS</a:t>
            </a:r>
          </a:p>
          <a:p>
            <a:r>
              <a:rPr lang="en-US" dirty="0"/>
              <a:t>Rename: </a:t>
            </a:r>
          </a:p>
          <a:p>
            <a:pPr lvl="1"/>
            <a:r>
              <a:rPr lang="en-US" dirty="0"/>
              <a:t>Job title: “Data Analyst” </a:t>
            </a:r>
            <a:r>
              <a:rPr lang="en-US" dirty="0">
                <a:sym typeface="Wingdings" panose="05000000000000000000" pitchFamily="2" charset="2"/>
              </a:rPr>
              <a:t></a:t>
            </a:r>
            <a:r>
              <a:rPr lang="en-US" dirty="0"/>
              <a:t> “Data Scientist”</a:t>
            </a:r>
          </a:p>
          <a:p>
            <a:pPr lvl="1"/>
            <a:r>
              <a:rPr lang="en-US" dirty="0"/>
              <a:t>Job family: “Data Analytics” </a:t>
            </a:r>
            <a:r>
              <a:rPr lang="en-US" dirty="0">
                <a:sym typeface="Wingdings" panose="05000000000000000000" pitchFamily="2" charset="2"/>
              </a:rPr>
              <a:t> </a:t>
            </a:r>
            <a:r>
              <a:rPr lang="en-US" dirty="0"/>
              <a:t>“Data Science and Artificial Intelligence”</a:t>
            </a:r>
          </a:p>
        </p:txBody>
      </p:sp>
    </p:spTree>
    <p:extLst>
      <p:ext uri="{BB962C8B-B14F-4D97-AF65-F5344CB8AC3E}">
        <p14:creationId xmlns:p14="http://schemas.microsoft.com/office/powerpoint/2010/main" val="1714170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1FD78E-5FC9-462B-8567-29EB2D39659E}"/>
              </a:ext>
            </a:extLst>
          </p:cNvPr>
          <p:cNvSpPr>
            <a:spLocks noGrp="1"/>
          </p:cNvSpPr>
          <p:nvPr>
            <p:ph type="title"/>
          </p:nvPr>
        </p:nvSpPr>
        <p:spPr>
          <a:xfrm>
            <a:off x="831850" y="1709738"/>
            <a:ext cx="10515600" cy="2852737"/>
          </a:xfrm>
        </p:spPr>
        <p:txBody>
          <a:bodyPr/>
          <a:lstStyle/>
          <a:p>
            <a:r>
              <a:rPr lang="en-US"/>
              <a:t>Competency-based assessment</a:t>
            </a:r>
            <a:endParaRPr lang="en-US" dirty="0"/>
          </a:p>
        </p:txBody>
      </p:sp>
      <p:sp>
        <p:nvSpPr>
          <p:cNvPr id="8" name="Text Placeholder 7">
            <a:extLst>
              <a:ext uri="{FF2B5EF4-FFF2-40B4-BE49-F238E27FC236}">
                <a16:creationId xmlns:a16="http://schemas.microsoft.com/office/drawing/2014/main" id="{974FE77C-21FF-49B3-8CAF-1FC369FCDA0E}"/>
              </a:ext>
            </a:extLst>
          </p:cNvPr>
          <p:cNvSpPr>
            <a:spLocks noGrp="1"/>
          </p:cNvSpPr>
          <p:nvPr>
            <p:ph type="body" idx="1"/>
          </p:nvPr>
        </p:nvSpPr>
        <p:spPr>
          <a:xfrm>
            <a:off x="831850" y="4589463"/>
            <a:ext cx="10515600" cy="1500187"/>
          </a:xfrm>
        </p:spPr>
        <p:txBody>
          <a:bodyPr/>
          <a:lstStyle/>
          <a:p>
            <a:r>
              <a:rPr lang="en-US"/>
              <a:t>We have rubrics now</a:t>
            </a:r>
            <a:endParaRPr lang="en-US" dirty="0"/>
          </a:p>
        </p:txBody>
      </p:sp>
    </p:spTree>
    <p:extLst>
      <p:ext uri="{BB962C8B-B14F-4D97-AF65-F5344CB8AC3E}">
        <p14:creationId xmlns:p14="http://schemas.microsoft.com/office/powerpoint/2010/main" val="1901985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DDB37-130D-4CD6-ACF0-0245D0C8A30D}"/>
              </a:ext>
            </a:extLst>
          </p:cNvPr>
          <p:cNvSpPr>
            <a:spLocks noGrp="1"/>
          </p:cNvSpPr>
          <p:nvPr>
            <p:ph type="title"/>
          </p:nvPr>
        </p:nvSpPr>
        <p:spPr>
          <a:xfrm>
            <a:off x="838200" y="204487"/>
            <a:ext cx="10515600" cy="1325563"/>
          </a:xfrm>
        </p:spPr>
        <p:txBody>
          <a:bodyPr/>
          <a:lstStyle/>
          <a:p>
            <a:r>
              <a:rPr lang="en-US"/>
              <a:t>From “themes” to “functional competencies”</a:t>
            </a:r>
            <a:endParaRPr lang="en-US" dirty="0"/>
          </a:p>
        </p:txBody>
      </p:sp>
      <p:graphicFrame>
        <p:nvGraphicFramePr>
          <p:cNvPr id="18" name="Content Placeholder 9">
            <a:extLst>
              <a:ext uri="{FF2B5EF4-FFF2-40B4-BE49-F238E27FC236}">
                <a16:creationId xmlns:a16="http://schemas.microsoft.com/office/drawing/2014/main" id="{39B268AC-413D-4C46-A4F7-5E01CCAB0883}"/>
              </a:ext>
            </a:extLst>
          </p:cNvPr>
          <p:cNvGraphicFramePr>
            <a:graphicFrameLocks/>
          </p:cNvGraphicFramePr>
          <p:nvPr>
            <p:extLst>
              <p:ext uri="{D42A27DB-BD31-4B8C-83A1-F6EECF244321}">
                <p14:modId xmlns:p14="http://schemas.microsoft.com/office/powerpoint/2010/main" val="1673930965"/>
              </p:ext>
            </p:extLst>
          </p:nvPr>
        </p:nvGraphicFramePr>
        <p:xfrm>
          <a:off x="548437" y="1399758"/>
          <a:ext cx="3707026" cy="2664334"/>
        </p:xfrm>
        <a:graphic>
          <a:graphicData uri="http://schemas.openxmlformats.org/drawingml/2006/table">
            <a:tbl>
              <a:tblPr firstRow="1" firstCol="1" bandRow="1">
                <a:tableStyleId>{5940675A-B579-460E-94D1-54222C63F5DA}</a:tableStyleId>
              </a:tblPr>
              <a:tblGrid>
                <a:gridCol w="3707026">
                  <a:extLst>
                    <a:ext uri="{9D8B030D-6E8A-4147-A177-3AD203B41FA5}">
                      <a16:colId xmlns:a16="http://schemas.microsoft.com/office/drawing/2014/main" val="2122939861"/>
                    </a:ext>
                  </a:extLst>
                </a:gridCol>
              </a:tblGrid>
              <a:tr h="177800">
                <a:tc>
                  <a:txBody>
                    <a:bodyPr/>
                    <a:lstStyle/>
                    <a:p>
                      <a:pPr marL="0" marR="0">
                        <a:lnSpc>
                          <a:spcPct val="107000"/>
                        </a:lnSpc>
                        <a:spcBef>
                          <a:spcPts val="0"/>
                        </a:spcBef>
                        <a:spcAft>
                          <a:spcPts val="0"/>
                        </a:spcAft>
                      </a:pPr>
                      <a:r>
                        <a:rPr lang="en-US" sz="1400" b="1" dirty="0">
                          <a:solidFill>
                            <a:schemeClr val="bg2">
                              <a:lumMod val="90000"/>
                            </a:schemeClr>
                          </a:solidFill>
                          <a:effectLst/>
                          <a:latin typeface="Calibri" panose="020F0502020204030204" pitchFamily="34" charset="0"/>
                          <a:ea typeface="Calibri" panose="020F0502020204030204" pitchFamily="34" charset="0"/>
                          <a:cs typeface="Times New Roman" panose="02020603050405020304" pitchFamily="18" charset="0"/>
                        </a:rPr>
                        <a:t>Before</a:t>
                      </a: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63707204"/>
                  </a:ext>
                </a:extLst>
              </a:tr>
              <a:tr h="177800">
                <a:tc>
                  <a:txBody>
                    <a:bodyPr/>
                    <a:lstStyle/>
                    <a:p>
                      <a:pPr marL="0" marR="0">
                        <a:lnSpc>
                          <a:spcPct val="107000"/>
                        </a:lnSpc>
                        <a:spcBef>
                          <a:spcPts val="0"/>
                        </a:spcBef>
                        <a:spcAft>
                          <a:spcPts val="0"/>
                        </a:spcAft>
                      </a:pPr>
                      <a:r>
                        <a:rPr lang="en-US" sz="1400" b="0" u="sng" kern="1200" dirty="0">
                          <a:effectLst/>
                        </a:rPr>
                        <a:t>Design</a:t>
                      </a:r>
                      <a:endParaRPr lang="en-US" sz="1400" b="0" u="sng" dirty="0">
                        <a:effectLst/>
                      </a:endParaRPr>
                    </a:p>
                    <a:p>
                      <a:pPr marL="0" marR="0">
                        <a:lnSpc>
                          <a:spcPct val="107000"/>
                        </a:lnSpc>
                        <a:spcBef>
                          <a:spcPts val="0"/>
                        </a:spcBef>
                        <a:spcAft>
                          <a:spcPts val="0"/>
                        </a:spcAft>
                      </a:pPr>
                      <a:r>
                        <a:rPr lang="en-US" sz="1400" kern="1200" dirty="0">
                          <a:effectLst/>
                        </a:rPr>
                        <a:t>Able to design data science pipelines and components to handle specialized </a:t>
                      </a:r>
                      <a:r>
                        <a:rPr lang="en-US" sz="1400" kern="1200" dirty="0">
                          <a:solidFill>
                            <a:srgbClr val="FF00FF"/>
                          </a:solidFill>
                          <a:effectLst/>
                        </a:rPr>
                        <a:t>business</a:t>
                      </a:r>
                      <a:r>
                        <a:rPr lang="en-US" sz="1400" kern="1200" dirty="0">
                          <a:effectLst/>
                        </a:rPr>
                        <a:t> problems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2991763"/>
                  </a:ext>
                </a:extLst>
              </a:tr>
              <a:tr h="167640">
                <a:tc>
                  <a:txBody>
                    <a:bodyPr/>
                    <a:lstStyle/>
                    <a:p>
                      <a:pPr marL="0" marR="0"/>
                      <a:r>
                        <a:rPr lang="en-GB" sz="1400" b="0" u="sng" dirty="0">
                          <a:effectLst/>
                        </a:rPr>
                        <a:t>Build</a:t>
                      </a:r>
                      <a:br>
                        <a:rPr lang="en-GB" sz="1400" u="sng" dirty="0">
                          <a:effectLst/>
                        </a:rPr>
                      </a:br>
                      <a:r>
                        <a:rPr lang="en-US" sz="1400" dirty="0">
                          <a:effectLst/>
                        </a:rPr>
                        <a:t>Able to configure chosen DS/ML/</a:t>
                      </a:r>
                      <a:r>
                        <a:rPr lang="en-US" sz="1400" dirty="0">
                          <a:solidFill>
                            <a:srgbClr val="FF00FF"/>
                          </a:solidFill>
                          <a:effectLst/>
                        </a:rPr>
                        <a:t>AI</a:t>
                      </a:r>
                      <a:r>
                        <a:rPr lang="en-US" sz="1400" dirty="0">
                          <a:effectLst/>
                        </a:rPr>
                        <a:t> techniques to improve performance</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412692"/>
                  </a:ext>
                </a:extLst>
              </a:tr>
              <a:tr h="177800">
                <a:tc>
                  <a:txBody>
                    <a:bodyPr/>
                    <a:lstStyle/>
                    <a:p>
                      <a:pPr marL="0" marR="0">
                        <a:lnSpc>
                          <a:spcPct val="107000"/>
                        </a:lnSpc>
                        <a:spcBef>
                          <a:spcPts val="0"/>
                        </a:spcBef>
                        <a:spcAft>
                          <a:spcPts val="0"/>
                        </a:spcAft>
                      </a:pPr>
                      <a:r>
                        <a:rPr lang="en-US" sz="1400" b="0" u="sng" kern="1200" dirty="0">
                          <a:effectLst/>
                        </a:rPr>
                        <a:t>Run</a:t>
                      </a:r>
                      <a:endParaRPr lang="en-US" sz="1400" b="0" u="sng" dirty="0">
                        <a:effectLst/>
                      </a:endParaRPr>
                    </a:p>
                    <a:p>
                      <a:pPr marL="0" marR="0">
                        <a:lnSpc>
                          <a:spcPct val="107000"/>
                        </a:lnSpc>
                        <a:spcBef>
                          <a:spcPts val="0"/>
                        </a:spcBef>
                        <a:spcAft>
                          <a:spcPts val="0"/>
                        </a:spcAft>
                      </a:pPr>
                      <a:r>
                        <a:rPr lang="en-US" sz="1400" kern="1200" dirty="0">
                          <a:effectLst/>
                        </a:rPr>
                        <a:t>Able to use appropriate tools to execute chosen techniques and partake in the development of data science pipelines and components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27925820"/>
                  </a:ext>
                </a:extLst>
              </a:tr>
            </a:tbl>
          </a:graphicData>
        </a:graphic>
      </p:graphicFrame>
      <p:graphicFrame>
        <p:nvGraphicFramePr>
          <p:cNvPr id="19" name="Content Placeholder 2">
            <a:extLst>
              <a:ext uri="{FF2B5EF4-FFF2-40B4-BE49-F238E27FC236}">
                <a16:creationId xmlns:a16="http://schemas.microsoft.com/office/drawing/2014/main" id="{CC43A872-94D8-48D0-9BBE-1D01A35D725D}"/>
              </a:ext>
            </a:extLst>
          </p:cNvPr>
          <p:cNvGraphicFramePr>
            <a:graphicFrameLocks/>
          </p:cNvGraphicFramePr>
          <p:nvPr>
            <p:extLst>
              <p:ext uri="{D42A27DB-BD31-4B8C-83A1-F6EECF244321}">
                <p14:modId xmlns:p14="http://schemas.microsoft.com/office/powerpoint/2010/main" val="931054458"/>
              </p:ext>
            </p:extLst>
          </p:nvPr>
        </p:nvGraphicFramePr>
        <p:xfrm>
          <a:off x="4885656" y="1399758"/>
          <a:ext cx="6641757" cy="5244523"/>
        </p:xfrm>
        <a:graphic>
          <a:graphicData uri="http://schemas.openxmlformats.org/drawingml/2006/table">
            <a:tbl>
              <a:tblPr bandRow="1">
                <a:tableStyleId>{5940675A-B579-460E-94D1-54222C63F5DA}</a:tableStyleId>
              </a:tblPr>
              <a:tblGrid>
                <a:gridCol w="6641757">
                  <a:extLst>
                    <a:ext uri="{9D8B030D-6E8A-4147-A177-3AD203B41FA5}">
                      <a16:colId xmlns:a16="http://schemas.microsoft.com/office/drawing/2014/main" val="1066880092"/>
                    </a:ext>
                  </a:extLst>
                </a:gridCol>
              </a:tblGrid>
              <a:tr h="181116">
                <a:tc>
                  <a:txBody>
                    <a:bodyPr/>
                    <a:lstStyle/>
                    <a:p>
                      <a:pPr marL="0" marR="0">
                        <a:lnSpc>
                          <a:spcPct val="107000"/>
                        </a:lnSpc>
                        <a:spcBef>
                          <a:spcPts val="0"/>
                        </a:spcBef>
                        <a:spcAft>
                          <a:spcPts val="0"/>
                        </a:spcAft>
                      </a:pPr>
                      <a:r>
                        <a:rPr lang="en-US" sz="1400" b="1" dirty="0">
                          <a:solidFill>
                            <a:schemeClr val="bg2">
                              <a:lumMod val="90000"/>
                            </a:schemeClr>
                          </a:solidFill>
                          <a:effectLst/>
                        </a:rPr>
                        <a:t>After</a:t>
                      </a:r>
                      <a:endParaRPr lang="en-US" sz="1400" b="1" dirty="0">
                        <a:solidFill>
                          <a:schemeClr val="bg2">
                            <a:lumMod val="9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18207" marR="18207"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530403"/>
                  </a:ext>
                </a:extLst>
              </a:tr>
              <a:tr h="749547">
                <a:tc>
                  <a:txBody>
                    <a:bodyPr/>
                    <a:lstStyle/>
                    <a:p>
                      <a:pPr marL="0" marR="0">
                        <a:lnSpc>
                          <a:spcPct val="107000"/>
                        </a:lnSpc>
                        <a:spcBef>
                          <a:spcPts val="0"/>
                        </a:spcBef>
                        <a:spcAft>
                          <a:spcPts val="0"/>
                        </a:spcAft>
                      </a:pPr>
                      <a:r>
                        <a:rPr lang="en-US" sz="1400" b="0" u="sng" dirty="0">
                          <a:effectLst/>
                        </a:rPr>
                        <a:t>Data Project Design</a:t>
                      </a:r>
                    </a:p>
                    <a:p>
                      <a:pPr marL="0" marR="0">
                        <a:lnSpc>
                          <a:spcPct val="107000"/>
                        </a:lnSpc>
                        <a:spcBef>
                          <a:spcPts val="0"/>
                        </a:spcBef>
                        <a:spcAft>
                          <a:spcPts val="0"/>
                        </a:spcAft>
                      </a:pPr>
                      <a:r>
                        <a:rPr lang="en-US" sz="1400" dirty="0">
                          <a:effectLst/>
                        </a:rPr>
                        <a:t>Understand the data science project lifecycle. Effectively manage end-to-end data projects to meet business needs. Make sure to solve the right problems in the right way.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207" marR="1820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4171910"/>
                  </a:ext>
                </a:extLst>
              </a:tr>
              <a:tr h="560070">
                <a:tc>
                  <a:txBody>
                    <a:bodyPr/>
                    <a:lstStyle/>
                    <a:p>
                      <a:pPr marL="0" marR="0">
                        <a:lnSpc>
                          <a:spcPct val="107000"/>
                        </a:lnSpc>
                        <a:spcBef>
                          <a:spcPts val="0"/>
                        </a:spcBef>
                        <a:spcAft>
                          <a:spcPts val="0"/>
                        </a:spcAft>
                      </a:pPr>
                      <a:r>
                        <a:rPr lang="en-US" sz="1400" b="0" u="sng" dirty="0">
                          <a:effectLst/>
                        </a:rPr>
                        <a:t>Exploratory Data Analysis</a:t>
                      </a:r>
                    </a:p>
                    <a:p>
                      <a:pPr marL="0" marR="0">
                        <a:lnSpc>
                          <a:spcPct val="107000"/>
                        </a:lnSpc>
                        <a:spcBef>
                          <a:spcPts val="0"/>
                        </a:spcBef>
                        <a:spcAft>
                          <a:spcPts val="0"/>
                        </a:spcAft>
                      </a:pPr>
                      <a:r>
                        <a:rPr lang="en-US" sz="1400" dirty="0">
                          <a:effectLst/>
                        </a:rPr>
                        <a:t>Explore, understand, and describe the dataset and its provenance. Relate the data to the problem space. Look for patterns, trends, and anomalies in data.</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207" marR="18207"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57626397"/>
                  </a:ext>
                </a:extLst>
              </a:tr>
              <a:tr h="560070">
                <a:tc>
                  <a:txBody>
                    <a:bodyPr/>
                    <a:lstStyle/>
                    <a:p>
                      <a:pPr marL="0" marR="0">
                        <a:lnSpc>
                          <a:spcPct val="107000"/>
                        </a:lnSpc>
                        <a:spcBef>
                          <a:spcPts val="0"/>
                        </a:spcBef>
                        <a:spcAft>
                          <a:spcPts val="0"/>
                        </a:spcAft>
                      </a:pPr>
                      <a:r>
                        <a:rPr lang="en-US" sz="1400" b="0" u="sng" dirty="0">
                          <a:effectLst/>
                        </a:rPr>
                        <a:t>Data Preparation</a:t>
                      </a:r>
                    </a:p>
                    <a:p>
                      <a:pPr marL="0" marR="0">
                        <a:lnSpc>
                          <a:spcPct val="107000"/>
                        </a:lnSpc>
                        <a:spcBef>
                          <a:spcPts val="0"/>
                        </a:spcBef>
                        <a:spcAft>
                          <a:spcPts val="0"/>
                        </a:spcAft>
                      </a:pPr>
                      <a:r>
                        <a:rPr lang="en-US" sz="1400" dirty="0">
                          <a:effectLst/>
                        </a:rPr>
                        <a:t>Collect, clean, impute, validate, label, enrich, augment, featurize, and fuse/integrate datasets to enable robust analysis and/or models.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207" marR="18207" marT="0" marB="0"/>
                </a:tc>
                <a:extLst>
                  <a:ext uri="{0D108BD9-81ED-4DB2-BD59-A6C34878D82A}">
                    <a16:rowId xmlns:a16="http://schemas.microsoft.com/office/drawing/2014/main" val="451523949"/>
                  </a:ext>
                </a:extLst>
              </a:tr>
              <a:tr h="560070">
                <a:tc>
                  <a:txBody>
                    <a:bodyPr/>
                    <a:lstStyle/>
                    <a:p>
                      <a:pPr marL="0" marR="0">
                        <a:lnSpc>
                          <a:spcPct val="107000"/>
                        </a:lnSpc>
                        <a:spcBef>
                          <a:spcPts val="0"/>
                        </a:spcBef>
                        <a:spcAft>
                          <a:spcPts val="0"/>
                        </a:spcAft>
                      </a:pPr>
                      <a:r>
                        <a:rPr lang="en-US" sz="1400" b="0" u="sng" dirty="0">
                          <a:effectLst/>
                        </a:rPr>
                        <a:t>Visualizations &amp; Data Storytelling</a:t>
                      </a:r>
                    </a:p>
                    <a:p>
                      <a:pPr marL="0" marR="0">
                        <a:lnSpc>
                          <a:spcPct val="107000"/>
                        </a:lnSpc>
                        <a:spcBef>
                          <a:spcPts val="0"/>
                        </a:spcBef>
                        <a:spcAft>
                          <a:spcPts val="0"/>
                        </a:spcAft>
                      </a:pPr>
                      <a:r>
                        <a:rPr lang="en-US" sz="1400" dirty="0">
                          <a:effectLst/>
                        </a:rPr>
                        <a:t>Design visualizations to explain insights. Craft compelling data narratives. Contextualize the discoveries. Inform decision making.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207" marR="18207" marT="0" marB="0"/>
                </a:tc>
                <a:extLst>
                  <a:ext uri="{0D108BD9-81ED-4DB2-BD59-A6C34878D82A}">
                    <a16:rowId xmlns:a16="http://schemas.microsoft.com/office/drawing/2014/main" val="2871383398"/>
                  </a:ext>
                </a:extLst>
              </a:tr>
              <a:tr h="749547">
                <a:tc>
                  <a:txBody>
                    <a:bodyPr/>
                    <a:lstStyle/>
                    <a:p>
                      <a:pPr marL="0" marR="0">
                        <a:lnSpc>
                          <a:spcPct val="107000"/>
                        </a:lnSpc>
                        <a:spcBef>
                          <a:spcPts val="0"/>
                        </a:spcBef>
                        <a:spcAft>
                          <a:spcPts val="0"/>
                        </a:spcAft>
                      </a:pPr>
                      <a:r>
                        <a:rPr lang="en-US" sz="1400" b="0" u="sng" dirty="0">
                          <a:effectLst/>
                        </a:rPr>
                        <a:t>Statistical Analysis</a:t>
                      </a:r>
                    </a:p>
                    <a:p>
                      <a:pPr marL="0" marR="0">
                        <a:lnSpc>
                          <a:spcPct val="107000"/>
                        </a:lnSpc>
                        <a:spcBef>
                          <a:spcPts val="0"/>
                        </a:spcBef>
                        <a:spcAft>
                          <a:spcPts val="0"/>
                        </a:spcAft>
                      </a:pPr>
                      <a:r>
                        <a:rPr lang="en-US" sz="1400" dirty="0">
                          <a:effectLst/>
                        </a:rPr>
                        <a:t>Extract insights and inform decisions by using statistical techniques (e.g., hypothesis testing, data modeling, and significance validation) to robustly identify and validate trends, patterns, and relationships in data.</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207" marR="18207" marT="0" marB="0"/>
                </a:tc>
                <a:extLst>
                  <a:ext uri="{0D108BD9-81ED-4DB2-BD59-A6C34878D82A}">
                    <a16:rowId xmlns:a16="http://schemas.microsoft.com/office/drawing/2014/main" val="2075031955"/>
                  </a:ext>
                </a:extLst>
              </a:tr>
              <a:tr h="749547">
                <a:tc>
                  <a:txBody>
                    <a:bodyPr/>
                    <a:lstStyle/>
                    <a:p>
                      <a:pPr marL="0" marR="0">
                        <a:lnSpc>
                          <a:spcPct val="107000"/>
                        </a:lnSpc>
                        <a:spcBef>
                          <a:spcPts val="0"/>
                        </a:spcBef>
                        <a:spcAft>
                          <a:spcPts val="0"/>
                        </a:spcAft>
                      </a:pPr>
                      <a:r>
                        <a:rPr lang="en-US" sz="1400" b="0" u="sng" dirty="0">
                          <a:effectLst/>
                        </a:rPr>
                        <a:t>Machine Learning</a:t>
                      </a:r>
                    </a:p>
                    <a:p>
                      <a:pPr marL="0" marR="0">
                        <a:lnSpc>
                          <a:spcPct val="107000"/>
                        </a:lnSpc>
                        <a:spcBef>
                          <a:spcPts val="0"/>
                        </a:spcBef>
                        <a:spcAft>
                          <a:spcPts val="0"/>
                        </a:spcAft>
                      </a:pPr>
                      <a:r>
                        <a:rPr lang="en-US" sz="1400" dirty="0">
                          <a:effectLst/>
                        </a:rPr>
                        <a:t>Create a train, test, and validation set. Select/design, configure, train, tune, and evaluate models to predict, describe, or recommend. Deploy and run inference at scale. Interpret results for non-technical end users.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207" marR="18207" marT="0" marB="0"/>
                </a:tc>
                <a:extLst>
                  <a:ext uri="{0D108BD9-81ED-4DB2-BD59-A6C34878D82A}">
                    <a16:rowId xmlns:a16="http://schemas.microsoft.com/office/drawing/2014/main" val="2110122142"/>
                  </a:ext>
                </a:extLst>
              </a:tr>
              <a:tr h="370593">
                <a:tc>
                  <a:txBody>
                    <a:bodyPr/>
                    <a:lstStyle/>
                    <a:p>
                      <a:pPr marL="0" marR="0">
                        <a:lnSpc>
                          <a:spcPct val="107000"/>
                        </a:lnSpc>
                        <a:spcBef>
                          <a:spcPts val="0"/>
                        </a:spcBef>
                        <a:spcAft>
                          <a:spcPts val="0"/>
                        </a:spcAft>
                      </a:pPr>
                      <a:r>
                        <a:rPr lang="en-US" sz="1400" b="0" u="sng" dirty="0">
                          <a:effectLst/>
                        </a:rPr>
                        <a:t>Specialization</a:t>
                      </a: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Apply specialized tools and techniques to solve different problem domains.</a:t>
                      </a:r>
                    </a:p>
                  </a:txBody>
                  <a:tcPr marL="18207" marR="18207" marT="0" marB="0"/>
                </a:tc>
                <a:extLst>
                  <a:ext uri="{0D108BD9-81ED-4DB2-BD59-A6C34878D82A}">
                    <a16:rowId xmlns:a16="http://schemas.microsoft.com/office/drawing/2014/main" val="3622700658"/>
                  </a:ext>
                </a:extLst>
              </a:tr>
            </a:tbl>
          </a:graphicData>
        </a:graphic>
      </p:graphicFrame>
      <p:sp>
        <p:nvSpPr>
          <p:cNvPr id="20" name="Right Brace 19">
            <a:extLst>
              <a:ext uri="{FF2B5EF4-FFF2-40B4-BE49-F238E27FC236}">
                <a16:creationId xmlns:a16="http://schemas.microsoft.com/office/drawing/2014/main" id="{9F0A5B66-2AA1-4E47-8797-F063247B9AEA}"/>
              </a:ext>
            </a:extLst>
          </p:cNvPr>
          <p:cNvSpPr/>
          <p:nvPr/>
        </p:nvSpPr>
        <p:spPr>
          <a:xfrm rot="10800000">
            <a:off x="4652629" y="4388246"/>
            <a:ext cx="148281" cy="1810525"/>
          </a:xfrm>
          <a:prstGeom prst="rightBrace">
            <a:avLst>
              <a:gd name="adj1" fmla="val 53298"/>
              <a:gd name="adj2" fmla="val 50000"/>
            </a:avLst>
          </a:prstGeom>
          <a:ln w="1905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17036D33-C273-4762-889D-F9B9121ACE9E}"/>
              </a:ext>
            </a:extLst>
          </p:cNvPr>
          <p:cNvSpPr txBox="1"/>
          <p:nvPr/>
        </p:nvSpPr>
        <p:spPr>
          <a:xfrm rot="16200000">
            <a:off x="3651089" y="5139619"/>
            <a:ext cx="1694695" cy="307777"/>
          </a:xfrm>
          <a:prstGeom prst="rect">
            <a:avLst/>
          </a:prstGeom>
          <a:noFill/>
        </p:spPr>
        <p:txBody>
          <a:bodyPr wrap="none" rtlCol="0">
            <a:spAutoFit/>
          </a:bodyPr>
          <a:lstStyle/>
          <a:p>
            <a:pPr algn="ctr"/>
            <a:r>
              <a:rPr lang="en-US" sz="1400" dirty="0">
                <a:solidFill>
                  <a:schemeClr val="accent2"/>
                </a:solidFill>
              </a:rPr>
              <a:t>Choose one (kind of)</a:t>
            </a:r>
          </a:p>
        </p:txBody>
      </p:sp>
      <p:sp>
        <p:nvSpPr>
          <p:cNvPr id="22" name="Arrow: Right 21">
            <a:extLst>
              <a:ext uri="{FF2B5EF4-FFF2-40B4-BE49-F238E27FC236}">
                <a16:creationId xmlns:a16="http://schemas.microsoft.com/office/drawing/2014/main" id="{28EF399E-F637-45D8-BA07-496A2B2028CF}"/>
              </a:ext>
            </a:extLst>
          </p:cNvPr>
          <p:cNvSpPr/>
          <p:nvPr/>
        </p:nvSpPr>
        <p:spPr>
          <a:xfrm>
            <a:off x="4391545" y="2509150"/>
            <a:ext cx="335225" cy="30475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0404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52D6B-EE75-419A-B8EA-32029EF9EAB9}"/>
              </a:ext>
            </a:extLst>
          </p:cNvPr>
          <p:cNvSpPr>
            <a:spLocks noGrp="1"/>
          </p:cNvSpPr>
          <p:nvPr>
            <p:ph type="title"/>
          </p:nvPr>
        </p:nvSpPr>
        <p:spPr>
          <a:xfrm>
            <a:off x="838200" y="204487"/>
            <a:ext cx="10515600" cy="1325563"/>
          </a:xfrm>
        </p:spPr>
        <p:txBody>
          <a:bodyPr/>
          <a:lstStyle/>
          <a:p>
            <a:r>
              <a:rPr lang="en-US"/>
              <a:t>(Non-exhaustive) examples of specializations</a:t>
            </a:r>
            <a:endParaRPr lang="en-GB" dirty="0"/>
          </a:p>
        </p:txBody>
      </p:sp>
      <p:graphicFrame>
        <p:nvGraphicFramePr>
          <p:cNvPr id="4" name="Table 4">
            <a:extLst>
              <a:ext uri="{FF2B5EF4-FFF2-40B4-BE49-F238E27FC236}">
                <a16:creationId xmlns:a16="http://schemas.microsoft.com/office/drawing/2014/main" id="{CE830282-8A91-46A4-95D7-A041FBC1FA8E}"/>
              </a:ext>
            </a:extLst>
          </p:cNvPr>
          <p:cNvGraphicFramePr>
            <a:graphicFrameLocks noGrp="1"/>
          </p:cNvGraphicFramePr>
          <p:nvPr>
            <p:ph idx="1"/>
            <p:extLst>
              <p:ext uri="{D42A27DB-BD31-4B8C-83A1-F6EECF244321}">
                <p14:modId xmlns:p14="http://schemas.microsoft.com/office/powerpoint/2010/main" val="1010261854"/>
              </p:ext>
            </p:extLst>
          </p:nvPr>
        </p:nvGraphicFramePr>
        <p:xfrm>
          <a:off x="2755900" y="2316480"/>
          <a:ext cx="6680200" cy="2225040"/>
        </p:xfrm>
        <a:graphic>
          <a:graphicData uri="http://schemas.openxmlformats.org/drawingml/2006/table">
            <a:tbl>
              <a:tblPr firstRow="1" bandRow="1">
                <a:tableStyleId>{5940675A-B579-460E-94D1-54222C63F5DA}</a:tableStyleId>
              </a:tblPr>
              <a:tblGrid>
                <a:gridCol w="2178050">
                  <a:extLst>
                    <a:ext uri="{9D8B030D-6E8A-4147-A177-3AD203B41FA5}">
                      <a16:colId xmlns:a16="http://schemas.microsoft.com/office/drawing/2014/main" val="198511135"/>
                    </a:ext>
                  </a:extLst>
                </a:gridCol>
                <a:gridCol w="4502150">
                  <a:extLst>
                    <a:ext uri="{9D8B030D-6E8A-4147-A177-3AD203B41FA5}">
                      <a16:colId xmlns:a16="http://schemas.microsoft.com/office/drawing/2014/main" val="863051454"/>
                    </a:ext>
                  </a:extLst>
                </a:gridCol>
              </a:tblGrid>
              <a:tr h="370840">
                <a:tc>
                  <a:txBody>
                    <a:bodyPr/>
                    <a:lstStyle/>
                    <a:p>
                      <a:r>
                        <a:rPr lang="en-US" sz="1600" b="1" dirty="0"/>
                        <a:t>Data Domain</a:t>
                      </a:r>
                      <a:endParaRPr lang="en-GB" sz="1600" b="1" dirty="0"/>
                    </a:p>
                  </a:txBody>
                  <a:tcPr/>
                </a:tc>
                <a:tc>
                  <a:txBody>
                    <a:bodyPr/>
                    <a:lstStyle/>
                    <a:p>
                      <a:r>
                        <a:rPr lang="en-US" sz="1600" b="1" dirty="0"/>
                        <a:t>Specializations</a:t>
                      </a:r>
                      <a:endParaRPr lang="en-GB" sz="1600" b="1" dirty="0"/>
                    </a:p>
                  </a:txBody>
                  <a:tcPr/>
                </a:tc>
                <a:extLst>
                  <a:ext uri="{0D108BD9-81ED-4DB2-BD59-A6C34878D82A}">
                    <a16:rowId xmlns:a16="http://schemas.microsoft.com/office/drawing/2014/main" val="4157823560"/>
                  </a:ext>
                </a:extLst>
              </a:tr>
              <a:tr h="370840">
                <a:tc>
                  <a:txBody>
                    <a:bodyPr/>
                    <a:lstStyle/>
                    <a:p>
                      <a:r>
                        <a:rPr lang="en-US" sz="1600" dirty="0"/>
                        <a:t>Text</a:t>
                      </a:r>
                      <a:endParaRPr lang="en-GB" sz="1600" dirty="0"/>
                    </a:p>
                  </a:txBody>
                  <a:tcPr/>
                </a:tc>
                <a:tc>
                  <a:txBody>
                    <a:bodyPr/>
                    <a:lstStyle/>
                    <a:p>
                      <a:r>
                        <a:rPr lang="en-US" sz="1600" dirty="0"/>
                        <a:t>NLP, LLMs, MT, IR/RAG, summarization</a:t>
                      </a:r>
                      <a:endParaRPr lang="en-GB" sz="1600" dirty="0"/>
                    </a:p>
                  </a:txBody>
                  <a:tcPr/>
                </a:tc>
                <a:extLst>
                  <a:ext uri="{0D108BD9-81ED-4DB2-BD59-A6C34878D82A}">
                    <a16:rowId xmlns:a16="http://schemas.microsoft.com/office/drawing/2014/main" val="222679729"/>
                  </a:ext>
                </a:extLst>
              </a:tr>
              <a:tr h="370840">
                <a:tc>
                  <a:txBody>
                    <a:bodyPr/>
                    <a:lstStyle/>
                    <a:p>
                      <a:r>
                        <a:rPr lang="en-US" sz="1600" dirty="0"/>
                        <a:t>Audio</a:t>
                      </a:r>
                      <a:endParaRPr lang="en-GB" sz="1600" dirty="0"/>
                    </a:p>
                  </a:txBody>
                  <a:tcPr/>
                </a:tc>
                <a:tc>
                  <a:txBody>
                    <a:bodyPr/>
                    <a:lstStyle/>
                    <a:p>
                      <a:r>
                        <a:rPr lang="en-US" sz="1600" dirty="0"/>
                        <a:t>STT, speaker ID, noise removal</a:t>
                      </a:r>
                      <a:endParaRPr lang="en-GB" sz="1600" dirty="0"/>
                    </a:p>
                  </a:txBody>
                  <a:tcPr/>
                </a:tc>
                <a:extLst>
                  <a:ext uri="{0D108BD9-81ED-4DB2-BD59-A6C34878D82A}">
                    <a16:rowId xmlns:a16="http://schemas.microsoft.com/office/drawing/2014/main" val="1180076526"/>
                  </a:ext>
                </a:extLst>
              </a:tr>
              <a:tr h="370840">
                <a:tc>
                  <a:txBody>
                    <a:bodyPr/>
                    <a:lstStyle/>
                    <a:p>
                      <a:r>
                        <a:rPr lang="en-US" sz="1600" dirty="0"/>
                        <a:t>Media</a:t>
                      </a:r>
                      <a:endParaRPr lang="en-GB" sz="1600" dirty="0"/>
                    </a:p>
                  </a:txBody>
                  <a:tcPr/>
                </a:tc>
                <a:tc>
                  <a:txBody>
                    <a:bodyPr/>
                    <a:lstStyle/>
                    <a:p>
                      <a:r>
                        <a:rPr lang="en-US" sz="1600" dirty="0"/>
                        <a:t>OCR, CV, GANs, face ID, video</a:t>
                      </a:r>
                      <a:endParaRPr lang="en-GB" sz="1600" dirty="0"/>
                    </a:p>
                  </a:txBody>
                  <a:tcPr/>
                </a:tc>
                <a:extLst>
                  <a:ext uri="{0D108BD9-81ED-4DB2-BD59-A6C34878D82A}">
                    <a16:rowId xmlns:a16="http://schemas.microsoft.com/office/drawing/2014/main" val="1085392550"/>
                  </a:ext>
                </a:extLst>
              </a:tr>
              <a:tr h="370840">
                <a:tc>
                  <a:txBody>
                    <a:bodyPr/>
                    <a:lstStyle/>
                    <a:p>
                      <a:r>
                        <a:rPr lang="en-US" sz="1600" dirty="0"/>
                        <a:t>Structured</a:t>
                      </a:r>
                      <a:endParaRPr lang="en-GB" sz="1600" dirty="0"/>
                    </a:p>
                  </a:txBody>
                  <a:tcPr/>
                </a:tc>
                <a:tc>
                  <a:txBody>
                    <a:bodyPr/>
                    <a:lstStyle/>
                    <a:p>
                      <a:r>
                        <a:rPr lang="en-US" sz="1600" dirty="0"/>
                        <a:t>tabular/nested, quant, geospatial, timeseries</a:t>
                      </a:r>
                      <a:endParaRPr lang="en-GB" sz="1600" dirty="0"/>
                    </a:p>
                  </a:txBody>
                  <a:tcPr/>
                </a:tc>
                <a:extLst>
                  <a:ext uri="{0D108BD9-81ED-4DB2-BD59-A6C34878D82A}">
                    <a16:rowId xmlns:a16="http://schemas.microsoft.com/office/drawing/2014/main" val="750947292"/>
                  </a:ext>
                </a:extLst>
              </a:tr>
              <a:tr h="370840">
                <a:tc>
                  <a:txBody>
                    <a:bodyPr/>
                    <a:lstStyle/>
                    <a:p>
                      <a:r>
                        <a:rPr lang="en-US" sz="1600" dirty="0"/>
                        <a:t>Graphs</a:t>
                      </a:r>
                      <a:endParaRPr lang="en-GB" sz="1600" dirty="0"/>
                    </a:p>
                  </a:txBody>
                  <a:tcPr/>
                </a:tc>
                <a:tc>
                  <a:txBody>
                    <a:bodyPr/>
                    <a:lstStyle/>
                    <a:p>
                      <a:r>
                        <a:rPr lang="en-GB" sz="1600" dirty="0"/>
                        <a:t>SNA, KG</a:t>
                      </a:r>
                    </a:p>
                  </a:txBody>
                  <a:tcPr/>
                </a:tc>
                <a:extLst>
                  <a:ext uri="{0D108BD9-81ED-4DB2-BD59-A6C34878D82A}">
                    <a16:rowId xmlns:a16="http://schemas.microsoft.com/office/drawing/2014/main" val="559791271"/>
                  </a:ext>
                </a:extLst>
              </a:tr>
            </a:tbl>
          </a:graphicData>
        </a:graphic>
      </p:graphicFrame>
    </p:spTree>
    <p:extLst>
      <p:ext uri="{BB962C8B-B14F-4D97-AF65-F5344CB8AC3E}">
        <p14:creationId xmlns:p14="http://schemas.microsoft.com/office/powerpoint/2010/main" val="104969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DDB37-130D-4CD6-ACF0-0245D0C8A30D}"/>
              </a:ext>
            </a:extLst>
          </p:cNvPr>
          <p:cNvSpPr>
            <a:spLocks noGrp="1"/>
          </p:cNvSpPr>
          <p:nvPr>
            <p:ph type="title"/>
          </p:nvPr>
        </p:nvSpPr>
        <p:spPr>
          <a:xfrm>
            <a:off x="838200" y="204487"/>
            <a:ext cx="10515600" cy="1325563"/>
          </a:xfrm>
        </p:spPr>
        <p:txBody>
          <a:bodyPr/>
          <a:lstStyle/>
          <a:p>
            <a:r>
              <a:rPr lang="en-US"/>
              <a:t>Before: “more complex” and “more products”</a:t>
            </a:r>
            <a:endParaRPr lang="en-US" dirty="0"/>
          </a:p>
        </p:txBody>
      </p:sp>
      <p:graphicFrame>
        <p:nvGraphicFramePr>
          <p:cNvPr id="10" name="Content Placeholder 9">
            <a:extLst>
              <a:ext uri="{FF2B5EF4-FFF2-40B4-BE49-F238E27FC236}">
                <a16:creationId xmlns:a16="http://schemas.microsoft.com/office/drawing/2014/main" id="{72502E1C-FD35-420D-9256-D33A08E55F5B}"/>
              </a:ext>
            </a:extLst>
          </p:cNvPr>
          <p:cNvGraphicFramePr>
            <a:graphicFrameLocks noGrp="1"/>
          </p:cNvGraphicFramePr>
          <p:nvPr>
            <p:ph idx="1"/>
            <p:extLst>
              <p:ext uri="{D42A27DB-BD31-4B8C-83A1-F6EECF244321}">
                <p14:modId xmlns:p14="http://schemas.microsoft.com/office/powerpoint/2010/main" val="1092319370"/>
              </p:ext>
            </p:extLst>
          </p:nvPr>
        </p:nvGraphicFramePr>
        <p:xfrm>
          <a:off x="838200" y="1530350"/>
          <a:ext cx="10515599" cy="2664334"/>
        </p:xfrm>
        <a:graphic>
          <a:graphicData uri="http://schemas.openxmlformats.org/drawingml/2006/table">
            <a:tbl>
              <a:tblPr firstRow="1" firstCol="1" bandRow="1">
                <a:tableStyleId>{5940675A-B579-460E-94D1-54222C63F5DA}</a:tableStyleId>
              </a:tblPr>
              <a:tblGrid>
                <a:gridCol w="990600">
                  <a:extLst>
                    <a:ext uri="{9D8B030D-6E8A-4147-A177-3AD203B41FA5}">
                      <a16:colId xmlns:a16="http://schemas.microsoft.com/office/drawing/2014/main" val="2122939861"/>
                    </a:ext>
                  </a:extLst>
                </a:gridCol>
                <a:gridCol w="2927350">
                  <a:extLst>
                    <a:ext uri="{9D8B030D-6E8A-4147-A177-3AD203B41FA5}">
                      <a16:colId xmlns:a16="http://schemas.microsoft.com/office/drawing/2014/main" val="374219526"/>
                    </a:ext>
                  </a:extLst>
                </a:gridCol>
                <a:gridCol w="3265085">
                  <a:extLst>
                    <a:ext uri="{9D8B030D-6E8A-4147-A177-3AD203B41FA5}">
                      <a16:colId xmlns:a16="http://schemas.microsoft.com/office/drawing/2014/main" val="3553894619"/>
                    </a:ext>
                  </a:extLst>
                </a:gridCol>
                <a:gridCol w="3332564">
                  <a:extLst>
                    <a:ext uri="{9D8B030D-6E8A-4147-A177-3AD203B41FA5}">
                      <a16:colId xmlns:a16="http://schemas.microsoft.com/office/drawing/2014/main" val="90542610"/>
                    </a:ext>
                  </a:extLst>
                </a:gridCol>
              </a:tblGrid>
              <a:tr h="177800">
                <a:tc>
                  <a:txBody>
                    <a:bodyPr/>
                    <a:lstStyle/>
                    <a:p>
                      <a:pPr marL="0" marR="0">
                        <a:lnSpc>
                          <a:spcPct val="107000"/>
                        </a:lnSpc>
                        <a:spcBef>
                          <a:spcPts val="0"/>
                        </a:spcBef>
                        <a:spcAft>
                          <a:spcPts val="0"/>
                        </a:spcAft>
                      </a:pPr>
                      <a:r>
                        <a:rPr lang="en-US" sz="1400" b="1" u="none" dirty="0">
                          <a:solidFill>
                            <a:schemeClr val="bg2">
                              <a:lumMod val="90000"/>
                            </a:schemeClr>
                          </a:solidFill>
                          <a:effectLst/>
                          <a:latin typeface="+mn-lt"/>
                          <a:ea typeface="Calibri" panose="020F0502020204030204" pitchFamily="34" charset="0"/>
                          <a:cs typeface="Times New Roman" panose="02020603050405020304" pitchFamily="18" charset="0"/>
                        </a:rPr>
                        <a:t>Before</a:t>
                      </a:r>
                    </a:p>
                  </a:txBody>
                  <a:tcPr marL="68580" marR="68580" marT="0" marB="0"/>
                </a:tc>
                <a:tc>
                  <a:txBody>
                    <a:bodyPr/>
                    <a:lstStyle/>
                    <a:p>
                      <a:pPr marL="0" marR="0">
                        <a:lnSpc>
                          <a:spcPct val="107000"/>
                        </a:lnSpc>
                        <a:spcBef>
                          <a:spcPts val="0"/>
                        </a:spcBef>
                        <a:spcAft>
                          <a:spcPts val="0"/>
                        </a:spcAft>
                      </a:pPr>
                      <a:r>
                        <a:rPr lang="en-US" sz="1400" b="1" u="none" dirty="0">
                          <a:effectLst/>
                          <a:latin typeface="+mn-lt"/>
                          <a:ea typeface="Calibri" panose="020F0502020204030204" pitchFamily="34" charset="0"/>
                          <a:cs typeface="Times New Roman" panose="02020603050405020304" pitchFamily="18" charset="0"/>
                        </a:rPr>
                        <a:t>JR11+</a:t>
                      </a:r>
                    </a:p>
                  </a:txBody>
                  <a:tcPr marL="68580" marR="68580" marT="0" marB="0">
                    <a:noFill/>
                  </a:tcPr>
                </a:tc>
                <a:tc>
                  <a:txBody>
                    <a:bodyPr/>
                    <a:lstStyle/>
                    <a:p>
                      <a:pPr marL="0" marR="0">
                        <a:lnSpc>
                          <a:spcPct val="107000"/>
                        </a:lnSpc>
                        <a:spcBef>
                          <a:spcPts val="0"/>
                        </a:spcBef>
                        <a:spcAft>
                          <a:spcPts val="0"/>
                        </a:spcAft>
                      </a:pPr>
                      <a:r>
                        <a:rPr lang="en-US" sz="1400" b="1" u="none" dirty="0">
                          <a:effectLst/>
                          <a:latin typeface="+mn-lt"/>
                          <a:ea typeface="Calibri" panose="020F0502020204030204" pitchFamily="34" charset="0"/>
                          <a:cs typeface="Times New Roman" panose="02020603050405020304" pitchFamily="18" charset="0"/>
                        </a:rPr>
                        <a:t>JR10</a:t>
                      </a:r>
                    </a:p>
                  </a:txBody>
                  <a:tcPr marL="68580" marR="68580" marT="0" marB="0"/>
                </a:tc>
                <a:tc>
                  <a:txBody>
                    <a:bodyPr/>
                    <a:lstStyle/>
                    <a:p>
                      <a:pPr marL="0" marR="0">
                        <a:lnSpc>
                          <a:spcPct val="107000"/>
                        </a:lnSpc>
                        <a:spcBef>
                          <a:spcPts val="0"/>
                        </a:spcBef>
                        <a:spcAft>
                          <a:spcPts val="0"/>
                        </a:spcAft>
                      </a:pPr>
                      <a:r>
                        <a:rPr lang="en-US" sz="1400" b="1" u="none" dirty="0">
                          <a:effectLst/>
                          <a:latin typeface="+mn-lt"/>
                          <a:ea typeface="Calibri" panose="020F0502020204030204" pitchFamily="34" charset="0"/>
                          <a:cs typeface="Times New Roman" panose="02020603050405020304" pitchFamily="18" charset="0"/>
                        </a:rPr>
                        <a:t>JR9</a:t>
                      </a:r>
                    </a:p>
                  </a:txBody>
                  <a:tcPr marL="68580" marR="68580" marT="0" marB="0"/>
                </a:tc>
                <a:extLst>
                  <a:ext uri="{0D108BD9-81ED-4DB2-BD59-A6C34878D82A}">
                    <a16:rowId xmlns:a16="http://schemas.microsoft.com/office/drawing/2014/main" val="1863707204"/>
                  </a:ext>
                </a:extLst>
              </a:tr>
              <a:tr h="177800">
                <a:tc>
                  <a:txBody>
                    <a:bodyPr/>
                    <a:lstStyle/>
                    <a:p>
                      <a:pPr marL="0" marR="0">
                        <a:lnSpc>
                          <a:spcPct val="107000"/>
                        </a:lnSpc>
                        <a:spcBef>
                          <a:spcPts val="0"/>
                        </a:spcBef>
                        <a:spcAft>
                          <a:spcPts val="0"/>
                        </a:spcAft>
                      </a:pPr>
                      <a:r>
                        <a:rPr lang="en-US" sz="1400" b="0" i="0" u="sng" kern="1200" dirty="0">
                          <a:solidFill>
                            <a:schemeClr val="tx1"/>
                          </a:solidFill>
                          <a:effectLst/>
                          <a:latin typeface="+mn-lt"/>
                        </a:rPr>
                        <a:t>Design</a:t>
                      </a:r>
                      <a:endParaRPr lang="en-US" sz="1400" b="0" i="0" u="sng" dirty="0">
                        <a:solidFill>
                          <a:schemeClr val="tx1"/>
                        </a:solidFill>
                        <a:effectLst/>
                        <a:latin typeface="+mn-lt"/>
                      </a:endParaRPr>
                    </a:p>
                  </a:txBody>
                  <a:tcPr marL="68580" marR="68580" marT="0" marB="0"/>
                </a:tc>
                <a:tc>
                  <a:txBody>
                    <a:bodyPr/>
                    <a:lstStyle/>
                    <a:p>
                      <a:pPr marL="0" marR="0">
                        <a:lnSpc>
                          <a:spcPct val="107000"/>
                        </a:lnSpc>
                        <a:spcBef>
                          <a:spcPts val="0"/>
                        </a:spcBef>
                        <a:spcAft>
                          <a:spcPts val="0"/>
                        </a:spcAft>
                      </a:pPr>
                      <a:r>
                        <a:rPr lang="en-US" sz="1400" b="0" u="none" kern="1200" dirty="0">
                          <a:solidFill>
                            <a:schemeClr val="tx1"/>
                          </a:solidFill>
                          <a:effectLst/>
                          <a:latin typeface="+mn-lt"/>
                        </a:rPr>
                        <a:t>Able to design data science pipelines and components to handle specialized </a:t>
                      </a:r>
                      <a:r>
                        <a:rPr lang="en-US" sz="1400" kern="1200" dirty="0">
                          <a:solidFill>
                            <a:srgbClr val="FF00FF"/>
                          </a:solidFill>
                          <a:effectLst/>
                        </a:rPr>
                        <a:t>business</a:t>
                      </a:r>
                      <a:r>
                        <a:rPr lang="en-US" sz="1400" b="0" u="none" kern="1200" dirty="0">
                          <a:solidFill>
                            <a:schemeClr val="tx1"/>
                          </a:solidFill>
                          <a:effectLst/>
                          <a:latin typeface="+mn-lt"/>
                        </a:rPr>
                        <a:t> problems</a:t>
                      </a:r>
                      <a:endParaRPr lang="en-US" sz="1400" b="0" u="none"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oFill/>
                  </a:tcPr>
                </a:tc>
                <a:tc>
                  <a:txBody>
                    <a:bodyPr/>
                    <a:lstStyle/>
                    <a:p>
                      <a:pPr marL="0" marR="0">
                        <a:lnSpc>
                          <a:spcPct val="107000"/>
                        </a:lnSpc>
                        <a:spcBef>
                          <a:spcPts val="0"/>
                        </a:spcBef>
                        <a:spcAft>
                          <a:spcPts val="0"/>
                        </a:spcAft>
                      </a:pPr>
                      <a:r>
                        <a:rPr lang="en-US" sz="1400" b="0" u="none" kern="1200" dirty="0">
                          <a:solidFill>
                            <a:schemeClr val="tx1"/>
                          </a:solidFill>
                          <a:effectLst/>
                          <a:latin typeface="+mn-lt"/>
                          <a:ea typeface="Calibri" panose="020F0502020204030204" pitchFamily="34" charset="0"/>
                          <a:cs typeface="Calibri" panose="020F0502020204030204" pitchFamily="34" charset="0"/>
                        </a:rPr>
                        <a:t>Able to design </a:t>
                      </a:r>
                      <a:r>
                        <a:rPr lang="en-US" sz="1400" b="0" u="none" kern="1200" dirty="0">
                          <a:solidFill>
                            <a:schemeClr val="tx1"/>
                          </a:solidFill>
                          <a:effectLst/>
                          <a:highlight>
                            <a:srgbClr val="FFFF00"/>
                          </a:highlight>
                          <a:latin typeface="+mn-lt"/>
                          <a:ea typeface="Calibri" panose="020F0502020204030204" pitchFamily="34" charset="0"/>
                          <a:cs typeface="Calibri" panose="020F0502020204030204" pitchFamily="34" charset="0"/>
                        </a:rPr>
                        <a:t>complex</a:t>
                      </a:r>
                      <a:r>
                        <a:rPr lang="en-US" sz="1400" b="0" u="none" kern="1200" dirty="0">
                          <a:solidFill>
                            <a:schemeClr val="tx1"/>
                          </a:solidFill>
                          <a:effectLst/>
                          <a:latin typeface="+mn-lt"/>
                          <a:ea typeface="Calibri" panose="020F0502020204030204" pitchFamily="34" charset="0"/>
                          <a:cs typeface="Calibri" panose="020F0502020204030204" pitchFamily="34" charset="0"/>
                        </a:rPr>
                        <a:t> data science systems, or diagnose and break down complex problems into smaller and manageable components</a:t>
                      </a:r>
                      <a:endParaRPr lang="en-US" sz="1400" b="0" u="none"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b="0" u="none" dirty="0">
                          <a:solidFill>
                            <a:schemeClr val="tx1"/>
                          </a:solidFill>
                          <a:effectLst/>
                          <a:latin typeface="+mn-lt"/>
                          <a:ea typeface="Calibri" panose="020F0502020204030204" pitchFamily="34" charset="0"/>
                          <a:cs typeface="Times New Roman" panose="02020603050405020304" pitchFamily="18" charset="0"/>
                        </a:rPr>
                        <a:t>Able to drive and validate technical direction of an </a:t>
                      </a:r>
                      <a:r>
                        <a:rPr lang="en-US" sz="1400" b="0" u="none" dirty="0">
                          <a:solidFill>
                            <a:schemeClr val="tx1"/>
                          </a:solidFill>
                          <a:effectLst/>
                          <a:highlight>
                            <a:srgbClr val="FFFF00"/>
                          </a:highlight>
                          <a:latin typeface="+mn-lt"/>
                          <a:ea typeface="Calibri" panose="020F0502020204030204" pitchFamily="34" charset="0"/>
                          <a:cs typeface="Times New Roman" panose="02020603050405020304" pitchFamily="18" charset="0"/>
                        </a:rPr>
                        <a:t>entire product line</a:t>
                      </a:r>
                      <a:r>
                        <a:rPr lang="en-US" sz="1400" b="0" u="none" dirty="0">
                          <a:solidFill>
                            <a:schemeClr val="tx1"/>
                          </a:solidFill>
                          <a:effectLst/>
                          <a:latin typeface="+mn-lt"/>
                          <a:ea typeface="Calibri" panose="020F0502020204030204" pitchFamily="34" charset="0"/>
                          <a:cs typeface="Times New Roman" panose="02020603050405020304" pitchFamily="18" charset="0"/>
                        </a:rPr>
                        <a:t> to ensure all systems within and across product lines work seamlessly together.</a:t>
                      </a:r>
                    </a:p>
                  </a:txBody>
                  <a:tcPr marL="68580" marR="68580" marT="0" marB="0"/>
                </a:tc>
                <a:extLst>
                  <a:ext uri="{0D108BD9-81ED-4DB2-BD59-A6C34878D82A}">
                    <a16:rowId xmlns:a16="http://schemas.microsoft.com/office/drawing/2014/main" val="2122991763"/>
                  </a:ext>
                </a:extLst>
              </a:tr>
              <a:tr h="167640">
                <a:tc>
                  <a:txBody>
                    <a:bodyPr/>
                    <a:lstStyle/>
                    <a:p>
                      <a:pPr marL="0" marR="0"/>
                      <a:r>
                        <a:rPr lang="en-GB" sz="1400" b="0" i="0" u="sng" dirty="0">
                          <a:solidFill>
                            <a:schemeClr val="tx1"/>
                          </a:solidFill>
                          <a:effectLst/>
                          <a:latin typeface="+mn-lt"/>
                        </a:rPr>
                        <a:t>Build</a:t>
                      </a:r>
                      <a:br>
                        <a:rPr lang="en-GB" sz="1400" b="0" i="0" u="sng" dirty="0">
                          <a:solidFill>
                            <a:schemeClr val="tx1"/>
                          </a:solidFill>
                          <a:effectLst/>
                          <a:latin typeface="+mn-lt"/>
                        </a:rPr>
                      </a:br>
                      <a:endParaRPr lang="en-US" sz="1400" b="0" i="0" u="sng"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400" b="0" u="none" dirty="0">
                          <a:solidFill>
                            <a:schemeClr val="tx1"/>
                          </a:solidFill>
                          <a:effectLst/>
                          <a:latin typeface="+mn-lt"/>
                        </a:rPr>
                        <a:t>Able to configure chosen </a:t>
                      </a:r>
                      <a:r>
                        <a:rPr lang="en-GB" sz="1400" b="0" u="none" dirty="0">
                          <a:solidFill>
                            <a:schemeClr val="tx1"/>
                          </a:solidFill>
                          <a:effectLst/>
                          <a:latin typeface="+mn-lt"/>
                          <a:ea typeface="Times New Roman" panose="02020603050405020304" pitchFamily="18" charset="0"/>
                          <a:cs typeface="Times New Roman" panose="02020603050405020304" pitchFamily="18" charset="0"/>
                        </a:rPr>
                        <a:t>DS/ML</a:t>
                      </a:r>
                      <a:r>
                        <a:rPr lang="en-GB" sz="1400" b="0" u="none" dirty="0">
                          <a:solidFill>
                            <a:srgbClr val="FF00FF"/>
                          </a:solidFill>
                          <a:effectLst/>
                          <a:latin typeface="+mn-lt"/>
                          <a:ea typeface="Times New Roman" panose="02020603050405020304" pitchFamily="18" charset="0"/>
                          <a:cs typeface="Times New Roman" panose="02020603050405020304" pitchFamily="18" charset="0"/>
                        </a:rPr>
                        <a:t>/AI</a:t>
                      </a:r>
                      <a:r>
                        <a:rPr lang="en-US" sz="1400" b="0" u="none" dirty="0">
                          <a:solidFill>
                            <a:schemeClr val="tx1"/>
                          </a:solidFill>
                          <a:effectLst/>
                          <a:latin typeface="+mn-lt"/>
                        </a:rPr>
                        <a:t> techniques to improve performance</a:t>
                      </a:r>
                      <a:endParaRPr lang="en-US" sz="1400" b="0" u="none"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oFill/>
                  </a:tcPr>
                </a:tc>
                <a:tc>
                  <a:txBody>
                    <a:bodyPr/>
                    <a:lstStyle/>
                    <a:p>
                      <a:pPr marL="0" marR="0"/>
                      <a:r>
                        <a:rPr lang="en-GB" sz="1400" b="0" u="none" dirty="0">
                          <a:solidFill>
                            <a:schemeClr val="tx1"/>
                          </a:solidFill>
                          <a:effectLst/>
                          <a:latin typeface="+mn-lt"/>
                          <a:ea typeface="Times New Roman" panose="02020603050405020304" pitchFamily="18" charset="0"/>
                          <a:cs typeface="Times New Roman" panose="02020603050405020304" pitchFamily="18" charset="0"/>
                        </a:rPr>
                        <a:t>Able to configure and adapt chosen DS/ML</a:t>
                      </a:r>
                      <a:r>
                        <a:rPr lang="en-GB" sz="1400" b="0" u="none" dirty="0">
                          <a:solidFill>
                            <a:srgbClr val="FF00FF"/>
                          </a:solidFill>
                          <a:effectLst/>
                          <a:latin typeface="+mn-lt"/>
                          <a:ea typeface="Times New Roman" panose="02020603050405020304" pitchFamily="18" charset="0"/>
                          <a:cs typeface="Times New Roman" panose="02020603050405020304" pitchFamily="18" charset="0"/>
                        </a:rPr>
                        <a:t>/AI</a:t>
                      </a:r>
                      <a:r>
                        <a:rPr lang="en-GB" sz="1400" b="0" u="none" dirty="0">
                          <a:solidFill>
                            <a:schemeClr val="tx1"/>
                          </a:solidFill>
                          <a:effectLst/>
                          <a:latin typeface="+mn-lt"/>
                          <a:ea typeface="Times New Roman" panose="02020603050405020304" pitchFamily="18" charset="0"/>
                          <a:cs typeface="Times New Roman" panose="02020603050405020304" pitchFamily="18" charset="0"/>
                        </a:rPr>
                        <a:t> techniques for more </a:t>
                      </a:r>
                      <a:r>
                        <a:rPr lang="en-GB" sz="1400" b="0" u="none" dirty="0">
                          <a:solidFill>
                            <a:schemeClr val="tx1"/>
                          </a:solidFill>
                          <a:effectLst/>
                          <a:highlight>
                            <a:srgbClr val="FFFF00"/>
                          </a:highlight>
                          <a:latin typeface="+mn-lt"/>
                          <a:ea typeface="Times New Roman" panose="02020603050405020304" pitchFamily="18" charset="0"/>
                          <a:cs typeface="Times New Roman" panose="02020603050405020304" pitchFamily="18" charset="0"/>
                        </a:rPr>
                        <a:t>complex</a:t>
                      </a:r>
                      <a:r>
                        <a:rPr lang="en-GB" sz="1400" b="0" u="none" dirty="0">
                          <a:solidFill>
                            <a:schemeClr val="tx1"/>
                          </a:solidFill>
                          <a:effectLst/>
                          <a:latin typeface="+mn-lt"/>
                          <a:ea typeface="Times New Roman" panose="02020603050405020304" pitchFamily="18" charset="0"/>
                          <a:cs typeface="Times New Roman" panose="02020603050405020304" pitchFamily="18" charset="0"/>
                        </a:rPr>
                        <a:t> usage</a:t>
                      </a:r>
                      <a:endParaRPr lang="en-US" sz="1400" b="0" u="none"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400" b="0" u="none" dirty="0">
                          <a:solidFill>
                            <a:schemeClr val="tx1"/>
                          </a:solidFill>
                          <a:effectLst/>
                          <a:latin typeface="+mn-lt"/>
                          <a:ea typeface="Times New Roman" panose="02020603050405020304" pitchFamily="18" charset="0"/>
                          <a:cs typeface="Times New Roman" panose="02020603050405020304" pitchFamily="18" charset="0"/>
                        </a:rPr>
                        <a:t>Able to drive engineering excellence across an </a:t>
                      </a:r>
                      <a:r>
                        <a:rPr lang="en-US" sz="1400" b="0" u="none" dirty="0">
                          <a:solidFill>
                            <a:schemeClr val="tx1"/>
                          </a:solidFill>
                          <a:effectLst/>
                          <a:highlight>
                            <a:srgbClr val="FFFF00"/>
                          </a:highlight>
                          <a:latin typeface="+mn-lt"/>
                          <a:ea typeface="Times New Roman" panose="02020603050405020304" pitchFamily="18" charset="0"/>
                          <a:cs typeface="Times New Roman" panose="02020603050405020304" pitchFamily="18" charset="0"/>
                        </a:rPr>
                        <a:t>entire product line</a:t>
                      </a:r>
                      <a:r>
                        <a:rPr lang="en-US" sz="1400" b="0" u="none" dirty="0">
                          <a:solidFill>
                            <a:schemeClr val="tx1"/>
                          </a:solidFill>
                          <a:effectLst/>
                          <a:latin typeface="+mn-lt"/>
                          <a:ea typeface="Times New Roman" panose="02020603050405020304" pitchFamily="18" charset="0"/>
                          <a:cs typeface="Times New Roman" panose="02020603050405020304" pitchFamily="18" charset="0"/>
                        </a:rPr>
                        <a:t> to ensure the delivery of quality products to user.</a:t>
                      </a:r>
                    </a:p>
                  </a:txBody>
                  <a:tcPr marL="68580" marR="68580" marT="0" marB="0"/>
                </a:tc>
                <a:extLst>
                  <a:ext uri="{0D108BD9-81ED-4DB2-BD59-A6C34878D82A}">
                    <a16:rowId xmlns:a16="http://schemas.microsoft.com/office/drawing/2014/main" val="15412692"/>
                  </a:ext>
                </a:extLst>
              </a:tr>
              <a:tr h="177800">
                <a:tc>
                  <a:txBody>
                    <a:bodyPr/>
                    <a:lstStyle/>
                    <a:p>
                      <a:pPr marL="0" marR="0">
                        <a:lnSpc>
                          <a:spcPct val="107000"/>
                        </a:lnSpc>
                        <a:spcBef>
                          <a:spcPts val="0"/>
                        </a:spcBef>
                        <a:spcAft>
                          <a:spcPts val="0"/>
                        </a:spcAft>
                      </a:pPr>
                      <a:r>
                        <a:rPr lang="en-US" sz="1400" b="0" i="0" u="sng" kern="1200" dirty="0">
                          <a:effectLst/>
                          <a:latin typeface="+mn-lt"/>
                        </a:rPr>
                        <a:t>Run</a:t>
                      </a:r>
                      <a:endParaRPr lang="en-US" sz="1400" b="0" i="0" u="sng" dirty="0">
                        <a:effectLst/>
                        <a:latin typeface="+mn-lt"/>
                      </a:endParaRPr>
                    </a:p>
                  </a:txBody>
                  <a:tcPr marL="68580" marR="68580" marT="0" marB="0"/>
                </a:tc>
                <a:tc>
                  <a:txBody>
                    <a:bodyPr/>
                    <a:lstStyle/>
                    <a:p>
                      <a:pPr marL="0" marR="0">
                        <a:lnSpc>
                          <a:spcPct val="107000"/>
                        </a:lnSpc>
                        <a:spcBef>
                          <a:spcPts val="0"/>
                        </a:spcBef>
                        <a:spcAft>
                          <a:spcPts val="0"/>
                        </a:spcAft>
                      </a:pPr>
                      <a:r>
                        <a:rPr lang="en-US" sz="1400" b="0" u="none" kern="1200" dirty="0">
                          <a:effectLst/>
                          <a:latin typeface="+mn-lt"/>
                        </a:rPr>
                        <a:t>Able to use appropriate tools to execute chosen techniques and partake in the development of data science pipelines and components</a:t>
                      </a:r>
                      <a:endParaRPr lang="en-US" sz="1400" b="0" u="none" dirty="0">
                        <a:effectLst/>
                        <a:latin typeface="+mn-lt"/>
                        <a:ea typeface="Calibri" panose="020F0502020204030204" pitchFamily="34" charset="0"/>
                        <a:cs typeface="Times New Roman" panose="02020603050405020304" pitchFamily="18" charset="0"/>
                      </a:endParaRPr>
                    </a:p>
                  </a:txBody>
                  <a:tcPr marL="68580" marR="68580" marT="0" marB="0">
                    <a:noFill/>
                  </a:tcPr>
                </a:tc>
                <a:tc>
                  <a:txBody>
                    <a:bodyPr/>
                    <a:lstStyle/>
                    <a:p>
                      <a:pPr marL="0" marR="0">
                        <a:lnSpc>
                          <a:spcPct val="107000"/>
                        </a:lnSpc>
                        <a:spcBef>
                          <a:spcPts val="0"/>
                        </a:spcBef>
                        <a:spcAft>
                          <a:spcPts val="0"/>
                        </a:spcAft>
                      </a:pPr>
                      <a:r>
                        <a:rPr lang="en-US" sz="1400" b="0" u="none" kern="1200" dirty="0">
                          <a:solidFill>
                            <a:srgbClr val="000000"/>
                          </a:solidFill>
                          <a:effectLst/>
                          <a:latin typeface="+mn-lt"/>
                          <a:ea typeface="Calibri" panose="020F0502020204030204" pitchFamily="34" charset="0"/>
                          <a:cs typeface="Calibri" panose="020F0502020204030204" pitchFamily="34" charset="0"/>
                        </a:rPr>
                        <a:t>Able to use appropriate tools to execute chosen techniques and partake in the development of </a:t>
                      </a:r>
                      <a:r>
                        <a:rPr lang="en-US" sz="1400" b="0" u="none" kern="1200" dirty="0">
                          <a:solidFill>
                            <a:srgbClr val="000000"/>
                          </a:solidFill>
                          <a:effectLst/>
                          <a:highlight>
                            <a:srgbClr val="FFFF00"/>
                          </a:highlight>
                          <a:latin typeface="+mn-lt"/>
                          <a:ea typeface="Calibri" panose="020F0502020204030204" pitchFamily="34" charset="0"/>
                          <a:cs typeface="Calibri" panose="020F0502020204030204" pitchFamily="34" charset="0"/>
                        </a:rPr>
                        <a:t>complex</a:t>
                      </a:r>
                      <a:r>
                        <a:rPr lang="en-US" sz="1400" b="0" u="none" kern="1200" dirty="0">
                          <a:solidFill>
                            <a:srgbClr val="000000"/>
                          </a:solidFill>
                          <a:effectLst/>
                          <a:latin typeface="+mn-lt"/>
                          <a:ea typeface="Calibri" panose="020F0502020204030204" pitchFamily="34" charset="0"/>
                          <a:cs typeface="Calibri" panose="020F0502020204030204" pitchFamily="34" charset="0"/>
                        </a:rPr>
                        <a:t> data science solutions</a:t>
                      </a:r>
                      <a:endParaRPr lang="en-US" sz="1400" b="0" u="none"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b="0" u="none" dirty="0">
                          <a:effectLst/>
                          <a:latin typeface="+mn-lt"/>
                          <a:ea typeface="Calibri" panose="020F0502020204030204" pitchFamily="34" charset="0"/>
                          <a:cs typeface="Times New Roman" panose="02020603050405020304" pitchFamily="18" charset="0"/>
                        </a:rPr>
                        <a:t>Able to drive operational excellence across an </a:t>
                      </a:r>
                      <a:r>
                        <a:rPr lang="en-US" sz="1400" b="0" u="none" dirty="0">
                          <a:effectLst/>
                          <a:highlight>
                            <a:srgbClr val="FFFF00"/>
                          </a:highlight>
                          <a:latin typeface="+mn-lt"/>
                          <a:ea typeface="Calibri" panose="020F0502020204030204" pitchFamily="34" charset="0"/>
                          <a:cs typeface="Times New Roman" panose="02020603050405020304" pitchFamily="18" charset="0"/>
                        </a:rPr>
                        <a:t>entire product line</a:t>
                      </a:r>
                      <a:r>
                        <a:rPr lang="en-US" sz="1400" b="0" u="none" dirty="0">
                          <a:effectLst/>
                          <a:latin typeface="+mn-lt"/>
                          <a:ea typeface="Calibri" panose="020F0502020204030204" pitchFamily="34" charset="0"/>
                          <a:cs typeface="Times New Roman" panose="02020603050405020304" pitchFamily="18" charset="0"/>
                        </a:rPr>
                        <a:t> to achieve the desired performance, reliability and maintainability.</a:t>
                      </a:r>
                    </a:p>
                  </a:txBody>
                  <a:tcPr marL="68580" marR="68580" marT="0" marB="0"/>
                </a:tc>
                <a:extLst>
                  <a:ext uri="{0D108BD9-81ED-4DB2-BD59-A6C34878D82A}">
                    <a16:rowId xmlns:a16="http://schemas.microsoft.com/office/drawing/2014/main" val="3727925820"/>
                  </a:ext>
                </a:extLst>
              </a:tr>
            </a:tbl>
          </a:graphicData>
        </a:graphic>
      </p:graphicFrame>
    </p:spTree>
    <p:extLst>
      <p:ext uri="{BB962C8B-B14F-4D97-AF65-F5344CB8AC3E}">
        <p14:creationId xmlns:p14="http://schemas.microsoft.com/office/powerpoint/2010/main" val="2226175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DDB37-130D-4CD6-ACF0-0245D0C8A30D}"/>
              </a:ext>
            </a:extLst>
          </p:cNvPr>
          <p:cNvSpPr>
            <a:spLocks noGrp="1"/>
          </p:cNvSpPr>
          <p:nvPr>
            <p:ph type="title"/>
          </p:nvPr>
        </p:nvSpPr>
        <p:spPr>
          <a:xfrm>
            <a:off x="838200" y="204487"/>
            <a:ext cx="10515600" cy="1325563"/>
          </a:xfrm>
        </p:spPr>
        <p:txBody>
          <a:bodyPr/>
          <a:lstStyle/>
          <a:p>
            <a:r>
              <a:rPr lang="en-US"/>
              <a:t>(There are also leadership competencies)</a:t>
            </a:r>
            <a:endParaRPr lang="en-US" dirty="0"/>
          </a:p>
        </p:txBody>
      </p:sp>
      <p:graphicFrame>
        <p:nvGraphicFramePr>
          <p:cNvPr id="10" name="Content Placeholder 9">
            <a:extLst>
              <a:ext uri="{FF2B5EF4-FFF2-40B4-BE49-F238E27FC236}">
                <a16:creationId xmlns:a16="http://schemas.microsoft.com/office/drawing/2014/main" id="{72502E1C-FD35-420D-9256-D33A08E55F5B}"/>
              </a:ext>
            </a:extLst>
          </p:cNvPr>
          <p:cNvGraphicFramePr>
            <a:graphicFrameLocks noGrp="1"/>
          </p:cNvGraphicFramePr>
          <p:nvPr>
            <p:ph idx="1"/>
            <p:extLst>
              <p:ext uri="{D42A27DB-BD31-4B8C-83A1-F6EECF244321}">
                <p14:modId xmlns:p14="http://schemas.microsoft.com/office/powerpoint/2010/main" val="2506362813"/>
              </p:ext>
            </p:extLst>
          </p:nvPr>
        </p:nvGraphicFramePr>
        <p:xfrm>
          <a:off x="838200" y="1530350"/>
          <a:ext cx="10515599" cy="5060888"/>
        </p:xfrm>
        <a:graphic>
          <a:graphicData uri="http://schemas.openxmlformats.org/drawingml/2006/table">
            <a:tbl>
              <a:tblPr firstRow="1" firstCol="1" bandRow="1">
                <a:tableStyleId>{5940675A-B579-460E-94D1-54222C63F5DA}</a:tableStyleId>
              </a:tblPr>
              <a:tblGrid>
                <a:gridCol w="990600">
                  <a:extLst>
                    <a:ext uri="{9D8B030D-6E8A-4147-A177-3AD203B41FA5}">
                      <a16:colId xmlns:a16="http://schemas.microsoft.com/office/drawing/2014/main" val="2122939861"/>
                    </a:ext>
                  </a:extLst>
                </a:gridCol>
                <a:gridCol w="2927350">
                  <a:extLst>
                    <a:ext uri="{9D8B030D-6E8A-4147-A177-3AD203B41FA5}">
                      <a16:colId xmlns:a16="http://schemas.microsoft.com/office/drawing/2014/main" val="374219526"/>
                    </a:ext>
                  </a:extLst>
                </a:gridCol>
                <a:gridCol w="3265085">
                  <a:extLst>
                    <a:ext uri="{9D8B030D-6E8A-4147-A177-3AD203B41FA5}">
                      <a16:colId xmlns:a16="http://schemas.microsoft.com/office/drawing/2014/main" val="3553894619"/>
                    </a:ext>
                  </a:extLst>
                </a:gridCol>
                <a:gridCol w="3332564">
                  <a:extLst>
                    <a:ext uri="{9D8B030D-6E8A-4147-A177-3AD203B41FA5}">
                      <a16:colId xmlns:a16="http://schemas.microsoft.com/office/drawing/2014/main" val="90542610"/>
                    </a:ext>
                  </a:extLst>
                </a:gridCol>
              </a:tblGrid>
              <a:tr h="177800">
                <a:tc>
                  <a:txBody>
                    <a:bodyPr/>
                    <a:lstStyle/>
                    <a:p>
                      <a:pPr marL="0" marR="0">
                        <a:lnSpc>
                          <a:spcPct val="107000"/>
                        </a:lnSpc>
                        <a:spcBef>
                          <a:spcPts val="0"/>
                        </a:spcBef>
                        <a:spcAft>
                          <a:spcPts val="0"/>
                        </a:spcAft>
                      </a:pPr>
                      <a:r>
                        <a:rPr lang="en-US" sz="1400" b="1" u="none" dirty="0">
                          <a:solidFill>
                            <a:schemeClr val="bg2">
                              <a:lumMod val="90000"/>
                            </a:schemeClr>
                          </a:solidFill>
                          <a:effectLst/>
                          <a:latin typeface="+mn-lt"/>
                          <a:ea typeface="Calibri" panose="020F0502020204030204" pitchFamily="34" charset="0"/>
                          <a:cs typeface="Times New Roman" panose="02020603050405020304" pitchFamily="18" charset="0"/>
                        </a:rPr>
                        <a:t>Before</a:t>
                      </a:r>
                    </a:p>
                  </a:txBody>
                  <a:tcPr marL="68580" marR="68580" marT="0" marB="0"/>
                </a:tc>
                <a:tc>
                  <a:txBody>
                    <a:bodyPr/>
                    <a:lstStyle/>
                    <a:p>
                      <a:pPr marL="0" marR="0">
                        <a:lnSpc>
                          <a:spcPct val="107000"/>
                        </a:lnSpc>
                        <a:spcBef>
                          <a:spcPts val="0"/>
                        </a:spcBef>
                        <a:spcAft>
                          <a:spcPts val="0"/>
                        </a:spcAft>
                      </a:pPr>
                      <a:r>
                        <a:rPr lang="en-US" sz="1400" b="1" u="none" dirty="0">
                          <a:effectLst/>
                          <a:latin typeface="+mn-lt"/>
                          <a:ea typeface="Calibri" panose="020F0502020204030204" pitchFamily="34" charset="0"/>
                          <a:cs typeface="Times New Roman" panose="02020603050405020304" pitchFamily="18" charset="0"/>
                        </a:rPr>
                        <a:t>JR11+</a:t>
                      </a:r>
                    </a:p>
                  </a:txBody>
                  <a:tcPr marL="68580" marR="68580" marT="0" marB="0">
                    <a:noFill/>
                  </a:tcPr>
                </a:tc>
                <a:tc>
                  <a:txBody>
                    <a:bodyPr/>
                    <a:lstStyle/>
                    <a:p>
                      <a:pPr marL="0" marR="0">
                        <a:lnSpc>
                          <a:spcPct val="107000"/>
                        </a:lnSpc>
                        <a:spcBef>
                          <a:spcPts val="0"/>
                        </a:spcBef>
                        <a:spcAft>
                          <a:spcPts val="0"/>
                        </a:spcAft>
                      </a:pPr>
                      <a:r>
                        <a:rPr lang="en-US" sz="1400" b="1" u="none" dirty="0">
                          <a:effectLst/>
                          <a:latin typeface="+mn-lt"/>
                          <a:ea typeface="Calibri" panose="020F0502020204030204" pitchFamily="34" charset="0"/>
                          <a:cs typeface="Times New Roman" panose="02020603050405020304" pitchFamily="18" charset="0"/>
                        </a:rPr>
                        <a:t>JR10</a:t>
                      </a:r>
                    </a:p>
                  </a:txBody>
                  <a:tcPr marL="68580" marR="68580" marT="0" marB="0"/>
                </a:tc>
                <a:tc>
                  <a:txBody>
                    <a:bodyPr/>
                    <a:lstStyle/>
                    <a:p>
                      <a:pPr marL="0" marR="0">
                        <a:lnSpc>
                          <a:spcPct val="107000"/>
                        </a:lnSpc>
                        <a:spcBef>
                          <a:spcPts val="0"/>
                        </a:spcBef>
                        <a:spcAft>
                          <a:spcPts val="0"/>
                        </a:spcAft>
                      </a:pPr>
                      <a:r>
                        <a:rPr lang="en-US" sz="1400" b="1" u="none" dirty="0">
                          <a:effectLst/>
                          <a:latin typeface="+mn-lt"/>
                          <a:ea typeface="Calibri" panose="020F0502020204030204" pitchFamily="34" charset="0"/>
                          <a:cs typeface="Times New Roman" panose="02020603050405020304" pitchFamily="18" charset="0"/>
                        </a:rPr>
                        <a:t>JR9</a:t>
                      </a:r>
                    </a:p>
                  </a:txBody>
                  <a:tcPr marL="68580" marR="68580" marT="0" marB="0"/>
                </a:tc>
                <a:extLst>
                  <a:ext uri="{0D108BD9-81ED-4DB2-BD59-A6C34878D82A}">
                    <a16:rowId xmlns:a16="http://schemas.microsoft.com/office/drawing/2014/main" val="1863707204"/>
                  </a:ext>
                </a:extLst>
              </a:tr>
              <a:tr h="177800">
                <a:tc>
                  <a:txBody>
                    <a:bodyPr/>
                    <a:lstStyle/>
                    <a:p>
                      <a:pPr marL="0" marR="0">
                        <a:lnSpc>
                          <a:spcPct val="107000"/>
                        </a:lnSpc>
                        <a:spcBef>
                          <a:spcPts val="0"/>
                        </a:spcBef>
                        <a:spcAft>
                          <a:spcPts val="0"/>
                        </a:spcAft>
                      </a:pPr>
                      <a:r>
                        <a:rPr lang="en-US" sz="1400" b="0" i="0" u="sng" kern="1200" dirty="0">
                          <a:solidFill>
                            <a:schemeClr val="tx1"/>
                          </a:solidFill>
                          <a:effectLst/>
                          <a:latin typeface="+mn-lt"/>
                        </a:rPr>
                        <a:t>Design</a:t>
                      </a:r>
                      <a:endParaRPr lang="en-US" sz="1400" b="0" i="0" u="sng" dirty="0">
                        <a:solidFill>
                          <a:schemeClr val="tx1"/>
                        </a:solidFill>
                        <a:effectLst/>
                        <a:latin typeface="+mn-lt"/>
                      </a:endParaRPr>
                    </a:p>
                  </a:txBody>
                  <a:tcPr marL="68580" marR="68580" marT="0" marB="0"/>
                </a:tc>
                <a:tc>
                  <a:txBody>
                    <a:bodyPr/>
                    <a:lstStyle/>
                    <a:p>
                      <a:pPr marL="0" marR="0">
                        <a:lnSpc>
                          <a:spcPct val="107000"/>
                        </a:lnSpc>
                        <a:spcBef>
                          <a:spcPts val="0"/>
                        </a:spcBef>
                        <a:spcAft>
                          <a:spcPts val="0"/>
                        </a:spcAft>
                      </a:pPr>
                      <a:r>
                        <a:rPr lang="en-US" sz="1400" b="0" u="none" kern="1200" dirty="0">
                          <a:solidFill>
                            <a:schemeClr val="tx1"/>
                          </a:solidFill>
                          <a:effectLst/>
                          <a:latin typeface="+mn-lt"/>
                        </a:rPr>
                        <a:t>Able to design data science pipelines and components to handle specialized </a:t>
                      </a:r>
                      <a:r>
                        <a:rPr lang="en-US" sz="1400" kern="1200" dirty="0">
                          <a:solidFill>
                            <a:srgbClr val="FF00FF"/>
                          </a:solidFill>
                          <a:effectLst/>
                        </a:rPr>
                        <a:t>business</a:t>
                      </a:r>
                      <a:r>
                        <a:rPr lang="en-US" sz="1400" b="0" u="none" kern="1200" dirty="0">
                          <a:solidFill>
                            <a:schemeClr val="tx1"/>
                          </a:solidFill>
                          <a:effectLst/>
                          <a:latin typeface="+mn-lt"/>
                        </a:rPr>
                        <a:t> problems</a:t>
                      </a:r>
                      <a:endParaRPr lang="en-US" sz="1400" b="0" u="none"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oFill/>
                  </a:tcPr>
                </a:tc>
                <a:tc>
                  <a:txBody>
                    <a:bodyPr/>
                    <a:lstStyle/>
                    <a:p>
                      <a:pPr marL="0" marR="0">
                        <a:lnSpc>
                          <a:spcPct val="107000"/>
                        </a:lnSpc>
                        <a:spcBef>
                          <a:spcPts val="0"/>
                        </a:spcBef>
                        <a:spcAft>
                          <a:spcPts val="0"/>
                        </a:spcAft>
                      </a:pPr>
                      <a:r>
                        <a:rPr lang="en-US" sz="1400" b="0" u="none" kern="1200" dirty="0">
                          <a:solidFill>
                            <a:schemeClr val="tx1"/>
                          </a:solidFill>
                          <a:effectLst/>
                          <a:latin typeface="+mn-lt"/>
                          <a:ea typeface="Calibri" panose="020F0502020204030204" pitchFamily="34" charset="0"/>
                          <a:cs typeface="Calibri" panose="020F0502020204030204" pitchFamily="34" charset="0"/>
                        </a:rPr>
                        <a:t>Able to design complex data science systems, or diagnose and break down complex problems into smaller and manageable components</a:t>
                      </a:r>
                      <a:endParaRPr lang="en-US" sz="1400" b="0" u="none"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b="0" u="none" dirty="0">
                          <a:solidFill>
                            <a:schemeClr val="tx1"/>
                          </a:solidFill>
                          <a:effectLst/>
                          <a:latin typeface="+mn-lt"/>
                          <a:ea typeface="Calibri" panose="020F0502020204030204" pitchFamily="34" charset="0"/>
                          <a:cs typeface="Times New Roman" panose="02020603050405020304" pitchFamily="18" charset="0"/>
                        </a:rPr>
                        <a:t>Able to drive and validate technical direction of an entire product line to ensure all systems within and across product lines work seamlessly together.</a:t>
                      </a:r>
                    </a:p>
                  </a:txBody>
                  <a:tcPr marL="68580" marR="68580" marT="0" marB="0"/>
                </a:tc>
                <a:extLst>
                  <a:ext uri="{0D108BD9-81ED-4DB2-BD59-A6C34878D82A}">
                    <a16:rowId xmlns:a16="http://schemas.microsoft.com/office/drawing/2014/main" val="2122991763"/>
                  </a:ext>
                </a:extLst>
              </a:tr>
              <a:tr h="167640">
                <a:tc>
                  <a:txBody>
                    <a:bodyPr/>
                    <a:lstStyle/>
                    <a:p>
                      <a:pPr marL="0" marR="0"/>
                      <a:r>
                        <a:rPr lang="en-GB" sz="1400" b="0" i="0" u="sng" dirty="0">
                          <a:solidFill>
                            <a:schemeClr val="tx1"/>
                          </a:solidFill>
                          <a:effectLst/>
                          <a:latin typeface="+mn-lt"/>
                        </a:rPr>
                        <a:t>Build</a:t>
                      </a:r>
                      <a:br>
                        <a:rPr lang="en-GB" sz="1400" b="0" i="0" u="sng" dirty="0">
                          <a:solidFill>
                            <a:schemeClr val="tx1"/>
                          </a:solidFill>
                          <a:effectLst/>
                          <a:latin typeface="+mn-lt"/>
                        </a:rPr>
                      </a:br>
                      <a:endParaRPr lang="en-US" sz="1400" b="0" i="0" u="sng"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400" b="0" u="none" dirty="0">
                          <a:solidFill>
                            <a:schemeClr val="tx1"/>
                          </a:solidFill>
                          <a:effectLst/>
                          <a:latin typeface="+mn-lt"/>
                        </a:rPr>
                        <a:t>Able to configure chosen </a:t>
                      </a:r>
                      <a:r>
                        <a:rPr lang="en-GB" sz="1400" b="0" u="none" dirty="0">
                          <a:solidFill>
                            <a:schemeClr val="tx1"/>
                          </a:solidFill>
                          <a:effectLst/>
                          <a:latin typeface="+mn-lt"/>
                          <a:ea typeface="Times New Roman" panose="02020603050405020304" pitchFamily="18" charset="0"/>
                          <a:cs typeface="Times New Roman" panose="02020603050405020304" pitchFamily="18" charset="0"/>
                        </a:rPr>
                        <a:t>DS/ML</a:t>
                      </a:r>
                      <a:r>
                        <a:rPr lang="en-GB" sz="1400" b="0" u="none" dirty="0">
                          <a:solidFill>
                            <a:srgbClr val="FF00FF"/>
                          </a:solidFill>
                          <a:effectLst/>
                          <a:latin typeface="+mn-lt"/>
                          <a:ea typeface="Times New Roman" panose="02020603050405020304" pitchFamily="18" charset="0"/>
                          <a:cs typeface="Times New Roman" panose="02020603050405020304" pitchFamily="18" charset="0"/>
                        </a:rPr>
                        <a:t>/AI</a:t>
                      </a:r>
                      <a:r>
                        <a:rPr lang="en-US" sz="1400" b="0" u="none" dirty="0">
                          <a:solidFill>
                            <a:schemeClr val="tx1"/>
                          </a:solidFill>
                          <a:effectLst/>
                          <a:latin typeface="+mn-lt"/>
                        </a:rPr>
                        <a:t> techniques to improve performance</a:t>
                      </a:r>
                      <a:endParaRPr lang="en-US" sz="1400" b="0" u="none"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oFill/>
                  </a:tcPr>
                </a:tc>
                <a:tc>
                  <a:txBody>
                    <a:bodyPr/>
                    <a:lstStyle/>
                    <a:p>
                      <a:pPr marL="0" marR="0"/>
                      <a:r>
                        <a:rPr lang="en-GB" sz="1400" b="0" u="none" dirty="0">
                          <a:solidFill>
                            <a:schemeClr val="tx1"/>
                          </a:solidFill>
                          <a:effectLst/>
                          <a:latin typeface="+mn-lt"/>
                          <a:ea typeface="Times New Roman" panose="02020603050405020304" pitchFamily="18" charset="0"/>
                          <a:cs typeface="Times New Roman" panose="02020603050405020304" pitchFamily="18" charset="0"/>
                        </a:rPr>
                        <a:t>Able to configure and adapt chosen DS/ML</a:t>
                      </a:r>
                      <a:r>
                        <a:rPr lang="en-GB" sz="1400" b="0" u="none" dirty="0">
                          <a:solidFill>
                            <a:srgbClr val="FF00FF"/>
                          </a:solidFill>
                          <a:effectLst/>
                          <a:latin typeface="+mn-lt"/>
                          <a:ea typeface="Times New Roman" panose="02020603050405020304" pitchFamily="18" charset="0"/>
                          <a:cs typeface="Times New Roman" panose="02020603050405020304" pitchFamily="18" charset="0"/>
                        </a:rPr>
                        <a:t>/AI</a:t>
                      </a:r>
                      <a:r>
                        <a:rPr lang="en-GB" sz="1400" b="0" u="none" dirty="0">
                          <a:solidFill>
                            <a:schemeClr val="tx1"/>
                          </a:solidFill>
                          <a:effectLst/>
                          <a:latin typeface="+mn-lt"/>
                          <a:ea typeface="Times New Roman" panose="02020603050405020304" pitchFamily="18" charset="0"/>
                          <a:cs typeface="Times New Roman" panose="02020603050405020304" pitchFamily="18" charset="0"/>
                        </a:rPr>
                        <a:t> techniques for more complex usage</a:t>
                      </a:r>
                      <a:endParaRPr lang="en-US" sz="1400" b="0" u="none"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400" b="0" u="none" dirty="0">
                          <a:solidFill>
                            <a:schemeClr val="tx1"/>
                          </a:solidFill>
                          <a:effectLst/>
                          <a:latin typeface="+mn-lt"/>
                          <a:ea typeface="Times New Roman" panose="02020603050405020304" pitchFamily="18" charset="0"/>
                          <a:cs typeface="Times New Roman" panose="02020603050405020304" pitchFamily="18" charset="0"/>
                        </a:rPr>
                        <a:t>Able to drive engineering excellence across an entire product line to ensure the delivery of quality products to user.</a:t>
                      </a:r>
                    </a:p>
                  </a:txBody>
                  <a:tcPr marL="68580" marR="68580" marT="0" marB="0"/>
                </a:tc>
                <a:extLst>
                  <a:ext uri="{0D108BD9-81ED-4DB2-BD59-A6C34878D82A}">
                    <a16:rowId xmlns:a16="http://schemas.microsoft.com/office/drawing/2014/main" val="15412692"/>
                  </a:ext>
                </a:extLst>
              </a:tr>
              <a:tr h="177800">
                <a:tc>
                  <a:txBody>
                    <a:bodyPr/>
                    <a:lstStyle/>
                    <a:p>
                      <a:pPr marL="0" marR="0">
                        <a:lnSpc>
                          <a:spcPct val="107000"/>
                        </a:lnSpc>
                        <a:spcBef>
                          <a:spcPts val="0"/>
                        </a:spcBef>
                        <a:spcAft>
                          <a:spcPts val="0"/>
                        </a:spcAft>
                      </a:pPr>
                      <a:r>
                        <a:rPr lang="en-US" sz="1400" b="0" i="0" u="sng" kern="1200" dirty="0">
                          <a:effectLst/>
                          <a:latin typeface="+mn-lt"/>
                        </a:rPr>
                        <a:t>Run</a:t>
                      </a:r>
                      <a:endParaRPr lang="en-US" sz="1400" b="0" i="0" u="sng" dirty="0">
                        <a:effectLst/>
                        <a:latin typeface="+mn-lt"/>
                      </a:endParaRPr>
                    </a:p>
                  </a:txBody>
                  <a:tcPr marL="68580" marR="68580" marT="0" marB="0"/>
                </a:tc>
                <a:tc>
                  <a:txBody>
                    <a:bodyPr/>
                    <a:lstStyle/>
                    <a:p>
                      <a:pPr marL="0" marR="0">
                        <a:lnSpc>
                          <a:spcPct val="107000"/>
                        </a:lnSpc>
                        <a:spcBef>
                          <a:spcPts val="0"/>
                        </a:spcBef>
                        <a:spcAft>
                          <a:spcPts val="0"/>
                        </a:spcAft>
                      </a:pPr>
                      <a:r>
                        <a:rPr lang="en-US" sz="1400" b="0" u="none" kern="1200" dirty="0">
                          <a:effectLst/>
                          <a:latin typeface="+mn-lt"/>
                        </a:rPr>
                        <a:t>Able to use appropriate tools to execute chosen techniques and partake in the development of data science pipelines and components</a:t>
                      </a:r>
                      <a:endParaRPr lang="en-US" sz="1400" b="0" u="none" dirty="0">
                        <a:effectLst/>
                        <a:latin typeface="+mn-lt"/>
                        <a:ea typeface="Calibri" panose="020F0502020204030204" pitchFamily="34" charset="0"/>
                        <a:cs typeface="Times New Roman" panose="02020603050405020304" pitchFamily="18" charset="0"/>
                      </a:endParaRPr>
                    </a:p>
                  </a:txBody>
                  <a:tcPr marL="68580" marR="68580" marT="0" marB="0">
                    <a:noFill/>
                  </a:tcPr>
                </a:tc>
                <a:tc>
                  <a:txBody>
                    <a:bodyPr/>
                    <a:lstStyle/>
                    <a:p>
                      <a:pPr marL="0" marR="0">
                        <a:lnSpc>
                          <a:spcPct val="107000"/>
                        </a:lnSpc>
                        <a:spcBef>
                          <a:spcPts val="0"/>
                        </a:spcBef>
                        <a:spcAft>
                          <a:spcPts val="0"/>
                        </a:spcAft>
                      </a:pPr>
                      <a:r>
                        <a:rPr lang="en-US" sz="1400" b="0" u="none" kern="1200" dirty="0">
                          <a:solidFill>
                            <a:srgbClr val="000000"/>
                          </a:solidFill>
                          <a:effectLst/>
                          <a:latin typeface="+mn-lt"/>
                          <a:ea typeface="Calibri" panose="020F0502020204030204" pitchFamily="34" charset="0"/>
                          <a:cs typeface="Calibri" panose="020F0502020204030204" pitchFamily="34" charset="0"/>
                        </a:rPr>
                        <a:t>Able to use appropriate tools to execute chosen techniques and partake in the development of complex data science solutions</a:t>
                      </a:r>
                      <a:endParaRPr lang="en-US" sz="1400" b="0" u="none"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b="0" u="none" dirty="0">
                          <a:effectLst/>
                          <a:latin typeface="+mn-lt"/>
                          <a:ea typeface="Calibri" panose="020F0502020204030204" pitchFamily="34" charset="0"/>
                          <a:cs typeface="Times New Roman" panose="02020603050405020304" pitchFamily="18" charset="0"/>
                        </a:rPr>
                        <a:t>Able to drive operational excellence across an entire product line to achieve the desired performance, reliability and maintainability.</a:t>
                      </a:r>
                    </a:p>
                  </a:txBody>
                  <a:tcPr marL="68580" marR="68580" marT="0" marB="0"/>
                </a:tc>
                <a:extLst>
                  <a:ext uri="{0D108BD9-81ED-4DB2-BD59-A6C34878D82A}">
                    <a16:rowId xmlns:a16="http://schemas.microsoft.com/office/drawing/2014/main" val="3727925820"/>
                  </a:ext>
                </a:extLst>
              </a:tr>
              <a:tr h="177800">
                <a:tc>
                  <a:txBody>
                    <a:bodyPr/>
                    <a:lstStyle/>
                    <a:p>
                      <a:pPr marL="0" marR="0"/>
                      <a:r>
                        <a:rPr lang="en-GB" sz="1400" b="0" i="0" u="sng" dirty="0">
                          <a:solidFill>
                            <a:schemeClr val="tx1"/>
                          </a:solidFill>
                          <a:effectLst/>
                          <a:latin typeface="+mn-lt"/>
                        </a:rPr>
                        <a:t>Technical Leadership</a:t>
                      </a:r>
                      <a:br>
                        <a:rPr lang="en-GB" sz="1600" b="0" i="0" u="sng" dirty="0">
                          <a:solidFill>
                            <a:schemeClr val="tx1"/>
                          </a:solidFill>
                          <a:effectLst/>
                          <a:latin typeface="+mn-lt"/>
                        </a:rPr>
                      </a:br>
                      <a:endParaRPr lang="en-US" sz="1600" b="0" i="0" u="sng"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400" b="0" i="1" u="none" dirty="0">
                          <a:solidFill>
                            <a:schemeClr val="bg2">
                              <a:lumMod val="75000"/>
                            </a:schemeClr>
                          </a:solidFill>
                          <a:effectLst/>
                          <a:latin typeface="+mn-lt"/>
                          <a:ea typeface="Times New Roman" panose="02020603050405020304" pitchFamily="18" charset="0"/>
                          <a:cs typeface="Times New Roman" panose="02020603050405020304" pitchFamily="18" charset="0"/>
                        </a:rPr>
                        <a:t>NA</a:t>
                      </a:r>
                    </a:p>
                  </a:txBody>
                  <a:tcPr marL="68580" marR="68580" marT="0" marB="0">
                    <a:noFill/>
                  </a:tcPr>
                </a:tc>
                <a:tc>
                  <a:txBody>
                    <a:bodyPr/>
                    <a:lstStyle/>
                    <a:p>
                      <a:pPr marL="0" marR="0"/>
                      <a:r>
                        <a:rPr lang="en-US" sz="1400" b="0" u="none" dirty="0">
                          <a:solidFill>
                            <a:schemeClr val="tx1"/>
                          </a:solidFill>
                          <a:effectLst/>
                          <a:latin typeface="+mn-lt"/>
                          <a:ea typeface="Times New Roman" panose="02020603050405020304" pitchFamily="18" charset="0"/>
                          <a:cs typeface="Times New Roman" panose="02020603050405020304" pitchFamily="18" charset="0"/>
                        </a:rPr>
                        <a:t>Able to provide technical leadership by guiding the group to adopt the right strategies, solution, methodologies, practices, technologies and culture to improve productivity and engineering/scientific performance.</a:t>
                      </a:r>
                    </a:p>
                  </a:txBody>
                  <a:tcPr marL="68580" marR="68580" marT="0" marB="0"/>
                </a:tc>
                <a:tc>
                  <a:txBody>
                    <a:bodyPr/>
                    <a:lstStyle/>
                    <a:p>
                      <a:pPr marL="0" marR="0"/>
                      <a:r>
                        <a:rPr lang="en-US" sz="1400" b="0" u="none" dirty="0">
                          <a:solidFill>
                            <a:schemeClr val="tx1"/>
                          </a:solidFill>
                          <a:effectLst/>
                          <a:latin typeface="+mn-lt"/>
                          <a:ea typeface="Times New Roman" panose="02020603050405020304" pitchFamily="18" charset="0"/>
                          <a:cs typeface="Times New Roman" panose="02020603050405020304" pitchFamily="18" charset="0"/>
                        </a:rPr>
                        <a:t>Able to provide technical leadership by guiding senior management and working level to adopt and implement the right strategies, solution, methodologies, practices technologies and culture to improve productivity and engineering/scientific performance.</a:t>
                      </a:r>
                    </a:p>
                  </a:txBody>
                  <a:tcPr marL="68580" marR="68580" marT="0" marB="0"/>
                </a:tc>
                <a:extLst>
                  <a:ext uri="{0D108BD9-81ED-4DB2-BD59-A6C34878D82A}">
                    <a16:rowId xmlns:a16="http://schemas.microsoft.com/office/drawing/2014/main" val="1951414089"/>
                  </a:ext>
                </a:extLst>
              </a:tr>
              <a:tr h="177800">
                <a:tc>
                  <a:txBody>
                    <a:bodyPr/>
                    <a:lstStyle/>
                    <a:p>
                      <a:pPr marL="0" marR="0">
                        <a:lnSpc>
                          <a:spcPct val="107000"/>
                        </a:lnSpc>
                        <a:spcBef>
                          <a:spcPts val="0"/>
                        </a:spcBef>
                        <a:spcAft>
                          <a:spcPts val="0"/>
                        </a:spcAft>
                      </a:pPr>
                      <a:r>
                        <a:rPr lang="en-US" sz="1400" b="0" i="0" u="sng" kern="1200" dirty="0">
                          <a:effectLst/>
                          <a:latin typeface="+mn-lt"/>
                        </a:rPr>
                        <a:t>Community </a:t>
                      </a:r>
                      <a:r>
                        <a:rPr lang="en-US" sz="1400" b="0" i="0" u="sng" kern="1200" dirty="0" err="1">
                          <a:effectLst/>
                          <a:latin typeface="+mn-lt"/>
                        </a:rPr>
                        <a:t>Contrib</a:t>
                      </a:r>
                      <a:endParaRPr lang="en-US" sz="1400" b="0" i="0" u="sng" kern="1200" dirty="0">
                        <a:effectLst/>
                        <a:latin typeface="+mn-lt"/>
                      </a:endParaRPr>
                    </a:p>
                  </a:txBody>
                  <a:tcPr marL="68580" marR="68580" marT="0" marB="0"/>
                </a:tc>
                <a:tc>
                  <a:txBody>
                    <a:bodyPr/>
                    <a:lstStyle/>
                    <a:p>
                      <a:pPr marL="0" marR="0">
                        <a:lnSpc>
                          <a:spcPct val="107000"/>
                        </a:lnSpc>
                        <a:spcBef>
                          <a:spcPts val="0"/>
                        </a:spcBef>
                        <a:spcAft>
                          <a:spcPts val="0"/>
                        </a:spcAft>
                      </a:pPr>
                      <a:r>
                        <a:rPr lang="en-US" sz="1400" b="0" u="none" dirty="0">
                          <a:effectLst/>
                          <a:latin typeface="+mn-lt"/>
                          <a:ea typeface="Calibri" panose="020F0502020204030204" pitchFamily="34" charset="0"/>
                          <a:cs typeface="Times New Roman" panose="02020603050405020304" pitchFamily="18" charset="0"/>
                        </a:rPr>
                        <a:t>Able to help grow the technical competency of the community by participating in community-wide initiatives.</a:t>
                      </a:r>
                    </a:p>
                  </a:txBody>
                  <a:tcPr marL="68580" marR="68580" marT="0" marB="0">
                    <a:noFill/>
                  </a:tcPr>
                </a:tc>
                <a:tc>
                  <a:txBody>
                    <a:bodyPr/>
                    <a:lstStyle/>
                    <a:p>
                      <a:pPr marL="0" marR="0">
                        <a:lnSpc>
                          <a:spcPct val="107000"/>
                        </a:lnSpc>
                        <a:spcBef>
                          <a:spcPts val="0"/>
                        </a:spcBef>
                        <a:spcAft>
                          <a:spcPts val="0"/>
                        </a:spcAft>
                      </a:pPr>
                      <a:r>
                        <a:rPr lang="en-US" sz="1400" b="0" u="none" dirty="0">
                          <a:effectLst/>
                          <a:latin typeface="+mn-lt"/>
                          <a:ea typeface="Calibri" panose="020F0502020204030204" pitchFamily="34" charset="0"/>
                          <a:cs typeface="Times New Roman" panose="02020603050405020304" pitchFamily="18" charset="0"/>
                        </a:rPr>
                        <a:t>Able to grow the technical competency of the community by participating in </a:t>
                      </a:r>
                    </a:p>
                    <a:p>
                      <a:pPr marL="0" marR="0">
                        <a:lnSpc>
                          <a:spcPct val="107000"/>
                        </a:lnSpc>
                        <a:spcBef>
                          <a:spcPts val="0"/>
                        </a:spcBef>
                        <a:spcAft>
                          <a:spcPts val="0"/>
                        </a:spcAft>
                      </a:pPr>
                      <a:r>
                        <a:rPr lang="en-US" sz="1400" b="0" u="none" dirty="0">
                          <a:effectLst/>
                          <a:latin typeface="+mn-lt"/>
                          <a:ea typeface="Calibri" panose="020F0502020204030204" pitchFamily="34" charset="0"/>
                          <a:cs typeface="Times New Roman" panose="02020603050405020304" pitchFamily="18" charset="0"/>
                        </a:rPr>
                        <a:t>community-wide initiatives</a:t>
                      </a:r>
                    </a:p>
                  </a:txBody>
                  <a:tcPr marL="68580" marR="68580" marT="0" marB="0"/>
                </a:tc>
                <a:tc>
                  <a:txBody>
                    <a:bodyPr/>
                    <a:lstStyle/>
                    <a:p>
                      <a:pPr marL="0" marR="0">
                        <a:lnSpc>
                          <a:spcPct val="107000"/>
                        </a:lnSpc>
                        <a:spcBef>
                          <a:spcPts val="0"/>
                        </a:spcBef>
                        <a:spcAft>
                          <a:spcPts val="0"/>
                        </a:spcAft>
                      </a:pPr>
                      <a:r>
                        <a:rPr lang="en-US" sz="1400" b="0" u="none" dirty="0">
                          <a:effectLst/>
                          <a:latin typeface="+mn-lt"/>
                          <a:ea typeface="Calibri" panose="020F0502020204030204" pitchFamily="34" charset="0"/>
                          <a:cs typeface="Times New Roman" panose="02020603050405020304" pitchFamily="18" charset="0"/>
                        </a:rPr>
                        <a:t>Able to grow the technical competency of the community by participating in tech panels, developing training programs, and fostering an innovative and learning culture.</a:t>
                      </a:r>
                    </a:p>
                  </a:txBody>
                  <a:tcPr marL="68580" marR="68580" marT="0" marB="0"/>
                </a:tc>
                <a:extLst>
                  <a:ext uri="{0D108BD9-81ED-4DB2-BD59-A6C34878D82A}">
                    <a16:rowId xmlns:a16="http://schemas.microsoft.com/office/drawing/2014/main" val="2415708164"/>
                  </a:ext>
                </a:extLst>
              </a:tr>
            </a:tbl>
          </a:graphicData>
        </a:graphic>
      </p:graphicFrame>
      <p:sp>
        <p:nvSpPr>
          <p:cNvPr id="13" name="Right Brace 12">
            <a:extLst>
              <a:ext uri="{FF2B5EF4-FFF2-40B4-BE49-F238E27FC236}">
                <a16:creationId xmlns:a16="http://schemas.microsoft.com/office/drawing/2014/main" id="{C9300A9C-8487-493C-B6A7-E2E88254E1B3}"/>
              </a:ext>
            </a:extLst>
          </p:cNvPr>
          <p:cNvSpPr/>
          <p:nvPr/>
        </p:nvSpPr>
        <p:spPr>
          <a:xfrm rot="10800000">
            <a:off x="609514" y="4197858"/>
            <a:ext cx="148281" cy="2396553"/>
          </a:xfrm>
          <a:prstGeom prst="rightBrace">
            <a:avLst>
              <a:gd name="adj1" fmla="val 53298"/>
              <a:gd name="adj2" fmla="val 50000"/>
            </a:avLst>
          </a:prstGeom>
          <a:ln w="1905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9DD4D27A-287D-416E-ABD1-926CD373DFD4}"/>
              </a:ext>
            </a:extLst>
          </p:cNvPr>
          <p:cNvSpPr txBox="1"/>
          <p:nvPr/>
        </p:nvSpPr>
        <p:spPr>
          <a:xfrm rot="16200000">
            <a:off x="-329841" y="5242246"/>
            <a:ext cx="1559722" cy="307777"/>
          </a:xfrm>
          <a:prstGeom prst="rect">
            <a:avLst/>
          </a:prstGeom>
          <a:noFill/>
        </p:spPr>
        <p:txBody>
          <a:bodyPr wrap="none" rtlCol="0">
            <a:spAutoFit/>
          </a:bodyPr>
          <a:lstStyle/>
          <a:p>
            <a:pPr algn="ctr"/>
            <a:r>
              <a:rPr lang="en-US" sz="1400" dirty="0">
                <a:solidFill>
                  <a:schemeClr val="accent2"/>
                </a:solidFill>
              </a:rPr>
              <a:t>Inherited from SEA</a:t>
            </a:r>
          </a:p>
        </p:txBody>
      </p:sp>
    </p:spTree>
    <p:extLst>
      <p:ext uri="{BB962C8B-B14F-4D97-AF65-F5344CB8AC3E}">
        <p14:creationId xmlns:p14="http://schemas.microsoft.com/office/powerpoint/2010/main" val="3026150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DDB37-130D-4CD6-ACF0-0245D0C8A30D}"/>
              </a:ext>
            </a:extLst>
          </p:cNvPr>
          <p:cNvSpPr>
            <a:spLocks noGrp="1"/>
          </p:cNvSpPr>
          <p:nvPr>
            <p:ph type="title"/>
          </p:nvPr>
        </p:nvSpPr>
        <p:spPr/>
        <p:txBody>
          <a:bodyPr/>
          <a:lstStyle/>
          <a:p>
            <a:r>
              <a:rPr lang="en-US"/>
              <a:t>After: “more proficient”</a:t>
            </a:r>
            <a:endParaRPr lang="en-US" dirty="0"/>
          </a:p>
        </p:txBody>
      </p:sp>
      <p:graphicFrame>
        <p:nvGraphicFramePr>
          <p:cNvPr id="19" name="Content Placeholder 18">
            <a:extLst>
              <a:ext uri="{FF2B5EF4-FFF2-40B4-BE49-F238E27FC236}">
                <a16:creationId xmlns:a16="http://schemas.microsoft.com/office/drawing/2014/main" id="{EC84B41E-73BC-4DDE-A8D1-389CDC33939F}"/>
              </a:ext>
            </a:extLst>
          </p:cNvPr>
          <p:cNvGraphicFramePr>
            <a:graphicFrameLocks noGrp="1"/>
          </p:cNvGraphicFramePr>
          <p:nvPr>
            <p:ph sz="half" idx="4294967295"/>
            <p:extLst>
              <p:ext uri="{D42A27DB-BD31-4B8C-83A1-F6EECF244321}">
                <p14:modId xmlns:p14="http://schemas.microsoft.com/office/powerpoint/2010/main" val="3026000658"/>
              </p:ext>
            </p:extLst>
          </p:nvPr>
        </p:nvGraphicFramePr>
        <p:xfrm>
          <a:off x="838199" y="1530050"/>
          <a:ext cx="10515599" cy="4785120"/>
        </p:xfrm>
        <a:graphic>
          <a:graphicData uri="http://schemas.openxmlformats.org/drawingml/2006/table">
            <a:tbl>
              <a:tblPr bandRow="1">
                <a:tableStyleId>{5940675A-B579-460E-94D1-54222C63F5DA}</a:tableStyleId>
              </a:tblPr>
              <a:tblGrid>
                <a:gridCol w="1636989">
                  <a:extLst>
                    <a:ext uri="{9D8B030D-6E8A-4147-A177-3AD203B41FA5}">
                      <a16:colId xmlns:a16="http://schemas.microsoft.com/office/drawing/2014/main" val="1767160022"/>
                    </a:ext>
                  </a:extLst>
                </a:gridCol>
                <a:gridCol w="4254334">
                  <a:extLst>
                    <a:ext uri="{9D8B030D-6E8A-4147-A177-3AD203B41FA5}">
                      <a16:colId xmlns:a16="http://schemas.microsoft.com/office/drawing/2014/main" val="1265866979"/>
                    </a:ext>
                  </a:extLst>
                </a:gridCol>
                <a:gridCol w="4624276">
                  <a:extLst>
                    <a:ext uri="{9D8B030D-6E8A-4147-A177-3AD203B41FA5}">
                      <a16:colId xmlns:a16="http://schemas.microsoft.com/office/drawing/2014/main" val="2168045576"/>
                    </a:ext>
                  </a:extLst>
                </a:gridCol>
              </a:tblGrid>
              <a:tr h="149139">
                <a:tc>
                  <a:txBody>
                    <a:bodyPr/>
                    <a:lstStyle/>
                    <a:p>
                      <a:pPr marL="45720" algn="l" fontAlgn="b"/>
                      <a:r>
                        <a:rPr lang="en-US" sz="1400" b="1" i="0" u="none" strike="noStrike" dirty="0">
                          <a:solidFill>
                            <a:schemeClr val="bg2">
                              <a:lumMod val="90000"/>
                            </a:schemeClr>
                          </a:solidFill>
                          <a:effectLst/>
                          <a:latin typeface="+mn-lt"/>
                        </a:rPr>
                        <a:t>After</a:t>
                      </a:r>
                    </a:p>
                  </a:txBody>
                  <a:tcPr marL="2007" marR="2007" marT="2007" marB="0">
                    <a:noFill/>
                  </a:tcPr>
                </a:tc>
                <a:tc>
                  <a:txBody>
                    <a:bodyPr/>
                    <a:lstStyle/>
                    <a:p>
                      <a:pPr marL="45720" algn="l" fontAlgn="b"/>
                      <a:r>
                        <a:rPr lang="en-US" sz="1400" b="1" u="none" strike="noStrike" dirty="0">
                          <a:effectLst/>
                          <a:latin typeface="+mn-lt"/>
                        </a:rPr>
                        <a:t>Proficiency Level 1</a:t>
                      </a:r>
                      <a:endParaRPr lang="en-US" sz="1400" b="1" i="0" u="none" strike="noStrike" dirty="0">
                        <a:solidFill>
                          <a:srgbClr val="000000"/>
                        </a:solidFill>
                        <a:effectLst/>
                        <a:latin typeface="+mn-lt"/>
                      </a:endParaRPr>
                    </a:p>
                  </a:txBody>
                  <a:tcPr marL="2007" marR="2007" marT="2007" marB="0">
                    <a:noFill/>
                  </a:tcPr>
                </a:tc>
                <a:tc>
                  <a:txBody>
                    <a:bodyPr/>
                    <a:lstStyle/>
                    <a:p>
                      <a:pPr marL="45720" algn="l" fontAlgn="b"/>
                      <a:r>
                        <a:rPr lang="en-US" sz="1400" b="1" u="none" strike="noStrike" dirty="0">
                          <a:effectLst/>
                          <a:latin typeface="+mn-lt"/>
                        </a:rPr>
                        <a:t>Proficiency Level 2</a:t>
                      </a:r>
                      <a:endParaRPr lang="en-US" sz="1400" b="1" i="0" u="none" strike="noStrike" dirty="0">
                        <a:solidFill>
                          <a:srgbClr val="000000"/>
                        </a:solidFill>
                        <a:effectLst/>
                        <a:latin typeface="+mn-lt"/>
                      </a:endParaRPr>
                    </a:p>
                  </a:txBody>
                  <a:tcPr marL="2007" marR="2007" marT="2007" marB="0">
                    <a:noFill/>
                  </a:tcPr>
                </a:tc>
                <a:extLst>
                  <a:ext uri="{0D108BD9-81ED-4DB2-BD59-A6C34878D82A}">
                    <a16:rowId xmlns:a16="http://schemas.microsoft.com/office/drawing/2014/main" val="576800897"/>
                  </a:ext>
                </a:extLst>
              </a:tr>
              <a:tr h="443724">
                <a:tc>
                  <a:txBody>
                    <a:bodyPr/>
                    <a:lstStyle/>
                    <a:p>
                      <a:pPr marL="45720" algn="l" fontAlgn="b"/>
                      <a:r>
                        <a:rPr lang="en-US" sz="1400" u="sng" strike="noStrike" dirty="0">
                          <a:effectLst/>
                          <a:latin typeface="+mn-lt"/>
                        </a:rPr>
                        <a:t>Data Project Design</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Understand a given problem statement for a data project. Adhere to the data science project lifecycle.</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Define/refine problem statements given a business requirement or question. Manage data projects over the entire lifecycle.</a:t>
                      </a:r>
                      <a:endParaRPr lang="en-US" sz="1400" b="0" i="0" u="none" strike="noStrike" dirty="0">
                        <a:solidFill>
                          <a:srgbClr val="000000"/>
                        </a:solidFill>
                        <a:effectLst/>
                        <a:latin typeface="+mn-lt"/>
                      </a:endParaRPr>
                    </a:p>
                  </a:txBody>
                  <a:tcPr marL="2007" marR="2007" marT="2007" marB="0">
                    <a:noFill/>
                  </a:tcPr>
                </a:tc>
                <a:extLst>
                  <a:ext uri="{0D108BD9-81ED-4DB2-BD59-A6C34878D82A}">
                    <a16:rowId xmlns:a16="http://schemas.microsoft.com/office/drawing/2014/main" val="950907207"/>
                  </a:ext>
                </a:extLst>
              </a:tr>
              <a:tr h="738308">
                <a:tc>
                  <a:txBody>
                    <a:bodyPr/>
                    <a:lstStyle/>
                    <a:p>
                      <a:pPr marL="45720" algn="l" fontAlgn="b"/>
                      <a:r>
                        <a:rPr lang="en-US" sz="1400" u="sng" strike="noStrike" dirty="0">
                          <a:effectLst/>
                          <a:latin typeface="+mn-lt"/>
                        </a:rPr>
                        <a:t>Exploratory Data Analysis</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Use analytical tools and techniques to discover the dataset's characteristics, patterns, trends, and outliers. Relate the findings from the data exploration to the data question(s).</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Develop and test hypotheses. Use advanced data wrangling techniques. Discover insights and identify potential areas for deep-dives. Evaluate the impact of anomalies, biases, and data truncation.</a:t>
                      </a:r>
                      <a:endParaRPr lang="en-US" sz="1400" b="0" i="0" u="none" strike="noStrike" dirty="0">
                        <a:solidFill>
                          <a:srgbClr val="000000"/>
                        </a:solidFill>
                        <a:effectLst/>
                        <a:latin typeface="+mn-lt"/>
                      </a:endParaRPr>
                    </a:p>
                  </a:txBody>
                  <a:tcPr marL="2007" marR="2007" marT="2007" marB="0">
                    <a:noFill/>
                  </a:tcPr>
                </a:tc>
                <a:extLst>
                  <a:ext uri="{0D108BD9-81ED-4DB2-BD59-A6C34878D82A}">
                    <a16:rowId xmlns:a16="http://schemas.microsoft.com/office/drawing/2014/main" val="1807733319"/>
                  </a:ext>
                </a:extLst>
              </a:tr>
              <a:tr h="885600">
                <a:tc>
                  <a:txBody>
                    <a:bodyPr/>
                    <a:lstStyle/>
                    <a:p>
                      <a:pPr marL="45720" algn="l" fontAlgn="b"/>
                      <a:r>
                        <a:rPr lang="en-US" sz="1400" u="sng" strike="noStrike" dirty="0">
                          <a:effectLst/>
                          <a:latin typeface="+mn-lt"/>
                        </a:rPr>
                        <a:t>Data Preparation</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Understand the dataset. Extract data for analysis. Understand common featurization techniques. Add a suitably detailed description and well-defined field descriptions to the data catalog.</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Find, ETL, and clean data. Enrich and/or augment data. Construct meaningful new features. Evaluate the impact of data imbalance, data cleaning, etc. to the overall analysis.</a:t>
                      </a:r>
                      <a:endParaRPr lang="en-US" sz="1400" b="0" i="0" u="none" strike="noStrike" dirty="0">
                        <a:solidFill>
                          <a:srgbClr val="000000"/>
                        </a:solidFill>
                        <a:effectLst/>
                        <a:latin typeface="+mn-lt"/>
                      </a:endParaRPr>
                    </a:p>
                  </a:txBody>
                  <a:tcPr marL="2007" marR="2007" marT="2007" marB="0">
                    <a:noFill/>
                  </a:tcPr>
                </a:tc>
                <a:extLst>
                  <a:ext uri="{0D108BD9-81ED-4DB2-BD59-A6C34878D82A}">
                    <a16:rowId xmlns:a16="http://schemas.microsoft.com/office/drawing/2014/main" val="3583020561"/>
                  </a:ext>
                </a:extLst>
              </a:tr>
              <a:tr h="738308">
                <a:tc>
                  <a:txBody>
                    <a:bodyPr/>
                    <a:lstStyle/>
                    <a:p>
                      <a:pPr marL="45720" algn="l" fontAlgn="b"/>
                      <a:r>
                        <a:rPr lang="en-US" sz="1400" u="sng" strike="noStrike" dirty="0">
                          <a:effectLst/>
                          <a:latin typeface="+mn-lt"/>
                        </a:rPr>
                        <a:t>Visualizations &amp; Data Storytelling</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Design and develop visualizations. Assess and select the best visualization to present the data / information. Understand and apply design principles and color theory to the visualizations.</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Design and develop clean and comprehensible visualizations. Help users to derive their own insights. Guide the thinking of problem owners and stakeholders.</a:t>
                      </a:r>
                      <a:endParaRPr lang="en-US" sz="1400" b="0" i="0" u="none" strike="noStrike" dirty="0">
                        <a:solidFill>
                          <a:srgbClr val="000000"/>
                        </a:solidFill>
                        <a:effectLst/>
                        <a:latin typeface="+mn-lt"/>
                      </a:endParaRPr>
                    </a:p>
                  </a:txBody>
                  <a:tcPr marL="2007" marR="2007" marT="2007" marB="0">
                    <a:noFill/>
                  </a:tcPr>
                </a:tc>
                <a:extLst>
                  <a:ext uri="{0D108BD9-81ED-4DB2-BD59-A6C34878D82A}">
                    <a16:rowId xmlns:a16="http://schemas.microsoft.com/office/drawing/2014/main" val="568758098"/>
                  </a:ext>
                </a:extLst>
              </a:tr>
              <a:tr h="443724">
                <a:tc>
                  <a:txBody>
                    <a:bodyPr/>
                    <a:lstStyle/>
                    <a:p>
                      <a:pPr marL="45720" algn="l" fontAlgn="b"/>
                      <a:r>
                        <a:rPr lang="en-US" sz="1400" u="sng" strike="noStrike" dirty="0">
                          <a:effectLst/>
                          <a:latin typeface="+mn-lt"/>
                        </a:rPr>
                        <a:t>Statistical Analysis</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Apply common statistical techniques using libraries. Create simple charts and graphs.</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Construct hypotheses, design experiments, perform significance testing. Answer questions or make forecasts.</a:t>
                      </a:r>
                      <a:endParaRPr lang="en-US" sz="1400" b="0" i="0" u="none" strike="noStrike" dirty="0">
                        <a:solidFill>
                          <a:srgbClr val="000000"/>
                        </a:solidFill>
                        <a:effectLst/>
                        <a:latin typeface="+mn-lt"/>
                      </a:endParaRPr>
                    </a:p>
                  </a:txBody>
                  <a:tcPr marL="2007" marR="2007" marT="2007" marB="0">
                    <a:noFill/>
                  </a:tcPr>
                </a:tc>
                <a:extLst>
                  <a:ext uri="{0D108BD9-81ED-4DB2-BD59-A6C34878D82A}">
                    <a16:rowId xmlns:a16="http://schemas.microsoft.com/office/drawing/2014/main" val="3197166467"/>
                  </a:ext>
                </a:extLst>
              </a:tr>
              <a:tr h="443724">
                <a:tc>
                  <a:txBody>
                    <a:bodyPr/>
                    <a:lstStyle/>
                    <a:p>
                      <a:pPr marL="45720" algn="l" fontAlgn="b"/>
                      <a:r>
                        <a:rPr lang="en-US" sz="1400" u="sng" strike="noStrike" dirty="0">
                          <a:effectLst/>
                          <a:latin typeface="+mn-lt"/>
                        </a:rPr>
                        <a:t>Machine Learning</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Use supervised and unsupervised ML models in commonly used libraries.</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Ensure the test set has no leakage. Ensemble, regularize, tune, and evaluate models.</a:t>
                      </a:r>
                      <a:endParaRPr lang="en-US" sz="1400" b="0" i="0" u="none" strike="noStrike" dirty="0">
                        <a:solidFill>
                          <a:srgbClr val="000000"/>
                        </a:solidFill>
                        <a:effectLst/>
                        <a:latin typeface="+mn-lt"/>
                      </a:endParaRPr>
                    </a:p>
                  </a:txBody>
                  <a:tcPr marL="2007" marR="2007" marT="2007" marB="0">
                    <a:noFill/>
                  </a:tcPr>
                </a:tc>
                <a:extLst>
                  <a:ext uri="{0D108BD9-81ED-4DB2-BD59-A6C34878D82A}">
                    <a16:rowId xmlns:a16="http://schemas.microsoft.com/office/drawing/2014/main" val="869208051"/>
                  </a:ext>
                </a:extLst>
              </a:tr>
              <a:tr h="443724">
                <a:tc>
                  <a:txBody>
                    <a:bodyPr/>
                    <a:lstStyle/>
                    <a:p>
                      <a:pPr marL="45720" algn="l" fontAlgn="b"/>
                      <a:r>
                        <a:rPr lang="en-US" sz="1400" u="sng" strike="noStrike" dirty="0">
                          <a:effectLst/>
                          <a:latin typeface="+mn-lt"/>
                        </a:rPr>
                        <a:t>Specialization</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i="1" u="none" strike="noStrike" dirty="0">
                          <a:solidFill>
                            <a:schemeClr val="bg2">
                              <a:lumMod val="75000"/>
                            </a:schemeClr>
                          </a:solidFill>
                          <a:effectLst/>
                          <a:latin typeface="+mn-lt"/>
                        </a:rPr>
                        <a:t>NA</a:t>
                      </a:r>
                      <a:endParaRPr lang="en-US" sz="1400" b="0" i="1" u="none" strike="noStrike" dirty="0">
                        <a:solidFill>
                          <a:schemeClr val="bg2">
                            <a:lumMod val="75000"/>
                          </a:schemeClr>
                        </a:solidFill>
                        <a:effectLst/>
                        <a:latin typeface="+mn-lt"/>
                      </a:endParaRPr>
                    </a:p>
                  </a:txBody>
                  <a:tcPr marL="2007" marR="2007" marT="2007" marB="0">
                    <a:noFill/>
                  </a:tcPr>
                </a:tc>
                <a:tc>
                  <a:txBody>
                    <a:bodyPr/>
                    <a:lstStyle/>
                    <a:p>
                      <a:pPr marL="45720" algn="l" fontAlgn="b"/>
                      <a:r>
                        <a:rPr lang="en-US" sz="1400" u="none" strike="noStrike" dirty="0">
                          <a:effectLst/>
                          <a:latin typeface="+mn-lt"/>
                        </a:rPr>
                        <a:t>Perform research, describe shortlisted approaches, benchmark and test, explain choices.</a:t>
                      </a:r>
                      <a:endParaRPr lang="en-US" sz="1400" b="0" i="0" u="none" strike="noStrike" dirty="0">
                        <a:solidFill>
                          <a:srgbClr val="000000"/>
                        </a:solidFill>
                        <a:effectLst/>
                        <a:latin typeface="+mn-lt"/>
                      </a:endParaRPr>
                    </a:p>
                  </a:txBody>
                  <a:tcPr marL="2007" marR="2007" marT="2007" marB="0">
                    <a:noFill/>
                  </a:tcPr>
                </a:tc>
                <a:extLst>
                  <a:ext uri="{0D108BD9-81ED-4DB2-BD59-A6C34878D82A}">
                    <a16:rowId xmlns:a16="http://schemas.microsoft.com/office/drawing/2014/main" val="2456766578"/>
                  </a:ext>
                </a:extLst>
              </a:tr>
            </a:tbl>
          </a:graphicData>
        </a:graphic>
      </p:graphicFrame>
      <p:sp>
        <p:nvSpPr>
          <p:cNvPr id="7" name="TextBox 6">
            <a:extLst>
              <a:ext uri="{FF2B5EF4-FFF2-40B4-BE49-F238E27FC236}">
                <a16:creationId xmlns:a16="http://schemas.microsoft.com/office/drawing/2014/main" id="{CBB58AA4-196C-4D4D-9525-ACF3EF84412F}"/>
              </a:ext>
            </a:extLst>
          </p:cNvPr>
          <p:cNvSpPr txBox="1"/>
          <p:nvPr/>
        </p:nvSpPr>
        <p:spPr>
          <a:xfrm>
            <a:off x="11318358" y="1516819"/>
            <a:ext cx="838202" cy="261610"/>
          </a:xfrm>
          <a:prstGeom prst="rect">
            <a:avLst/>
          </a:prstGeom>
          <a:noFill/>
        </p:spPr>
        <p:txBody>
          <a:bodyPr wrap="square" rtlCol="0">
            <a:spAutoFit/>
          </a:bodyPr>
          <a:lstStyle/>
          <a:p>
            <a:r>
              <a:rPr lang="en-US" sz="1100" b="1" dirty="0"/>
              <a:t>+PL3, PL4</a:t>
            </a:r>
          </a:p>
        </p:txBody>
      </p:sp>
    </p:spTree>
    <p:extLst>
      <p:ext uri="{BB962C8B-B14F-4D97-AF65-F5344CB8AC3E}">
        <p14:creationId xmlns:p14="http://schemas.microsoft.com/office/powerpoint/2010/main" val="3025750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0FCFDC3-E4A7-4FE4-90FE-DC5C95C11C1C}"/>
              </a:ext>
            </a:extLst>
          </p:cNvPr>
          <p:cNvSpPr>
            <a:spLocks noGrp="1"/>
          </p:cNvSpPr>
          <p:nvPr>
            <p:ph type="title"/>
          </p:nvPr>
        </p:nvSpPr>
        <p:spPr>
          <a:xfrm>
            <a:off x="838200" y="204487"/>
            <a:ext cx="10515600" cy="1325563"/>
          </a:xfrm>
        </p:spPr>
        <p:txBody>
          <a:bodyPr/>
          <a:lstStyle/>
          <a:p>
            <a:r>
              <a:rPr lang="en-US" dirty="0"/>
              <a:t>How are PLs defined?</a:t>
            </a:r>
          </a:p>
        </p:txBody>
      </p:sp>
      <p:sp>
        <p:nvSpPr>
          <p:cNvPr id="6" name="Content Placeholder 5">
            <a:extLst>
              <a:ext uri="{FF2B5EF4-FFF2-40B4-BE49-F238E27FC236}">
                <a16:creationId xmlns:a16="http://schemas.microsoft.com/office/drawing/2014/main" id="{84B680B1-CD86-4D85-9400-7A4152AD10C5}"/>
              </a:ext>
            </a:extLst>
          </p:cNvPr>
          <p:cNvSpPr>
            <a:spLocks noGrp="1"/>
          </p:cNvSpPr>
          <p:nvPr>
            <p:ph idx="1"/>
          </p:nvPr>
        </p:nvSpPr>
        <p:spPr>
          <a:xfrm>
            <a:off x="838200" y="1530050"/>
            <a:ext cx="10515600" cy="4646913"/>
          </a:xfrm>
        </p:spPr>
        <p:txBody>
          <a:bodyPr>
            <a:normAutofit fontScale="92500" lnSpcReduction="10000"/>
          </a:bodyPr>
          <a:lstStyle/>
          <a:p>
            <a:r>
              <a:rPr lang="en-US" dirty="0"/>
              <a:t>PL1</a:t>
            </a:r>
          </a:p>
          <a:p>
            <a:pPr lvl="1"/>
            <a:r>
              <a:rPr lang="en-US" u="sng" dirty="0"/>
              <a:t>Remember</a:t>
            </a:r>
            <a:r>
              <a:rPr lang="en-US" dirty="0"/>
              <a:t> and </a:t>
            </a:r>
            <a:r>
              <a:rPr lang="en-US" u="sng" dirty="0"/>
              <a:t>apply</a:t>
            </a:r>
            <a:r>
              <a:rPr lang="en-US" dirty="0"/>
              <a:t> basic skills </a:t>
            </a:r>
          </a:p>
          <a:p>
            <a:pPr lvl="1"/>
            <a:r>
              <a:rPr lang="en-US" dirty="0"/>
              <a:t>In order to complete routine tasks</a:t>
            </a:r>
          </a:p>
          <a:p>
            <a:r>
              <a:rPr lang="en-US" dirty="0"/>
              <a:t>PL2</a:t>
            </a:r>
          </a:p>
          <a:p>
            <a:pPr lvl="1"/>
            <a:r>
              <a:rPr lang="en-US" u="sng" dirty="0"/>
              <a:t>Understand</a:t>
            </a:r>
            <a:r>
              <a:rPr lang="en-US" dirty="0"/>
              <a:t> and </a:t>
            </a:r>
            <a:r>
              <a:rPr lang="en-US" u="sng" dirty="0"/>
              <a:t>apply</a:t>
            </a:r>
            <a:r>
              <a:rPr lang="en-US" dirty="0"/>
              <a:t> concepts </a:t>
            </a:r>
          </a:p>
          <a:p>
            <a:pPr lvl="1"/>
            <a:r>
              <a:rPr lang="en-US" dirty="0"/>
              <a:t>In order to solve well-defined problems</a:t>
            </a:r>
          </a:p>
          <a:p>
            <a:r>
              <a:rPr lang="en-US" dirty="0"/>
              <a:t>PL3</a:t>
            </a:r>
          </a:p>
          <a:p>
            <a:pPr lvl="1"/>
            <a:r>
              <a:rPr lang="en-US" u="sng" dirty="0"/>
              <a:t>Analyze</a:t>
            </a:r>
            <a:r>
              <a:rPr lang="en-US" dirty="0"/>
              <a:t> assumptions and </a:t>
            </a:r>
            <a:r>
              <a:rPr lang="en-US" u="sng" dirty="0"/>
              <a:t>evaluate</a:t>
            </a:r>
            <a:r>
              <a:rPr lang="en-US" dirty="0"/>
              <a:t> multiple approaches</a:t>
            </a:r>
          </a:p>
          <a:p>
            <a:pPr lvl="1"/>
            <a:r>
              <a:rPr lang="en-US" dirty="0"/>
              <a:t>In order to diagnose and solve open-ended problems</a:t>
            </a:r>
          </a:p>
          <a:p>
            <a:r>
              <a:rPr lang="en-US" dirty="0"/>
              <a:t>PL4</a:t>
            </a:r>
          </a:p>
          <a:p>
            <a:pPr lvl="1"/>
            <a:r>
              <a:rPr lang="en-US" u="sng" dirty="0"/>
              <a:t>Create</a:t>
            </a:r>
            <a:r>
              <a:rPr lang="en-US" dirty="0"/>
              <a:t> novel solutions </a:t>
            </a:r>
          </a:p>
          <a:p>
            <a:pPr lvl="1"/>
            <a:r>
              <a:rPr lang="en-US" dirty="0"/>
              <a:t>Foresee and forestall problems</a:t>
            </a:r>
          </a:p>
        </p:txBody>
      </p:sp>
      <p:sp>
        <p:nvSpPr>
          <p:cNvPr id="9" name="TextBox 8">
            <a:extLst>
              <a:ext uri="{FF2B5EF4-FFF2-40B4-BE49-F238E27FC236}">
                <a16:creationId xmlns:a16="http://schemas.microsoft.com/office/drawing/2014/main" id="{202EDE0A-B18A-40E9-B341-65A7F485A5B7}"/>
              </a:ext>
            </a:extLst>
          </p:cNvPr>
          <p:cNvSpPr txBox="1"/>
          <p:nvPr/>
        </p:nvSpPr>
        <p:spPr>
          <a:xfrm rot="16200000">
            <a:off x="71591" y="3017935"/>
            <a:ext cx="975909" cy="307777"/>
          </a:xfrm>
          <a:prstGeom prst="rect">
            <a:avLst/>
          </a:prstGeom>
          <a:noFill/>
        </p:spPr>
        <p:txBody>
          <a:bodyPr wrap="none" rtlCol="0">
            <a:spAutoFit/>
          </a:bodyPr>
          <a:lstStyle/>
          <a:p>
            <a:pPr algn="ctr"/>
            <a:r>
              <a:rPr lang="en-US" sz="1400" dirty="0">
                <a:solidFill>
                  <a:schemeClr val="accent2"/>
                </a:solidFill>
              </a:rPr>
              <a:t>Consultant</a:t>
            </a:r>
          </a:p>
        </p:txBody>
      </p:sp>
      <p:sp>
        <p:nvSpPr>
          <p:cNvPr id="10" name="Right Brace 9">
            <a:extLst>
              <a:ext uri="{FF2B5EF4-FFF2-40B4-BE49-F238E27FC236}">
                <a16:creationId xmlns:a16="http://schemas.microsoft.com/office/drawing/2014/main" id="{E3996477-1B91-4FCF-989D-C0515DBB86A4}"/>
              </a:ext>
            </a:extLst>
          </p:cNvPr>
          <p:cNvSpPr/>
          <p:nvPr/>
        </p:nvSpPr>
        <p:spPr>
          <a:xfrm rot="10800000">
            <a:off x="689916" y="3785128"/>
            <a:ext cx="148281" cy="955941"/>
          </a:xfrm>
          <a:prstGeom prst="rightBrace">
            <a:avLst>
              <a:gd name="adj1" fmla="val 53298"/>
              <a:gd name="adj2" fmla="val 50000"/>
            </a:avLst>
          </a:prstGeom>
          <a:ln w="1905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FBF31A09-9053-44B8-8F4E-AC26D7682BAC}"/>
              </a:ext>
            </a:extLst>
          </p:cNvPr>
          <p:cNvSpPr txBox="1"/>
          <p:nvPr/>
        </p:nvSpPr>
        <p:spPr>
          <a:xfrm rot="16200000">
            <a:off x="318624" y="4109209"/>
            <a:ext cx="434221" cy="307777"/>
          </a:xfrm>
          <a:prstGeom prst="rect">
            <a:avLst/>
          </a:prstGeom>
          <a:noFill/>
        </p:spPr>
        <p:txBody>
          <a:bodyPr wrap="none" rtlCol="0">
            <a:spAutoFit/>
          </a:bodyPr>
          <a:lstStyle/>
          <a:p>
            <a:pPr algn="ctr"/>
            <a:r>
              <a:rPr lang="en-US" sz="1400" dirty="0">
                <a:solidFill>
                  <a:schemeClr val="accent2"/>
                </a:solidFill>
              </a:rPr>
              <a:t>STS</a:t>
            </a:r>
          </a:p>
        </p:txBody>
      </p:sp>
      <p:sp>
        <p:nvSpPr>
          <p:cNvPr id="12" name="Right Brace 11">
            <a:extLst>
              <a:ext uri="{FF2B5EF4-FFF2-40B4-BE49-F238E27FC236}">
                <a16:creationId xmlns:a16="http://schemas.microsoft.com/office/drawing/2014/main" id="{747368AA-2870-4E39-8182-FAE3CBC369BE}"/>
              </a:ext>
            </a:extLst>
          </p:cNvPr>
          <p:cNvSpPr/>
          <p:nvPr/>
        </p:nvSpPr>
        <p:spPr>
          <a:xfrm rot="10800000">
            <a:off x="689915" y="2693852"/>
            <a:ext cx="148281" cy="955941"/>
          </a:xfrm>
          <a:prstGeom prst="rightBrace">
            <a:avLst>
              <a:gd name="adj1" fmla="val 53298"/>
              <a:gd name="adj2" fmla="val 50000"/>
            </a:avLst>
          </a:prstGeom>
          <a:ln w="1905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667447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DDB37-130D-4CD6-ACF0-0245D0C8A30D}"/>
              </a:ext>
            </a:extLst>
          </p:cNvPr>
          <p:cNvSpPr>
            <a:spLocks noGrp="1"/>
          </p:cNvSpPr>
          <p:nvPr>
            <p:ph type="title"/>
          </p:nvPr>
        </p:nvSpPr>
        <p:spPr/>
        <p:txBody>
          <a:bodyPr/>
          <a:lstStyle/>
          <a:p>
            <a:r>
              <a:rPr lang="en-US" dirty="0"/>
              <a:t>Consultant, focusing on statistical analysis</a:t>
            </a:r>
          </a:p>
        </p:txBody>
      </p:sp>
      <p:graphicFrame>
        <p:nvGraphicFramePr>
          <p:cNvPr id="19" name="Content Placeholder 18">
            <a:extLst>
              <a:ext uri="{FF2B5EF4-FFF2-40B4-BE49-F238E27FC236}">
                <a16:creationId xmlns:a16="http://schemas.microsoft.com/office/drawing/2014/main" id="{EC84B41E-73BC-4DDE-A8D1-389CDC33939F}"/>
              </a:ext>
            </a:extLst>
          </p:cNvPr>
          <p:cNvGraphicFramePr>
            <a:graphicFrameLocks noGrp="1"/>
          </p:cNvGraphicFramePr>
          <p:nvPr>
            <p:ph sz="half" idx="4294967295"/>
            <p:extLst>
              <p:ext uri="{D42A27DB-BD31-4B8C-83A1-F6EECF244321}">
                <p14:modId xmlns:p14="http://schemas.microsoft.com/office/powerpoint/2010/main" val="3966093623"/>
              </p:ext>
            </p:extLst>
          </p:nvPr>
        </p:nvGraphicFramePr>
        <p:xfrm>
          <a:off x="838199" y="1530050"/>
          <a:ext cx="10515599" cy="4785120"/>
        </p:xfrm>
        <a:graphic>
          <a:graphicData uri="http://schemas.openxmlformats.org/drawingml/2006/table">
            <a:tbl>
              <a:tblPr bandRow="1">
                <a:tableStyleId>{5940675A-B579-460E-94D1-54222C63F5DA}</a:tableStyleId>
              </a:tblPr>
              <a:tblGrid>
                <a:gridCol w="1636989">
                  <a:extLst>
                    <a:ext uri="{9D8B030D-6E8A-4147-A177-3AD203B41FA5}">
                      <a16:colId xmlns:a16="http://schemas.microsoft.com/office/drawing/2014/main" val="1767160022"/>
                    </a:ext>
                  </a:extLst>
                </a:gridCol>
                <a:gridCol w="4254334">
                  <a:extLst>
                    <a:ext uri="{9D8B030D-6E8A-4147-A177-3AD203B41FA5}">
                      <a16:colId xmlns:a16="http://schemas.microsoft.com/office/drawing/2014/main" val="1265866979"/>
                    </a:ext>
                  </a:extLst>
                </a:gridCol>
                <a:gridCol w="4624276">
                  <a:extLst>
                    <a:ext uri="{9D8B030D-6E8A-4147-A177-3AD203B41FA5}">
                      <a16:colId xmlns:a16="http://schemas.microsoft.com/office/drawing/2014/main" val="2168045576"/>
                    </a:ext>
                  </a:extLst>
                </a:gridCol>
              </a:tblGrid>
              <a:tr h="149139">
                <a:tc>
                  <a:txBody>
                    <a:bodyPr/>
                    <a:lstStyle/>
                    <a:p>
                      <a:pPr marL="45720" algn="l" fontAlgn="b"/>
                      <a:r>
                        <a:rPr lang="en-US" sz="1400" b="1" i="0" u="none" strike="noStrike" dirty="0">
                          <a:solidFill>
                            <a:schemeClr val="bg2">
                              <a:lumMod val="90000"/>
                            </a:schemeClr>
                          </a:solidFill>
                          <a:effectLst/>
                          <a:latin typeface="+mn-lt"/>
                        </a:rPr>
                        <a:t>After</a:t>
                      </a:r>
                    </a:p>
                  </a:txBody>
                  <a:tcPr marL="2007" marR="2007" marT="2007" marB="0">
                    <a:noFill/>
                  </a:tcPr>
                </a:tc>
                <a:tc>
                  <a:txBody>
                    <a:bodyPr/>
                    <a:lstStyle/>
                    <a:p>
                      <a:pPr marL="45720" algn="l" fontAlgn="b"/>
                      <a:r>
                        <a:rPr lang="en-US" sz="1400" b="1" u="none" strike="noStrike" dirty="0">
                          <a:effectLst/>
                          <a:latin typeface="+mn-lt"/>
                        </a:rPr>
                        <a:t>Proficiency Level 1</a:t>
                      </a:r>
                      <a:endParaRPr lang="en-US" sz="1400" b="1" i="0" u="none" strike="noStrike" dirty="0">
                        <a:solidFill>
                          <a:srgbClr val="000000"/>
                        </a:solidFill>
                        <a:effectLst/>
                        <a:latin typeface="+mn-lt"/>
                      </a:endParaRPr>
                    </a:p>
                  </a:txBody>
                  <a:tcPr marL="2007" marR="2007" marT="2007" marB="0">
                    <a:noFill/>
                  </a:tcPr>
                </a:tc>
                <a:tc>
                  <a:txBody>
                    <a:bodyPr/>
                    <a:lstStyle/>
                    <a:p>
                      <a:pPr marL="45720" algn="l" fontAlgn="b"/>
                      <a:r>
                        <a:rPr lang="en-US" sz="1400" b="1" u="none" strike="noStrike" dirty="0">
                          <a:effectLst/>
                          <a:latin typeface="+mn-lt"/>
                        </a:rPr>
                        <a:t>Proficiency Level 2</a:t>
                      </a:r>
                      <a:endParaRPr lang="en-US" sz="1400" b="1" i="0" u="none" strike="noStrike" dirty="0">
                        <a:solidFill>
                          <a:srgbClr val="000000"/>
                        </a:solidFill>
                        <a:effectLst/>
                        <a:latin typeface="+mn-lt"/>
                      </a:endParaRPr>
                    </a:p>
                  </a:txBody>
                  <a:tcPr marL="2007" marR="2007" marT="2007" marB="0">
                    <a:noFill/>
                  </a:tcPr>
                </a:tc>
                <a:extLst>
                  <a:ext uri="{0D108BD9-81ED-4DB2-BD59-A6C34878D82A}">
                    <a16:rowId xmlns:a16="http://schemas.microsoft.com/office/drawing/2014/main" val="576800897"/>
                  </a:ext>
                </a:extLst>
              </a:tr>
              <a:tr h="443724">
                <a:tc>
                  <a:txBody>
                    <a:bodyPr/>
                    <a:lstStyle/>
                    <a:p>
                      <a:pPr marL="45720" algn="l" fontAlgn="b"/>
                      <a:r>
                        <a:rPr lang="en-US" sz="1400" u="sng" strike="noStrike" dirty="0">
                          <a:effectLst/>
                          <a:latin typeface="+mn-lt"/>
                        </a:rPr>
                        <a:t>Data Project Design</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Understand a given problem statement for a data project. Adhere to the data science project lifecycle.</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Define/refine problem statements given a business requirement or question. Manage data projects over the entire lifecycle.</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extLst>
                  <a:ext uri="{0D108BD9-81ED-4DB2-BD59-A6C34878D82A}">
                    <a16:rowId xmlns:a16="http://schemas.microsoft.com/office/drawing/2014/main" val="950907207"/>
                  </a:ext>
                </a:extLst>
              </a:tr>
              <a:tr h="738308">
                <a:tc>
                  <a:txBody>
                    <a:bodyPr/>
                    <a:lstStyle/>
                    <a:p>
                      <a:pPr marL="45720" algn="l" fontAlgn="b"/>
                      <a:r>
                        <a:rPr lang="en-US" sz="1400" u="sng" strike="noStrike" dirty="0">
                          <a:effectLst/>
                          <a:latin typeface="+mn-lt"/>
                        </a:rPr>
                        <a:t>Exploratory Data Analysis</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Use analytical tools and techniques to discover the dataset's characteristics, patterns, trends, and outliers. Relate the findings from the data exploration to the data question(s).</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Develop and test hypotheses. Use advanced data wrangling techniques. Discover insights and identify potential areas for deep-dives. Evaluate the impact of anomalies, biases, and data truncation.</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extLst>
                  <a:ext uri="{0D108BD9-81ED-4DB2-BD59-A6C34878D82A}">
                    <a16:rowId xmlns:a16="http://schemas.microsoft.com/office/drawing/2014/main" val="1807733319"/>
                  </a:ext>
                </a:extLst>
              </a:tr>
              <a:tr h="885600">
                <a:tc>
                  <a:txBody>
                    <a:bodyPr/>
                    <a:lstStyle/>
                    <a:p>
                      <a:pPr marL="45720" algn="l" fontAlgn="b"/>
                      <a:r>
                        <a:rPr lang="en-US" sz="1400" u="sng" strike="noStrike" dirty="0">
                          <a:effectLst/>
                          <a:latin typeface="+mn-lt"/>
                        </a:rPr>
                        <a:t>Data Preparation</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Understand the dataset. Extract data for analysis. Understand common featurization techniques. Add a suitably detailed description and well-defined field descriptions to the data catalog.</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Find, ETL, and clean data. Enrich and/or augment data. Construct meaningful new features. Evaluate the impact of data imbalance, data cleaning, etc. to the overall analysis.</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extLst>
                  <a:ext uri="{0D108BD9-81ED-4DB2-BD59-A6C34878D82A}">
                    <a16:rowId xmlns:a16="http://schemas.microsoft.com/office/drawing/2014/main" val="3583020561"/>
                  </a:ext>
                </a:extLst>
              </a:tr>
              <a:tr h="738308">
                <a:tc>
                  <a:txBody>
                    <a:bodyPr/>
                    <a:lstStyle/>
                    <a:p>
                      <a:pPr marL="45720" algn="l" fontAlgn="b"/>
                      <a:r>
                        <a:rPr lang="en-US" sz="1400" u="sng" strike="noStrike" dirty="0">
                          <a:effectLst/>
                          <a:latin typeface="+mn-lt"/>
                        </a:rPr>
                        <a:t>Visualizations &amp; Data Storytelling</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Design and develop visualizations. Assess and select the best visualization to present the data / information. Understand and apply design principles and color theory to the visualizations.</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Design and develop clean and comprehensible visualizations. Help users to derive their own insights. Guide the thinking of problem owners and stakeholders.</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extLst>
                  <a:ext uri="{0D108BD9-81ED-4DB2-BD59-A6C34878D82A}">
                    <a16:rowId xmlns:a16="http://schemas.microsoft.com/office/drawing/2014/main" val="568758098"/>
                  </a:ext>
                </a:extLst>
              </a:tr>
              <a:tr h="443724">
                <a:tc>
                  <a:txBody>
                    <a:bodyPr/>
                    <a:lstStyle/>
                    <a:p>
                      <a:pPr marL="45720" algn="l" fontAlgn="b"/>
                      <a:r>
                        <a:rPr lang="en-US" sz="1400" u="sng" strike="noStrike" dirty="0">
                          <a:effectLst/>
                          <a:latin typeface="+mn-lt"/>
                        </a:rPr>
                        <a:t>Statistical Analysis</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Apply common statistical techniques using libraries. Create simple charts and graphs.</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Construct hypotheses, design experiments, perform significance testing. Answer questions or make forecasts.</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extLst>
                  <a:ext uri="{0D108BD9-81ED-4DB2-BD59-A6C34878D82A}">
                    <a16:rowId xmlns:a16="http://schemas.microsoft.com/office/drawing/2014/main" val="3197166467"/>
                  </a:ext>
                </a:extLst>
              </a:tr>
              <a:tr h="443724">
                <a:tc>
                  <a:txBody>
                    <a:bodyPr/>
                    <a:lstStyle/>
                    <a:p>
                      <a:pPr marL="45720" algn="l" fontAlgn="b"/>
                      <a:r>
                        <a:rPr lang="en-US" sz="1400" u="sng" strike="noStrike" dirty="0">
                          <a:effectLst/>
                          <a:latin typeface="+mn-lt"/>
                        </a:rPr>
                        <a:t>Machine Learning</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Use supervised and unsupervised ML models in commonly used libraries.</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tc>
                  <a:txBody>
                    <a:bodyPr/>
                    <a:lstStyle/>
                    <a:p>
                      <a:pPr marL="45720" algn="l" fontAlgn="b"/>
                      <a:r>
                        <a:rPr lang="en-US" sz="1400" u="none" strike="noStrike" dirty="0">
                          <a:effectLst/>
                          <a:latin typeface="+mn-lt"/>
                        </a:rPr>
                        <a:t>Ensure the test set has no leakage. Ensemble, regularize, tune, and evaluate models.</a:t>
                      </a:r>
                      <a:endParaRPr lang="en-US" sz="1400" b="0" i="0" u="none" strike="noStrike" dirty="0">
                        <a:solidFill>
                          <a:srgbClr val="000000"/>
                        </a:solidFill>
                        <a:effectLst/>
                        <a:latin typeface="+mn-lt"/>
                      </a:endParaRPr>
                    </a:p>
                  </a:txBody>
                  <a:tcPr marL="2007" marR="2007" marT="2007" marB="0">
                    <a:noFill/>
                  </a:tcPr>
                </a:tc>
                <a:extLst>
                  <a:ext uri="{0D108BD9-81ED-4DB2-BD59-A6C34878D82A}">
                    <a16:rowId xmlns:a16="http://schemas.microsoft.com/office/drawing/2014/main" val="869208051"/>
                  </a:ext>
                </a:extLst>
              </a:tr>
              <a:tr h="443724">
                <a:tc>
                  <a:txBody>
                    <a:bodyPr/>
                    <a:lstStyle/>
                    <a:p>
                      <a:pPr marL="45720" algn="l" fontAlgn="b"/>
                      <a:r>
                        <a:rPr lang="en-US" sz="1400" u="sng" strike="noStrike" dirty="0">
                          <a:effectLst/>
                          <a:latin typeface="+mn-lt"/>
                        </a:rPr>
                        <a:t>Specialization</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a:effectLst/>
                          <a:latin typeface="+mn-lt"/>
                        </a:rPr>
                        <a:t>NA</a:t>
                      </a:r>
                      <a:endParaRPr lang="en-US" sz="1400" b="0" i="0" u="none" strike="noStrike">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Perform research, describe shortlisted approaches, benchmark and test, explain choices.</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extLst>
                  <a:ext uri="{0D108BD9-81ED-4DB2-BD59-A6C34878D82A}">
                    <a16:rowId xmlns:a16="http://schemas.microsoft.com/office/drawing/2014/main" val="2456766578"/>
                  </a:ext>
                </a:extLst>
              </a:tr>
            </a:tbl>
          </a:graphicData>
        </a:graphic>
      </p:graphicFrame>
    </p:spTree>
    <p:extLst>
      <p:ext uri="{BB962C8B-B14F-4D97-AF65-F5344CB8AC3E}">
        <p14:creationId xmlns:p14="http://schemas.microsoft.com/office/powerpoint/2010/main" val="2377150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DDB37-130D-4CD6-ACF0-0245D0C8A30D}"/>
              </a:ext>
            </a:extLst>
          </p:cNvPr>
          <p:cNvSpPr>
            <a:spLocks noGrp="1"/>
          </p:cNvSpPr>
          <p:nvPr>
            <p:ph type="title"/>
          </p:nvPr>
        </p:nvSpPr>
        <p:spPr/>
        <p:txBody>
          <a:bodyPr/>
          <a:lstStyle/>
          <a:p>
            <a:r>
              <a:rPr lang="en-US" dirty="0"/>
              <a:t>Consultant, focusing on machine learning</a:t>
            </a:r>
          </a:p>
        </p:txBody>
      </p:sp>
      <p:graphicFrame>
        <p:nvGraphicFramePr>
          <p:cNvPr id="19" name="Content Placeholder 18">
            <a:extLst>
              <a:ext uri="{FF2B5EF4-FFF2-40B4-BE49-F238E27FC236}">
                <a16:creationId xmlns:a16="http://schemas.microsoft.com/office/drawing/2014/main" id="{EC84B41E-73BC-4DDE-A8D1-389CDC33939F}"/>
              </a:ext>
            </a:extLst>
          </p:cNvPr>
          <p:cNvGraphicFramePr>
            <a:graphicFrameLocks noGrp="1"/>
          </p:cNvGraphicFramePr>
          <p:nvPr>
            <p:ph sz="half" idx="4294967295"/>
            <p:extLst>
              <p:ext uri="{D42A27DB-BD31-4B8C-83A1-F6EECF244321}">
                <p14:modId xmlns:p14="http://schemas.microsoft.com/office/powerpoint/2010/main" val="2170598886"/>
              </p:ext>
            </p:extLst>
          </p:nvPr>
        </p:nvGraphicFramePr>
        <p:xfrm>
          <a:off x="838199" y="1530050"/>
          <a:ext cx="10515599" cy="4785120"/>
        </p:xfrm>
        <a:graphic>
          <a:graphicData uri="http://schemas.openxmlformats.org/drawingml/2006/table">
            <a:tbl>
              <a:tblPr bandRow="1">
                <a:tableStyleId>{5940675A-B579-460E-94D1-54222C63F5DA}</a:tableStyleId>
              </a:tblPr>
              <a:tblGrid>
                <a:gridCol w="1636989">
                  <a:extLst>
                    <a:ext uri="{9D8B030D-6E8A-4147-A177-3AD203B41FA5}">
                      <a16:colId xmlns:a16="http://schemas.microsoft.com/office/drawing/2014/main" val="1767160022"/>
                    </a:ext>
                  </a:extLst>
                </a:gridCol>
                <a:gridCol w="4254334">
                  <a:extLst>
                    <a:ext uri="{9D8B030D-6E8A-4147-A177-3AD203B41FA5}">
                      <a16:colId xmlns:a16="http://schemas.microsoft.com/office/drawing/2014/main" val="1265866979"/>
                    </a:ext>
                  </a:extLst>
                </a:gridCol>
                <a:gridCol w="4624276">
                  <a:extLst>
                    <a:ext uri="{9D8B030D-6E8A-4147-A177-3AD203B41FA5}">
                      <a16:colId xmlns:a16="http://schemas.microsoft.com/office/drawing/2014/main" val="2168045576"/>
                    </a:ext>
                  </a:extLst>
                </a:gridCol>
              </a:tblGrid>
              <a:tr h="149139">
                <a:tc>
                  <a:txBody>
                    <a:bodyPr/>
                    <a:lstStyle/>
                    <a:p>
                      <a:pPr marL="45720" algn="l" fontAlgn="b"/>
                      <a:r>
                        <a:rPr lang="en-US" sz="1400" b="1" i="0" u="none" strike="noStrike" dirty="0">
                          <a:solidFill>
                            <a:schemeClr val="bg2">
                              <a:lumMod val="90000"/>
                            </a:schemeClr>
                          </a:solidFill>
                          <a:effectLst/>
                          <a:latin typeface="+mn-lt"/>
                        </a:rPr>
                        <a:t>After</a:t>
                      </a:r>
                    </a:p>
                  </a:txBody>
                  <a:tcPr marL="2007" marR="2007" marT="2007" marB="0">
                    <a:noFill/>
                  </a:tcPr>
                </a:tc>
                <a:tc>
                  <a:txBody>
                    <a:bodyPr/>
                    <a:lstStyle/>
                    <a:p>
                      <a:pPr marL="45720" algn="l" fontAlgn="b"/>
                      <a:r>
                        <a:rPr lang="en-US" sz="1400" b="1" u="none" strike="noStrike" dirty="0">
                          <a:effectLst/>
                          <a:latin typeface="+mn-lt"/>
                        </a:rPr>
                        <a:t>Proficiency Level 1</a:t>
                      </a:r>
                      <a:endParaRPr lang="en-US" sz="1400" b="1" i="0" u="none" strike="noStrike" dirty="0">
                        <a:solidFill>
                          <a:srgbClr val="000000"/>
                        </a:solidFill>
                        <a:effectLst/>
                        <a:latin typeface="+mn-lt"/>
                      </a:endParaRPr>
                    </a:p>
                  </a:txBody>
                  <a:tcPr marL="2007" marR="2007" marT="2007" marB="0">
                    <a:noFill/>
                  </a:tcPr>
                </a:tc>
                <a:tc>
                  <a:txBody>
                    <a:bodyPr/>
                    <a:lstStyle/>
                    <a:p>
                      <a:pPr marL="45720" algn="l" fontAlgn="b"/>
                      <a:r>
                        <a:rPr lang="en-US" sz="1400" b="1" u="none" strike="noStrike" dirty="0">
                          <a:effectLst/>
                          <a:latin typeface="+mn-lt"/>
                        </a:rPr>
                        <a:t>Proficiency Level 2</a:t>
                      </a:r>
                      <a:endParaRPr lang="en-US" sz="1400" b="1" i="0" u="none" strike="noStrike" dirty="0">
                        <a:solidFill>
                          <a:srgbClr val="000000"/>
                        </a:solidFill>
                        <a:effectLst/>
                        <a:latin typeface="+mn-lt"/>
                      </a:endParaRPr>
                    </a:p>
                  </a:txBody>
                  <a:tcPr marL="2007" marR="2007" marT="2007" marB="0">
                    <a:noFill/>
                  </a:tcPr>
                </a:tc>
                <a:extLst>
                  <a:ext uri="{0D108BD9-81ED-4DB2-BD59-A6C34878D82A}">
                    <a16:rowId xmlns:a16="http://schemas.microsoft.com/office/drawing/2014/main" val="576800897"/>
                  </a:ext>
                </a:extLst>
              </a:tr>
              <a:tr h="443724">
                <a:tc>
                  <a:txBody>
                    <a:bodyPr/>
                    <a:lstStyle/>
                    <a:p>
                      <a:pPr marL="45720" algn="l" fontAlgn="b"/>
                      <a:r>
                        <a:rPr lang="en-US" sz="1400" u="sng" strike="noStrike" dirty="0">
                          <a:effectLst/>
                          <a:latin typeface="+mn-lt"/>
                        </a:rPr>
                        <a:t>Data Project Design</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Understand a given problem statement for a data project. Adhere to the data science project lifecycle.</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Define/refine problem statements given a business requirement or question. Manage data projects over the entire lifecycle.</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extLst>
                  <a:ext uri="{0D108BD9-81ED-4DB2-BD59-A6C34878D82A}">
                    <a16:rowId xmlns:a16="http://schemas.microsoft.com/office/drawing/2014/main" val="950907207"/>
                  </a:ext>
                </a:extLst>
              </a:tr>
              <a:tr h="738308">
                <a:tc>
                  <a:txBody>
                    <a:bodyPr/>
                    <a:lstStyle/>
                    <a:p>
                      <a:pPr marL="45720" algn="l" fontAlgn="b"/>
                      <a:r>
                        <a:rPr lang="en-US" sz="1400" u="sng" strike="noStrike" dirty="0">
                          <a:effectLst/>
                          <a:latin typeface="+mn-lt"/>
                        </a:rPr>
                        <a:t>Exploratory Data Analysis</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Use analytical tools and techniques to discover the dataset's characteristics, patterns, trends, and outliers. Relate the findings from the data exploration to the data question(s).</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Develop and test hypotheses. Use advanced data wrangling techniques. Discover insights and identify potential areas for deep-dives. Evaluate the impact of anomalies, biases, and data truncation.</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extLst>
                  <a:ext uri="{0D108BD9-81ED-4DB2-BD59-A6C34878D82A}">
                    <a16:rowId xmlns:a16="http://schemas.microsoft.com/office/drawing/2014/main" val="1807733319"/>
                  </a:ext>
                </a:extLst>
              </a:tr>
              <a:tr h="885600">
                <a:tc>
                  <a:txBody>
                    <a:bodyPr/>
                    <a:lstStyle/>
                    <a:p>
                      <a:pPr marL="45720" algn="l" fontAlgn="b"/>
                      <a:r>
                        <a:rPr lang="en-US" sz="1400" u="sng" strike="noStrike" dirty="0">
                          <a:effectLst/>
                          <a:latin typeface="+mn-lt"/>
                        </a:rPr>
                        <a:t>Data Preparation</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Understand the dataset. Extract data for analysis. Understand common featurization techniques. Add a suitably detailed description and well-defined field descriptions to the data catalog.</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Find, ETL, and clean data. Enrich and/or augment data. Construct meaningful new features. Evaluate the impact of data imbalance, data cleaning, etc. to the overall analysis.</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extLst>
                  <a:ext uri="{0D108BD9-81ED-4DB2-BD59-A6C34878D82A}">
                    <a16:rowId xmlns:a16="http://schemas.microsoft.com/office/drawing/2014/main" val="3583020561"/>
                  </a:ext>
                </a:extLst>
              </a:tr>
              <a:tr h="738308">
                <a:tc>
                  <a:txBody>
                    <a:bodyPr/>
                    <a:lstStyle/>
                    <a:p>
                      <a:pPr marL="45720" algn="l" fontAlgn="b"/>
                      <a:r>
                        <a:rPr lang="en-US" sz="1400" u="sng" strike="noStrike" dirty="0">
                          <a:effectLst/>
                          <a:latin typeface="+mn-lt"/>
                        </a:rPr>
                        <a:t>Visualizations &amp; Data Storytelling</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Design and develop visualizations. Assess and select the best visualization to present the data / information. Understand and apply design principles and color theory to the visualizations.</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Design and develop clean and comprehensible visualizations. Help users to derive their own insights. Guide the thinking of problem owners and stakeholders.</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extLst>
                  <a:ext uri="{0D108BD9-81ED-4DB2-BD59-A6C34878D82A}">
                    <a16:rowId xmlns:a16="http://schemas.microsoft.com/office/drawing/2014/main" val="568758098"/>
                  </a:ext>
                </a:extLst>
              </a:tr>
              <a:tr h="443724">
                <a:tc>
                  <a:txBody>
                    <a:bodyPr/>
                    <a:lstStyle/>
                    <a:p>
                      <a:pPr marL="45720" algn="l" fontAlgn="b"/>
                      <a:r>
                        <a:rPr lang="en-US" sz="1400" u="sng" strike="noStrike" dirty="0">
                          <a:effectLst/>
                          <a:latin typeface="+mn-lt"/>
                        </a:rPr>
                        <a:t>Statistical Analysis</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Apply common statistical techniques using libraries. Create simple charts and graphs.</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tc>
                  <a:txBody>
                    <a:bodyPr/>
                    <a:lstStyle/>
                    <a:p>
                      <a:pPr marL="45720" algn="l" fontAlgn="b"/>
                      <a:r>
                        <a:rPr lang="en-US" sz="1400" u="none" strike="noStrike" dirty="0">
                          <a:effectLst/>
                          <a:latin typeface="+mn-lt"/>
                        </a:rPr>
                        <a:t>Construct hypotheses, design experiments, perform significance testing. Answer questions or make forecasts.</a:t>
                      </a:r>
                      <a:endParaRPr lang="en-US" sz="1400" b="0" i="0" u="none" strike="noStrike" dirty="0">
                        <a:solidFill>
                          <a:srgbClr val="000000"/>
                        </a:solidFill>
                        <a:effectLst/>
                        <a:latin typeface="+mn-lt"/>
                      </a:endParaRPr>
                    </a:p>
                  </a:txBody>
                  <a:tcPr marL="2007" marR="2007" marT="2007" marB="0">
                    <a:noFill/>
                  </a:tcPr>
                </a:tc>
                <a:extLst>
                  <a:ext uri="{0D108BD9-81ED-4DB2-BD59-A6C34878D82A}">
                    <a16:rowId xmlns:a16="http://schemas.microsoft.com/office/drawing/2014/main" val="3197166467"/>
                  </a:ext>
                </a:extLst>
              </a:tr>
              <a:tr h="443724">
                <a:tc>
                  <a:txBody>
                    <a:bodyPr/>
                    <a:lstStyle/>
                    <a:p>
                      <a:pPr marL="45720" algn="l" fontAlgn="b"/>
                      <a:r>
                        <a:rPr lang="en-US" sz="1400" u="sng" strike="noStrike" dirty="0">
                          <a:effectLst/>
                          <a:latin typeface="+mn-lt"/>
                        </a:rPr>
                        <a:t>Machine Learning</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Use supervised and unsupervised ML models in commonly used libraries.</a:t>
                      </a:r>
                      <a:endParaRPr lang="en-US" sz="1400" b="0" i="0" u="none"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Ensure the test set has no leakage. Ensemble, regularize, tune, and evaluate models.</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extLst>
                  <a:ext uri="{0D108BD9-81ED-4DB2-BD59-A6C34878D82A}">
                    <a16:rowId xmlns:a16="http://schemas.microsoft.com/office/drawing/2014/main" val="869208051"/>
                  </a:ext>
                </a:extLst>
              </a:tr>
              <a:tr h="443724">
                <a:tc>
                  <a:txBody>
                    <a:bodyPr/>
                    <a:lstStyle/>
                    <a:p>
                      <a:pPr marL="45720" algn="l" fontAlgn="b"/>
                      <a:r>
                        <a:rPr lang="en-US" sz="1400" u="sng" strike="noStrike" dirty="0">
                          <a:effectLst/>
                          <a:latin typeface="+mn-lt"/>
                        </a:rPr>
                        <a:t>Specialization</a:t>
                      </a:r>
                      <a:endParaRPr lang="en-US" sz="1400" b="0" i="0" u="sng" strike="noStrike" dirty="0">
                        <a:solidFill>
                          <a:srgbClr val="000000"/>
                        </a:solidFill>
                        <a:effectLst/>
                        <a:latin typeface="+mn-lt"/>
                      </a:endParaRPr>
                    </a:p>
                  </a:txBody>
                  <a:tcPr marL="2007" marR="2007" marT="2007" marB="0">
                    <a:noFill/>
                  </a:tcPr>
                </a:tc>
                <a:tc>
                  <a:txBody>
                    <a:bodyPr/>
                    <a:lstStyle/>
                    <a:p>
                      <a:pPr marL="45720" algn="l" fontAlgn="b"/>
                      <a:r>
                        <a:rPr lang="en-US" sz="1400" u="none" strike="noStrike">
                          <a:effectLst/>
                          <a:latin typeface="+mn-lt"/>
                        </a:rPr>
                        <a:t>NA</a:t>
                      </a:r>
                      <a:endParaRPr lang="en-US" sz="1400" b="0" i="0" u="none" strike="noStrike">
                        <a:solidFill>
                          <a:srgbClr val="000000"/>
                        </a:solidFill>
                        <a:effectLst/>
                        <a:latin typeface="+mn-lt"/>
                      </a:endParaRPr>
                    </a:p>
                  </a:txBody>
                  <a:tcPr marL="2007" marR="2007" marT="2007" marB="0">
                    <a:noFill/>
                  </a:tcPr>
                </a:tc>
                <a:tc>
                  <a:txBody>
                    <a:bodyPr/>
                    <a:lstStyle/>
                    <a:p>
                      <a:pPr marL="45720" algn="l" fontAlgn="b"/>
                      <a:r>
                        <a:rPr lang="en-US" sz="1400" u="none" strike="noStrike" dirty="0">
                          <a:effectLst/>
                          <a:latin typeface="+mn-lt"/>
                        </a:rPr>
                        <a:t>Perform research, describe shortlisted approaches, benchmark and test, explain choices.</a:t>
                      </a:r>
                      <a:endParaRPr lang="en-US" sz="1400" b="0" i="0" u="none" strike="noStrike" dirty="0">
                        <a:solidFill>
                          <a:srgbClr val="000000"/>
                        </a:solidFill>
                        <a:effectLst/>
                        <a:latin typeface="+mn-lt"/>
                      </a:endParaRPr>
                    </a:p>
                  </a:txBody>
                  <a:tcPr marL="2007" marR="2007" marT="2007" marB="0">
                    <a:solidFill>
                      <a:schemeClr val="accent4">
                        <a:lumMod val="20000"/>
                        <a:lumOff val="80000"/>
                      </a:schemeClr>
                    </a:solidFill>
                  </a:tcPr>
                </a:tc>
                <a:extLst>
                  <a:ext uri="{0D108BD9-81ED-4DB2-BD59-A6C34878D82A}">
                    <a16:rowId xmlns:a16="http://schemas.microsoft.com/office/drawing/2014/main" val="2456766578"/>
                  </a:ext>
                </a:extLst>
              </a:tr>
            </a:tbl>
          </a:graphicData>
        </a:graphic>
      </p:graphicFrame>
    </p:spTree>
    <p:extLst>
      <p:ext uri="{BB962C8B-B14F-4D97-AF65-F5344CB8AC3E}">
        <p14:creationId xmlns:p14="http://schemas.microsoft.com/office/powerpoint/2010/main" val="2077676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986AD-1156-4BB4-9ACC-80FBBF6B296B}"/>
              </a:ext>
            </a:extLst>
          </p:cNvPr>
          <p:cNvSpPr>
            <a:spLocks noGrp="1"/>
          </p:cNvSpPr>
          <p:nvPr>
            <p:ph type="title"/>
          </p:nvPr>
        </p:nvSpPr>
        <p:spPr>
          <a:xfrm>
            <a:off x="838200" y="204487"/>
            <a:ext cx="10515600" cy="1325563"/>
          </a:xfrm>
        </p:spPr>
        <p:txBody>
          <a:bodyPr/>
          <a:lstStyle/>
          <a:p>
            <a:r>
              <a:rPr lang="en-US" dirty="0"/>
              <a:t>We also inherit competencies from SEA</a:t>
            </a:r>
          </a:p>
        </p:txBody>
      </p:sp>
      <p:sp>
        <p:nvSpPr>
          <p:cNvPr id="3" name="Content Placeholder 2">
            <a:extLst>
              <a:ext uri="{FF2B5EF4-FFF2-40B4-BE49-F238E27FC236}">
                <a16:creationId xmlns:a16="http://schemas.microsoft.com/office/drawing/2014/main" id="{ED0B4A19-6D2E-4136-BC6B-ED2CC37384C6}"/>
              </a:ext>
            </a:extLst>
          </p:cNvPr>
          <p:cNvSpPr>
            <a:spLocks noGrp="1"/>
          </p:cNvSpPr>
          <p:nvPr>
            <p:ph idx="1"/>
          </p:nvPr>
        </p:nvSpPr>
        <p:spPr>
          <a:xfrm>
            <a:off x="838200" y="1530050"/>
            <a:ext cx="10515600" cy="4646913"/>
          </a:xfrm>
        </p:spPr>
        <p:txBody>
          <a:bodyPr/>
          <a:lstStyle/>
          <a:p>
            <a:r>
              <a:rPr lang="en-US" dirty="0"/>
              <a:t>Technical Leadership </a:t>
            </a:r>
            <a:r>
              <a:rPr lang="en-US" dirty="0">
                <a:solidFill>
                  <a:schemeClr val="bg2">
                    <a:lumMod val="75000"/>
                  </a:schemeClr>
                </a:solidFill>
              </a:rPr>
              <a:t>(only for STS and above)</a:t>
            </a:r>
          </a:p>
          <a:p>
            <a:r>
              <a:rPr lang="en-US" dirty="0"/>
              <a:t>Community Contribution</a:t>
            </a:r>
          </a:p>
        </p:txBody>
      </p:sp>
    </p:spTree>
    <p:extLst>
      <p:ext uri="{BB962C8B-B14F-4D97-AF65-F5344CB8AC3E}">
        <p14:creationId xmlns:p14="http://schemas.microsoft.com/office/powerpoint/2010/main" val="1830022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8B6A8-62D2-4270-B370-B1F45F2A9434}"/>
              </a:ext>
            </a:extLst>
          </p:cNvPr>
          <p:cNvSpPr>
            <a:spLocks noGrp="1"/>
          </p:cNvSpPr>
          <p:nvPr>
            <p:ph type="title"/>
          </p:nvPr>
        </p:nvSpPr>
        <p:spPr>
          <a:xfrm>
            <a:off x="838200" y="204487"/>
            <a:ext cx="10515600" cy="1325563"/>
          </a:xfrm>
        </p:spPr>
        <p:txBody>
          <a:bodyPr/>
          <a:lstStyle/>
          <a:p>
            <a:r>
              <a:rPr lang="en-US"/>
              <a:t>PLs for leadership/community competencies</a:t>
            </a:r>
            <a:endParaRPr lang="en-US" dirty="0"/>
          </a:p>
        </p:txBody>
      </p:sp>
      <p:sp>
        <p:nvSpPr>
          <p:cNvPr id="3" name="Content Placeholder 2">
            <a:extLst>
              <a:ext uri="{FF2B5EF4-FFF2-40B4-BE49-F238E27FC236}">
                <a16:creationId xmlns:a16="http://schemas.microsoft.com/office/drawing/2014/main" id="{AD3B7D3F-5BFA-47E6-9092-21EF18BFD50E}"/>
              </a:ext>
            </a:extLst>
          </p:cNvPr>
          <p:cNvSpPr>
            <a:spLocks noGrp="1"/>
          </p:cNvSpPr>
          <p:nvPr>
            <p:ph idx="1"/>
          </p:nvPr>
        </p:nvSpPr>
        <p:spPr>
          <a:xfrm>
            <a:off x="838200" y="1530050"/>
            <a:ext cx="10515600" cy="4646913"/>
          </a:xfrm>
        </p:spPr>
        <p:txBody>
          <a:bodyPr>
            <a:normAutofit fontScale="92500" lnSpcReduction="10000"/>
          </a:bodyPr>
          <a:lstStyle/>
          <a:p>
            <a:r>
              <a:rPr lang="en-US" dirty="0"/>
              <a:t>PL2</a:t>
            </a:r>
          </a:p>
          <a:p>
            <a:pPr lvl="1"/>
            <a:r>
              <a:rPr lang="en-US" strike="sngStrike" dirty="0">
                <a:solidFill>
                  <a:schemeClr val="bg2">
                    <a:lumMod val="75000"/>
                  </a:schemeClr>
                </a:solidFill>
              </a:rPr>
              <a:t>Guide new officers in your </a:t>
            </a:r>
            <a:r>
              <a:rPr lang="en-US" u="sng" strike="sngStrike" dirty="0">
                <a:solidFill>
                  <a:schemeClr val="bg2">
                    <a:lumMod val="75000"/>
                  </a:schemeClr>
                </a:solidFill>
              </a:rPr>
              <a:t>team</a:t>
            </a:r>
            <a:r>
              <a:rPr lang="en-US" dirty="0">
                <a:solidFill>
                  <a:schemeClr val="bg2">
                    <a:lumMod val="75000"/>
                  </a:schemeClr>
                </a:solidFill>
              </a:rPr>
              <a:t> (not a requirement for SEA)</a:t>
            </a:r>
          </a:p>
          <a:p>
            <a:pPr lvl="1"/>
            <a:r>
              <a:rPr lang="en-US" dirty="0"/>
              <a:t>Provide technical assistance, support, or consultation</a:t>
            </a:r>
          </a:p>
          <a:p>
            <a:pPr lvl="1"/>
            <a:r>
              <a:rPr lang="en-US" u="sng" dirty="0"/>
              <a:t>Participate</a:t>
            </a:r>
            <a:r>
              <a:rPr lang="en-US" dirty="0"/>
              <a:t> in the wider tech community</a:t>
            </a:r>
          </a:p>
          <a:p>
            <a:r>
              <a:rPr lang="en-US" dirty="0"/>
              <a:t>PL3</a:t>
            </a:r>
          </a:p>
          <a:p>
            <a:pPr lvl="1"/>
            <a:r>
              <a:rPr lang="en-US" dirty="0"/>
              <a:t>Coach, mentor, and facilitate within your </a:t>
            </a:r>
            <a:r>
              <a:rPr lang="en-US" u="sng" dirty="0"/>
              <a:t>section</a:t>
            </a:r>
          </a:p>
          <a:p>
            <a:pPr lvl="1"/>
            <a:r>
              <a:rPr lang="en-US" dirty="0"/>
              <a:t>Make solid technical recommendations (that your group</a:t>
            </a:r>
            <a:r>
              <a:rPr lang="en-US" dirty="0">
                <a:solidFill>
                  <a:schemeClr val="bg2">
                    <a:lumMod val="75000"/>
                  </a:schemeClr>
                </a:solidFill>
              </a:rPr>
              <a:t>*</a:t>
            </a:r>
            <a:r>
              <a:rPr lang="en-US" dirty="0"/>
              <a:t> adopts)</a:t>
            </a:r>
          </a:p>
          <a:p>
            <a:pPr lvl="1"/>
            <a:r>
              <a:rPr lang="en-US" u="sng" dirty="0"/>
              <a:t>Actively contribute</a:t>
            </a:r>
            <a:r>
              <a:rPr lang="en-US" dirty="0"/>
              <a:t> to the wider tech community</a:t>
            </a:r>
          </a:p>
          <a:p>
            <a:r>
              <a:rPr lang="en-US" dirty="0"/>
              <a:t>PL4</a:t>
            </a:r>
          </a:p>
          <a:p>
            <a:pPr lvl="1"/>
            <a:r>
              <a:rPr lang="en-US" dirty="0"/>
              <a:t>Provide technical oversight within your </a:t>
            </a:r>
            <a:r>
              <a:rPr lang="en-US" u="sng" dirty="0"/>
              <a:t>cluster/</a:t>
            </a:r>
            <a:r>
              <a:rPr lang="en-US" u="sng" dirty="0" err="1"/>
              <a:t>dte</a:t>
            </a:r>
            <a:endParaRPr lang="en-US" u="sng" dirty="0"/>
          </a:p>
          <a:p>
            <a:pPr lvl="1"/>
            <a:r>
              <a:rPr lang="en-US" dirty="0"/>
              <a:t>Provide trusted advice to senior management</a:t>
            </a:r>
          </a:p>
          <a:p>
            <a:pPr lvl="1"/>
            <a:r>
              <a:rPr lang="en-US" u="sng" dirty="0"/>
              <a:t>Take up leadership roles</a:t>
            </a:r>
            <a:r>
              <a:rPr lang="en-US" dirty="0"/>
              <a:t> in the wider tech community</a:t>
            </a:r>
          </a:p>
          <a:p>
            <a:pPr lvl="1"/>
            <a:r>
              <a:rPr lang="en-US" dirty="0"/>
              <a:t>Leverage academia or the industry for technical collaboration or talent outreach</a:t>
            </a:r>
          </a:p>
        </p:txBody>
      </p:sp>
      <p:sp>
        <p:nvSpPr>
          <p:cNvPr id="5" name="TextBox 4">
            <a:extLst>
              <a:ext uri="{FF2B5EF4-FFF2-40B4-BE49-F238E27FC236}">
                <a16:creationId xmlns:a16="http://schemas.microsoft.com/office/drawing/2014/main" id="{35C3188D-5CBE-4C9D-9761-64CA6DF65D93}"/>
              </a:ext>
            </a:extLst>
          </p:cNvPr>
          <p:cNvSpPr txBox="1"/>
          <p:nvPr/>
        </p:nvSpPr>
        <p:spPr>
          <a:xfrm>
            <a:off x="7559886" y="6522407"/>
            <a:ext cx="4546600" cy="261610"/>
          </a:xfrm>
          <a:prstGeom prst="rect">
            <a:avLst/>
          </a:prstGeom>
          <a:noFill/>
        </p:spPr>
        <p:txBody>
          <a:bodyPr wrap="square">
            <a:spAutoFit/>
          </a:bodyPr>
          <a:lstStyle/>
          <a:p>
            <a:r>
              <a:rPr lang="en-US" sz="1100" dirty="0">
                <a:solidFill>
                  <a:schemeClr val="bg2">
                    <a:lumMod val="75000"/>
                  </a:schemeClr>
                </a:solidFill>
              </a:rPr>
              <a:t>* SEA framework does not specify whether “group” refers to team or section</a:t>
            </a:r>
          </a:p>
        </p:txBody>
      </p:sp>
      <p:sp>
        <p:nvSpPr>
          <p:cNvPr id="9" name="TextBox 8">
            <a:extLst>
              <a:ext uri="{FF2B5EF4-FFF2-40B4-BE49-F238E27FC236}">
                <a16:creationId xmlns:a16="http://schemas.microsoft.com/office/drawing/2014/main" id="{AE973BF3-428A-4DD6-9381-5EF0BCA7343C}"/>
              </a:ext>
            </a:extLst>
          </p:cNvPr>
          <p:cNvSpPr txBox="1"/>
          <p:nvPr/>
        </p:nvSpPr>
        <p:spPr>
          <a:xfrm rot="16200000">
            <a:off x="71591" y="2093697"/>
            <a:ext cx="975909" cy="307777"/>
          </a:xfrm>
          <a:prstGeom prst="rect">
            <a:avLst/>
          </a:prstGeom>
          <a:noFill/>
        </p:spPr>
        <p:txBody>
          <a:bodyPr wrap="none" rtlCol="0">
            <a:spAutoFit/>
          </a:bodyPr>
          <a:lstStyle/>
          <a:p>
            <a:pPr algn="ctr"/>
            <a:r>
              <a:rPr lang="en-US" sz="1400" dirty="0">
                <a:solidFill>
                  <a:schemeClr val="accent2"/>
                </a:solidFill>
              </a:rPr>
              <a:t>Consultant</a:t>
            </a:r>
          </a:p>
        </p:txBody>
      </p:sp>
      <p:sp>
        <p:nvSpPr>
          <p:cNvPr id="10" name="Right Brace 9">
            <a:extLst>
              <a:ext uri="{FF2B5EF4-FFF2-40B4-BE49-F238E27FC236}">
                <a16:creationId xmlns:a16="http://schemas.microsoft.com/office/drawing/2014/main" id="{2FD5EFED-B160-40D9-87CC-1BB2647FDD1A}"/>
              </a:ext>
            </a:extLst>
          </p:cNvPr>
          <p:cNvSpPr/>
          <p:nvPr/>
        </p:nvSpPr>
        <p:spPr>
          <a:xfrm rot="10800000">
            <a:off x="689621" y="3021434"/>
            <a:ext cx="148281" cy="1335541"/>
          </a:xfrm>
          <a:prstGeom prst="rightBrace">
            <a:avLst>
              <a:gd name="adj1" fmla="val 53298"/>
              <a:gd name="adj2" fmla="val 50000"/>
            </a:avLst>
          </a:prstGeom>
          <a:ln w="1905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7921FB27-564B-4160-BF67-6369D568F450}"/>
              </a:ext>
            </a:extLst>
          </p:cNvPr>
          <p:cNvSpPr txBox="1"/>
          <p:nvPr/>
        </p:nvSpPr>
        <p:spPr>
          <a:xfrm rot="16200000">
            <a:off x="318623" y="3535315"/>
            <a:ext cx="434221" cy="307777"/>
          </a:xfrm>
          <a:prstGeom prst="rect">
            <a:avLst/>
          </a:prstGeom>
          <a:noFill/>
        </p:spPr>
        <p:txBody>
          <a:bodyPr wrap="none" rtlCol="0">
            <a:spAutoFit/>
          </a:bodyPr>
          <a:lstStyle/>
          <a:p>
            <a:pPr algn="ctr"/>
            <a:r>
              <a:rPr lang="en-US" sz="1400" dirty="0">
                <a:solidFill>
                  <a:schemeClr val="accent2"/>
                </a:solidFill>
              </a:rPr>
              <a:t>STS</a:t>
            </a:r>
          </a:p>
        </p:txBody>
      </p:sp>
      <p:sp>
        <p:nvSpPr>
          <p:cNvPr id="12" name="Right Brace 11">
            <a:extLst>
              <a:ext uri="{FF2B5EF4-FFF2-40B4-BE49-F238E27FC236}">
                <a16:creationId xmlns:a16="http://schemas.microsoft.com/office/drawing/2014/main" id="{70261B8A-C1A1-4CDC-B7E8-5B41C378350F}"/>
              </a:ext>
            </a:extLst>
          </p:cNvPr>
          <p:cNvSpPr/>
          <p:nvPr/>
        </p:nvSpPr>
        <p:spPr>
          <a:xfrm rot="10800000">
            <a:off x="689913" y="1579815"/>
            <a:ext cx="148281" cy="1335543"/>
          </a:xfrm>
          <a:prstGeom prst="rightBrace">
            <a:avLst>
              <a:gd name="adj1" fmla="val 53298"/>
              <a:gd name="adj2" fmla="val 50000"/>
            </a:avLst>
          </a:prstGeom>
          <a:ln w="1905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8848E4E4-38FB-4A8F-8777-6C07D3853490}"/>
              </a:ext>
            </a:extLst>
          </p:cNvPr>
          <p:cNvSpPr/>
          <p:nvPr/>
        </p:nvSpPr>
        <p:spPr>
          <a:xfrm rot="10800000">
            <a:off x="689620" y="4463049"/>
            <a:ext cx="148281" cy="1621044"/>
          </a:xfrm>
          <a:prstGeom prst="rightBrace">
            <a:avLst>
              <a:gd name="adj1" fmla="val 53298"/>
              <a:gd name="adj2" fmla="val 50000"/>
            </a:avLst>
          </a:prstGeom>
          <a:ln w="1905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DC5DB873-14CD-4A0E-97D8-96E94D47D601}"/>
              </a:ext>
            </a:extLst>
          </p:cNvPr>
          <p:cNvSpPr txBox="1"/>
          <p:nvPr/>
        </p:nvSpPr>
        <p:spPr>
          <a:xfrm rot="16200000">
            <a:off x="327793" y="5119682"/>
            <a:ext cx="415884" cy="307777"/>
          </a:xfrm>
          <a:prstGeom prst="rect">
            <a:avLst/>
          </a:prstGeom>
          <a:noFill/>
        </p:spPr>
        <p:txBody>
          <a:bodyPr wrap="none" rtlCol="0">
            <a:spAutoFit/>
          </a:bodyPr>
          <a:lstStyle/>
          <a:p>
            <a:pPr algn="ctr"/>
            <a:r>
              <a:rPr lang="en-US" sz="1400" dirty="0">
                <a:solidFill>
                  <a:schemeClr val="accent2"/>
                </a:solidFill>
              </a:rPr>
              <a:t>LTS</a:t>
            </a:r>
          </a:p>
        </p:txBody>
      </p:sp>
    </p:spTree>
    <p:extLst>
      <p:ext uri="{BB962C8B-B14F-4D97-AF65-F5344CB8AC3E}">
        <p14:creationId xmlns:p14="http://schemas.microsoft.com/office/powerpoint/2010/main" val="2835301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E864C-EDB7-4CE2-8E22-0D1FC6880C77}"/>
              </a:ext>
            </a:extLst>
          </p:cNvPr>
          <p:cNvSpPr>
            <a:spLocks noGrp="1"/>
          </p:cNvSpPr>
          <p:nvPr>
            <p:ph type="title"/>
          </p:nvPr>
        </p:nvSpPr>
        <p:spPr/>
        <p:txBody>
          <a:bodyPr/>
          <a:lstStyle/>
          <a:p>
            <a:r>
              <a:rPr lang="en-US" dirty="0"/>
              <a:t>Summarized overview</a:t>
            </a:r>
          </a:p>
        </p:txBody>
      </p:sp>
      <p:graphicFrame>
        <p:nvGraphicFramePr>
          <p:cNvPr id="12" name="Content Placeholder 11">
            <a:extLst>
              <a:ext uri="{FF2B5EF4-FFF2-40B4-BE49-F238E27FC236}">
                <a16:creationId xmlns:a16="http://schemas.microsoft.com/office/drawing/2014/main" id="{E7BAEA5E-4F59-4673-B23F-E6D865488A71}"/>
              </a:ext>
            </a:extLst>
          </p:cNvPr>
          <p:cNvGraphicFramePr>
            <a:graphicFrameLocks noGrp="1"/>
          </p:cNvGraphicFramePr>
          <p:nvPr>
            <p:ph idx="4294967295"/>
            <p:extLst>
              <p:ext uri="{D42A27DB-BD31-4B8C-83A1-F6EECF244321}">
                <p14:modId xmlns:p14="http://schemas.microsoft.com/office/powerpoint/2010/main" val="145007771"/>
              </p:ext>
            </p:extLst>
          </p:nvPr>
        </p:nvGraphicFramePr>
        <p:xfrm>
          <a:off x="1936878" y="2185671"/>
          <a:ext cx="8318244" cy="2924150"/>
        </p:xfrm>
        <a:graphic>
          <a:graphicData uri="http://schemas.openxmlformats.org/drawingml/2006/table">
            <a:tbl>
              <a:tblPr>
                <a:tableStyleId>{5940675A-B579-460E-94D1-54222C63F5DA}</a:tableStyleId>
              </a:tblPr>
              <a:tblGrid>
                <a:gridCol w="3169707">
                  <a:extLst>
                    <a:ext uri="{9D8B030D-6E8A-4147-A177-3AD203B41FA5}">
                      <a16:colId xmlns:a16="http://schemas.microsoft.com/office/drawing/2014/main" val="1244437194"/>
                    </a:ext>
                  </a:extLst>
                </a:gridCol>
                <a:gridCol w="1716179">
                  <a:extLst>
                    <a:ext uri="{9D8B030D-6E8A-4147-A177-3AD203B41FA5}">
                      <a16:colId xmlns:a16="http://schemas.microsoft.com/office/drawing/2014/main" val="2913466263"/>
                    </a:ext>
                  </a:extLst>
                </a:gridCol>
                <a:gridCol w="1716179">
                  <a:extLst>
                    <a:ext uri="{9D8B030D-6E8A-4147-A177-3AD203B41FA5}">
                      <a16:colId xmlns:a16="http://schemas.microsoft.com/office/drawing/2014/main" val="4053945279"/>
                    </a:ext>
                  </a:extLst>
                </a:gridCol>
                <a:gridCol w="1716179">
                  <a:extLst>
                    <a:ext uri="{9D8B030D-6E8A-4147-A177-3AD203B41FA5}">
                      <a16:colId xmlns:a16="http://schemas.microsoft.com/office/drawing/2014/main" val="28758067"/>
                    </a:ext>
                  </a:extLst>
                </a:gridCol>
              </a:tblGrid>
              <a:tr h="292415">
                <a:tc>
                  <a:txBody>
                    <a:bodyPr/>
                    <a:lstStyle/>
                    <a:p>
                      <a:pPr algn="ctr" fontAlgn="b"/>
                      <a:endParaRPr lang="en-US" sz="1600" b="0" i="0" u="none" strike="noStrike" dirty="0">
                        <a:solidFill>
                          <a:srgbClr val="000000"/>
                        </a:solidFill>
                        <a:effectLst/>
                        <a:latin typeface="Calibri" panose="020F0502020204030204" pitchFamily="34" charset="0"/>
                      </a:endParaRPr>
                    </a:p>
                  </a:txBody>
                  <a:tcPr marL="5150" marR="5150" marT="5150" marB="0" anchor="ctr"/>
                </a:tc>
                <a:tc>
                  <a:txBody>
                    <a:bodyPr/>
                    <a:lstStyle/>
                    <a:p>
                      <a:pPr algn="ctr" fontAlgn="b"/>
                      <a:r>
                        <a:rPr lang="en-US" sz="1600" b="1" u="none" strike="noStrike" dirty="0">
                          <a:effectLst/>
                        </a:rPr>
                        <a:t>Consultant </a:t>
                      </a:r>
                      <a:r>
                        <a:rPr lang="en-US" sz="1600" b="1" u="none" strike="noStrike" dirty="0">
                          <a:solidFill>
                            <a:schemeClr val="bg2">
                              <a:lumMod val="75000"/>
                            </a:schemeClr>
                          </a:solidFill>
                          <a:effectLst/>
                        </a:rPr>
                        <a:t>(JR11+)</a:t>
                      </a:r>
                      <a:endParaRPr lang="en-US" sz="1600" b="1" i="0" u="none" strike="noStrike" dirty="0">
                        <a:solidFill>
                          <a:schemeClr val="bg2">
                            <a:lumMod val="75000"/>
                          </a:schemeClr>
                        </a:solidFill>
                        <a:effectLst/>
                        <a:latin typeface="Calibri" panose="020F0502020204030204" pitchFamily="34" charset="0"/>
                      </a:endParaRPr>
                    </a:p>
                  </a:txBody>
                  <a:tcPr marL="5150" marR="5150" marT="5150" marB="0" anchor="ctr"/>
                </a:tc>
                <a:tc>
                  <a:txBody>
                    <a:bodyPr/>
                    <a:lstStyle/>
                    <a:p>
                      <a:pPr algn="ctr" fontAlgn="b"/>
                      <a:r>
                        <a:rPr lang="en-US" sz="1600" b="1" u="none" strike="noStrike" dirty="0">
                          <a:effectLst/>
                        </a:rPr>
                        <a:t>STS </a:t>
                      </a:r>
                      <a:r>
                        <a:rPr lang="en-US" sz="1600" b="1" u="none" strike="noStrike" dirty="0">
                          <a:solidFill>
                            <a:schemeClr val="bg2">
                              <a:lumMod val="75000"/>
                            </a:schemeClr>
                          </a:solidFill>
                          <a:effectLst/>
                        </a:rPr>
                        <a:t>(JR10)</a:t>
                      </a:r>
                      <a:endParaRPr lang="en-US" sz="1600" b="1" i="0" u="none" strike="noStrike" dirty="0">
                        <a:solidFill>
                          <a:schemeClr val="bg2">
                            <a:lumMod val="75000"/>
                          </a:schemeClr>
                        </a:solidFill>
                        <a:effectLst/>
                        <a:latin typeface="Calibri" panose="020F0502020204030204" pitchFamily="34" charset="0"/>
                      </a:endParaRPr>
                    </a:p>
                  </a:txBody>
                  <a:tcPr marL="5150" marR="5150" marT="5150" marB="0" anchor="ctr"/>
                </a:tc>
                <a:tc>
                  <a:txBody>
                    <a:bodyPr/>
                    <a:lstStyle/>
                    <a:p>
                      <a:pPr algn="ctr" fontAlgn="b"/>
                      <a:r>
                        <a:rPr lang="en-US" sz="1600" b="1" u="none" strike="noStrike" dirty="0">
                          <a:effectLst/>
                        </a:rPr>
                        <a:t>LTS </a:t>
                      </a:r>
                      <a:r>
                        <a:rPr lang="en-US" sz="1600" b="1" u="none" strike="noStrike" dirty="0">
                          <a:solidFill>
                            <a:schemeClr val="bg2">
                              <a:lumMod val="75000"/>
                            </a:schemeClr>
                          </a:solidFill>
                          <a:effectLst/>
                        </a:rPr>
                        <a:t>(JR9)</a:t>
                      </a:r>
                      <a:endParaRPr lang="en-US" sz="1600" b="1" i="0" u="none" strike="noStrike" dirty="0">
                        <a:solidFill>
                          <a:schemeClr val="bg2">
                            <a:lumMod val="75000"/>
                          </a:schemeClr>
                        </a:solidFill>
                        <a:effectLst/>
                        <a:latin typeface="Calibri" panose="020F0502020204030204" pitchFamily="34" charset="0"/>
                      </a:endParaRPr>
                    </a:p>
                  </a:txBody>
                  <a:tcPr marL="5150" marR="5150" marT="5150" marB="0" anchor="ctr"/>
                </a:tc>
                <a:extLst>
                  <a:ext uri="{0D108BD9-81ED-4DB2-BD59-A6C34878D82A}">
                    <a16:rowId xmlns:a16="http://schemas.microsoft.com/office/drawing/2014/main" val="1956171747"/>
                  </a:ext>
                </a:extLst>
              </a:tr>
              <a:tr h="292415">
                <a:tc>
                  <a:txBody>
                    <a:bodyPr/>
                    <a:lstStyle/>
                    <a:p>
                      <a:pPr algn="ctr" fontAlgn="b"/>
                      <a:r>
                        <a:rPr lang="en-US" dirty="0"/>
                        <a:t>Data Project Design</a:t>
                      </a:r>
                    </a:p>
                  </a:txBody>
                  <a:tcPr marL="5150" marR="5150" marT="5150" marB="0" anchor="ctr"/>
                </a:tc>
                <a:tc rowSpan="3">
                  <a:txBody>
                    <a:bodyPr/>
                    <a:lstStyle/>
                    <a:p>
                      <a:pPr algn="ctr" fontAlgn="b"/>
                      <a:r>
                        <a:rPr lang="en-US" sz="1600" u="none" strike="noStrike" dirty="0">
                          <a:effectLst/>
                        </a:rPr>
                        <a:t>PL2</a:t>
                      </a:r>
                      <a:endParaRPr lang="en-US" sz="1600" b="0" i="0" u="none" strike="noStrike" dirty="0">
                        <a:solidFill>
                          <a:srgbClr val="000000"/>
                        </a:solidFill>
                        <a:effectLst/>
                        <a:latin typeface="Calibri" panose="020F0502020204030204" pitchFamily="34" charset="0"/>
                      </a:endParaRPr>
                    </a:p>
                  </a:txBody>
                  <a:tcPr marL="5150" marR="5150" marT="5150" marB="0" anchor="ctr"/>
                </a:tc>
                <a:tc rowSpan="3" gridSpan="2">
                  <a:txBody>
                    <a:bodyPr/>
                    <a:lstStyle/>
                    <a:p>
                      <a:pPr algn="ctr" fontAlgn="b"/>
                      <a:r>
                        <a:rPr lang="en-US" sz="1600" u="none" strike="noStrike" dirty="0">
                          <a:effectLst/>
                        </a:rPr>
                        <a:t>PL3</a:t>
                      </a:r>
                      <a:endParaRPr lang="en-US" sz="1600" b="0" i="0" u="none" strike="noStrike" dirty="0">
                        <a:solidFill>
                          <a:srgbClr val="000000"/>
                        </a:solidFill>
                        <a:effectLst/>
                        <a:latin typeface="Calibri" panose="020F0502020204030204" pitchFamily="34" charset="0"/>
                      </a:endParaRPr>
                    </a:p>
                  </a:txBody>
                  <a:tcPr marL="5150" marR="5150" marT="5150" marB="0" anchor="ctr"/>
                </a:tc>
                <a:tc rowSpan="3" hMerge="1">
                  <a:txBody>
                    <a:bodyPr/>
                    <a:lstStyle/>
                    <a:p>
                      <a:pPr algn="l" fontAlgn="b"/>
                      <a:endParaRPr lang="en-US" sz="1600" b="0" i="0" u="none" strike="noStrike">
                        <a:solidFill>
                          <a:srgbClr val="000000"/>
                        </a:solidFill>
                        <a:effectLst/>
                        <a:latin typeface="Calibri" panose="020F0502020204030204" pitchFamily="34" charset="0"/>
                      </a:endParaRPr>
                    </a:p>
                  </a:txBody>
                  <a:tcPr marL="5150" marR="5150" marT="5150" marB="0" anchor="b"/>
                </a:tc>
                <a:extLst>
                  <a:ext uri="{0D108BD9-81ED-4DB2-BD59-A6C34878D82A}">
                    <a16:rowId xmlns:a16="http://schemas.microsoft.com/office/drawing/2014/main" val="501804852"/>
                  </a:ext>
                </a:extLst>
              </a:tr>
              <a:tr h="292415">
                <a:tc>
                  <a:txBody>
                    <a:bodyPr/>
                    <a:lstStyle/>
                    <a:p>
                      <a:pPr algn="ctr" fontAlgn="b"/>
                      <a:r>
                        <a:rPr lang="en-US" dirty="0"/>
                        <a:t>Exploratory Data Analysis</a:t>
                      </a:r>
                    </a:p>
                  </a:txBody>
                  <a:tcPr marL="5150" marR="5150" marT="5150" marB="0" anchor="ctr"/>
                </a:tc>
                <a:tc v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tc gridSpan="2" v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tc hMerge="1" vMerge="1">
                  <a:txBody>
                    <a:bodyPr/>
                    <a:lstStyle/>
                    <a:p>
                      <a:pPr algn="l" fontAlgn="b"/>
                      <a:endParaRPr lang="en-US" sz="1600" b="0" i="0" u="none" strike="noStrike">
                        <a:solidFill>
                          <a:srgbClr val="000000"/>
                        </a:solidFill>
                        <a:effectLst/>
                        <a:latin typeface="Calibri" panose="020F0502020204030204" pitchFamily="34" charset="0"/>
                      </a:endParaRPr>
                    </a:p>
                  </a:txBody>
                  <a:tcPr marL="5150" marR="5150" marT="5150" marB="0" anchor="b"/>
                </a:tc>
                <a:extLst>
                  <a:ext uri="{0D108BD9-81ED-4DB2-BD59-A6C34878D82A}">
                    <a16:rowId xmlns:a16="http://schemas.microsoft.com/office/drawing/2014/main" val="2504933317"/>
                  </a:ext>
                </a:extLst>
              </a:tr>
              <a:tr h="292415">
                <a:tc>
                  <a:txBody>
                    <a:bodyPr/>
                    <a:lstStyle/>
                    <a:p>
                      <a:pPr algn="ctr" fontAlgn="b"/>
                      <a:r>
                        <a:rPr lang="en-US" dirty="0"/>
                        <a:t>Data Preparation</a:t>
                      </a:r>
                    </a:p>
                  </a:txBody>
                  <a:tcPr marL="5150" marR="5150" marT="5150" marB="0" anchor="ctr"/>
                </a:tc>
                <a:tc v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tc gridSpan="2" vMerge="1">
                  <a:txBody>
                    <a:bodyPr/>
                    <a:lstStyle/>
                    <a:p>
                      <a:pPr algn="l" fontAlgn="b"/>
                      <a:endParaRPr lang="en-US" sz="1600" b="0" i="0" u="none" strike="noStrike">
                        <a:solidFill>
                          <a:srgbClr val="000000"/>
                        </a:solidFill>
                        <a:effectLst/>
                        <a:latin typeface="Calibri" panose="020F0502020204030204" pitchFamily="34" charset="0"/>
                      </a:endParaRPr>
                    </a:p>
                  </a:txBody>
                  <a:tcPr marL="5150" marR="5150" marT="5150" marB="0" anchor="b"/>
                </a:tc>
                <a:tc hMerge="1" v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extLst>
                  <a:ext uri="{0D108BD9-81ED-4DB2-BD59-A6C34878D82A}">
                    <a16:rowId xmlns:a16="http://schemas.microsoft.com/office/drawing/2014/main" val="4036515191"/>
                  </a:ext>
                </a:extLst>
              </a:tr>
              <a:tr h="292415">
                <a:tc>
                  <a:txBody>
                    <a:bodyPr/>
                    <a:lstStyle/>
                    <a:p>
                      <a:pPr algn="ctr" fontAlgn="b"/>
                      <a:r>
                        <a:rPr lang="en-US" dirty="0"/>
                        <a:t>Visualization &amp; Data Storytelling</a:t>
                      </a:r>
                    </a:p>
                  </a:txBody>
                  <a:tcPr marL="5150" marR="5150" marT="5150" marB="0" anchor="ctr"/>
                </a:tc>
                <a:tc gridSpan="3">
                  <a:txBody>
                    <a:bodyPr/>
                    <a:lstStyle/>
                    <a:p>
                      <a:pPr algn="ctr" fontAlgn="b"/>
                      <a:r>
                        <a:rPr lang="en-US" sz="1600" u="none" strike="noStrike" dirty="0">
                          <a:effectLst/>
                        </a:rPr>
                        <a:t>PL2</a:t>
                      </a:r>
                      <a:endParaRPr lang="en-US" sz="1600" b="0" i="0" u="none" strike="noStrike" dirty="0">
                        <a:solidFill>
                          <a:srgbClr val="000000"/>
                        </a:solidFill>
                        <a:effectLst/>
                        <a:latin typeface="Calibri" panose="020F0502020204030204" pitchFamily="34" charset="0"/>
                      </a:endParaRPr>
                    </a:p>
                  </a:txBody>
                  <a:tcPr marL="5150" marR="5150" marT="5150" marB="0" anchor="ctr"/>
                </a:tc>
                <a:tc h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tc h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extLst>
                  <a:ext uri="{0D108BD9-81ED-4DB2-BD59-A6C34878D82A}">
                    <a16:rowId xmlns:a16="http://schemas.microsoft.com/office/drawing/2014/main" val="96743934"/>
                  </a:ext>
                </a:extLst>
              </a:tr>
              <a:tr h="292415">
                <a:tc>
                  <a:txBody>
                    <a:bodyPr/>
                    <a:lstStyle/>
                    <a:p>
                      <a:pPr algn="ctr" fontAlgn="b"/>
                      <a:r>
                        <a:rPr lang="en-US" dirty="0"/>
                        <a:t>Statistical Analysis</a:t>
                      </a:r>
                    </a:p>
                  </a:txBody>
                  <a:tcPr marL="5150" marR="5150" marT="5150" marB="0" anchor="ctr"/>
                </a:tc>
                <a:tc rowSpan="2">
                  <a:txBody>
                    <a:bodyPr/>
                    <a:lstStyle/>
                    <a:p>
                      <a:pPr algn="ctr" fontAlgn="b"/>
                      <a:r>
                        <a:rPr lang="en-US" sz="1600" u="none" strike="noStrike" dirty="0">
                          <a:effectLst/>
                        </a:rPr>
                        <a:t>PL2 + PL1</a:t>
                      </a:r>
                      <a:endParaRPr lang="en-US" sz="1600" b="0" i="0" u="none" strike="noStrike" dirty="0">
                        <a:solidFill>
                          <a:srgbClr val="000000"/>
                        </a:solidFill>
                        <a:effectLst/>
                        <a:latin typeface="Calibri" panose="020F0502020204030204" pitchFamily="34" charset="0"/>
                      </a:endParaRPr>
                    </a:p>
                  </a:txBody>
                  <a:tcPr marL="5150" marR="5150" marT="5150" marB="0" anchor="ctr"/>
                </a:tc>
                <a:tc rowSpan="2">
                  <a:txBody>
                    <a:bodyPr/>
                    <a:lstStyle/>
                    <a:p>
                      <a:pPr algn="ctr" fontAlgn="b"/>
                      <a:r>
                        <a:rPr lang="en-US" sz="1600" u="none" strike="noStrike" dirty="0">
                          <a:effectLst/>
                        </a:rPr>
                        <a:t>PL3 + PL1</a:t>
                      </a:r>
                      <a:endParaRPr lang="en-US" sz="1600" b="0" i="0" u="none" strike="noStrike" dirty="0">
                        <a:solidFill>
                          <a:srgbClr val="000000"/>
                        </a:solidFill>
                        <a:effectLst/>
                        <a:latin typeface="Calibri" panose="020F0502020204030204" pitchFamily="34" charset="0"/>
                      </a:endParaRPr>
                    </a:p>
                  </a:txBody>
                  <a:tcPr marL="5150" marR="5150" marT="5150" marB="0" anchor="ctr"/>
                </a:tc>
                <a:tc rowSpan="2">
                  <a:txBody>
                    <a:bodyPr/>
                    <a:lstStyle/>
                    <a:p>
                      <a:pPr algn="ctr" fontAlgn="b"/>
                      <a:r>
                        <a:rPr lang="en-US" sz="1600" u="none" strike="noStrike" dirty="0">
                          <a:effectLst/>
                        </a:rPr>
                        <a:t>PL3 + PL2</a:t>
                      </a:r>
                      <a:endParaRPr lang="en-US" sz="1600" b="0" i="0" u="none" strike="noStrike" dirty="0">
                        <a:solidFill>
                          <a:srgbClr val="000000"/>
                        </a:solidFill>
                        <a:effectLst/>
                        <a:latin typeface="Calibri" panose="020F0502020204030204" pitchFamily="34" charset="0"/>
                      </a:endParaRPr>
                    </a:p>
                  </a:txBody>
                  <a:tcPr marL="5150" marR="5150" marT="5150" marB="0" anchor="ctr"/>
                </a:tc>
                <a:extLst>
                  <a:ext uri="{0D108BD9-81ED-4DB2-BD59-A6C34878D82A}">
                    <a16:rowId xmlns:a16="http://schemas.microsoft.com/office/drawing/2014/main" val="4273126363"/>
                  </a:ext>
                </a:extLst>
              </a:tr>
              <a:tr h="292415">
                <a:tc>
                  <a:txBody>
                    <a:bodyPr/>
                    <a:lstStyle/>
                    <a:p>
                      <a:pPr algn="ctr" fontAlgn="b"/>
                      <a:r>
                        <a:rPr lang="en-US" dirty="0"/>
                        <a:t>Machine Learning</a:t>
                      </a:r>
                    </a:p>
                  </a:txBody>
                  <a:tcPr marL="5150" marR="5150" marT="5150" marB="0" anchor="ctr"/>
                </a:tc>
                <a:tc vMerge="1">
                  <a:txBody>
                    <a:bodyPr/>
                    <a:lstStyle/>
                    <a:p>
                      <a:pPr algn="ctr" fontAlgn="b"/>
                      <a:r>
                        <a:rPr lang="en-US" sz="1600" u="none" strike="noStrike" dirty="0">
                          <a:effectLst/>
                        </a:rPr>
                        <a:t>PL1 x 1</a:t>
                      </a:r>
                      <a:endParaRPr lang="en-US" sz="1600" b="0" i="0" u="none" strike="noStrike" dirty="0">
                        <a:solidFill>
                          <a:srgbClr val="000000"/>
                        </a:solidFill>
                        <a:effectLst/>
                        <a:latin typeface="Calibri" panose="020F0502020204030204" pitchFamily="34" charset="0"/>
                      </a:endParaRPr>
                    </a:p>
                  </a:txBody>
                  <a:tcPr marL="5150" marR="5150" marT="5150" marB="0" anchor="ctr"/>
                </a:tc>
                <a:tc vMerge="1">
                  <a:txBody>
                    <a:bodyPr/>
                    <a:lstStyle/>
                    <a:p>
                      <a:pPr algn="ctr" fontAlgn="b"/>
                      <a:r>
                        <a:rPr lang="en-US" sz="1600" u="none" strike="noStrike" dirty="0">
                          <a:effectLst/>
                        </a:rPr>
                        <a:t>PL1 x 1</a:t>
                      </a:r>
                      <a:endParaRPr lang="en-US" sz="1600" b="0" i="0" u="none" strike="noStrike" dirty="0">
                        <a:solidFill>
                          <a:srgbClr val="000000"/>
                        </a:solidFill>
                        <a:effectLst/>
                        <a:latin typeface="Calibri" panose="020F0502020204030204" pitchFamily="34" charset="0"/>
                      </a:endParaRPr>
                    </a:p>
                  </a:txBody>
                  <a:tcPr marL="5150" marR="5150" marT="5150" marB="0" anchor="ctr"/>
                </a:tc>
                <a:tc vMerge="1">
                  <a:txBody>
                    <a:bodyPr/>
                    <a:lstStyle/>
                    <a:p>
                      <a:pPr algn="ctr" fontAlgn="b"/>
                      <a:r>
                        <a:rPr lang="en-US" sz="1600" u="none" strike="noStrike" dirty="0">
                          <a:effectLst/>
                        </a:rPr>
                        <a:t>PL2 x 1</a:t>
                      </a:r>
                      <a:endParaRPr lang="en-US" sz="1600" b="0" i="0" u="none" strike="noStrike" dirty="0">
                        <a:solidFill>
                          <a:srgbClr val="000000"/>
                        </a:solidFill>
                        <a:effectLst/>
                        <a:latin typeface="Calibri" panose="020F0502020204030204" pitchFamily="34" charset="0"/>
                      </a:endParaRPr>
                    </a:p>
                  </a:txBody>
                  <a:tcPr marL="5150" marR="5150" marT="5150" marB="0" anchor="ctr"/>
                </a:tc>
                <a:extLst>
                  <a:ext uri="{0D108BD9-81ED-4DB2-BD59-A6C34878D82A}">
                    <a16:rowId xmlns:a16="http://schemas.microsoft.com/office/drawing/2014/main" val="2726766983"/>
                  </a:ext>
                </a:extLst>
              </a:tr>
              <a:tr h="292415">
                <a:tc>
                  <a:txBody>
                    <a:bodyPr/>
                    <a:lstStyle/>
                    <a:p>
                      <a:pPr algn="ctr" fontAlgn="b"/>
                      <a:r>
                        <a:rPr lang="en-US" dirty="0"/>
                        <a:t>Specialization</a:t>
                      </a:r>
                    </a:p>
                  </a:txBody>
                  <a:tcPr marL="5150" marR="5150" marT="5150" marB="0" anchor="ctr"/>
                </a:tc>
                <a:tc>
                  <a:txBody>
                    <a:bodyPr/>
                    <a:lstStyle/>
                    <a:p>
                      <a:pPr algn="ctr" fontAlgn="b"/>
                      <a:r>
                        <a:rPr lang="en-US" sz="1600" u="none" strike="noStrike" dirty="0">
                          <a:effectLst/>
                        </a:rPr>
                        <a:t>PL2</a:t>
                      </a:r>
                      <a:endParaRPr lang="en-US" sz="1600" b="0" i="0" u="none" strike="noStrike" dirty="0">
                        <a:solidFill>
                          <a:srgbClr val="000000"/>
                        </a:solidFill>
                        <a:effectLst/>
                        <a:latin typeface="Calibri" panose="020F0502020204030204" pitchFamily="34" charset="0"/>
                      </a:endParaRPr>
                    </a:p>
                  </a:txBody>
                  <a:tcPr marL="5150" marR="5150" marT="515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u="none" strike="noStrike" dirty="0">
                          <a:effectLst/>
                        </a:rPr>
                        <a:t>PL3 + PL2</a:t>
                      </a:r>
                      <a:endParaRPr lang="en-US" sz="1600" b="0" i="0" u="none" strike="noStrike" dirty="0">
                        <a:solidFill>
                          <a:srgbClr val="000000"/>
                        </a:solidFill>
                        <a:effectLst/>
                        <a:latin typeface="Calibri" panose="020F0502020204030204" pitchFamily="34" charset="0"/>
                      </a:endParaRPr>
                    </a:p>
                  </a:txBody>
                  <a:tcPr marL="5150" marR="5150" marT="515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u="none" strike="noStrike" dirty="0">
                          <a:effectLst/>
                        </a:rPr>
                        <a:t>PL4 + PL3</a:t>
                      </a:r>
                      <a:endParaRPr lang="en-US" sz="1600" b="0" i="0" u="none" strike="noStrike" dirty="0">
                        <a:solidFill>
                          <a:srgbClr val="000000"/>
                        </a:solidFill>
                        <a:effectLst/>
                        <a:latin typeface="Calibri" panose="020F0502020204030204" pitchFamily="34" charset="0"/>
                      </a:endParaRPr>
                    </a:p>
                  </a:txBody>
                  <a:tcPr marL="5150" marR="5150" marT="5150" marB="0" anchor="ctr"/>
                </a:tc>
                <a:extLst>
                  <a:ext uri="{0D108BD9-81ED-4DB2-BD59-A6C34878D82A}">
                    <a16:rowId xmlns:a16="http://schemas.microsoft.com/office/drawing/2014/main" val="3868501538"/>
                  </a:ext>
                </a:extLst>
              </a:tr>
              <a:tr h="292415">
                <a:tc>
                  <a:txBody>
                    <a:bodyPr/>
                    <a:lstStyle/>
                    <a:p>
                      <a:pPr algn="ctr" fontAlgn="b"/>
                      <a:r>
                        <a:rPr lang="en-US" dirty="0"/>
                        <a:t>Technical Leadership</a:t>
                      </a:r>
                    </a:p>
                  </a:txBody>
                  <a:tcPr marL="5150" marR="5150" marT="515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i="1" u="none" strike="noStrike" dirty="0">
                          <a:solidFill>
                            <a:schemeClr val="bg2">
                              <a:lumMod val="75000"/>
                            </a:schemeClr>
                          </a:solidFill>
                          <a:effectLst/>
                        </a:rPr>
                        <a:t>NA</a:t>
                      </a:r>
                      <a:endParaRPr lang="en-US" sz="1600" b="0" i="1" u="none" strike="noStrike" dirty="0">
                        <a:solidFill>
                          <a:schemeClr val="bg2">
                            <a:lumMod val="75000"/>
                          </a:schemeClr>
                        </a:solidFill>
                        <a:effectLst/>
                        <a:latin typeface="Calibri" panose="020F0502020204030204" pitchFamily="34" charset="0"/>
                      </a:endParaRPr>
                    </a:p>
                  </a:txBody>
                  <a:tcPr marL="5150" marR="5150" marT="5150" marB="0" anchor="ct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PL3</a:t>
                      </a:r>
                    </a:p>
                  </a:txBody>
                  <a:tcPr marL="5150" marR="5150" marT="5150" marB="0" anchor="ct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PL4</a:t>
                      </a:r>
                    </a:p>
                  </a:txBody>
                  <a:tcPr marL="5150" marR="5150" marT="5150" marB="0" anchor="ctr"/>
                </a:tc>
                <a:extLst>
                  <a:ext uri="{0D108BD9-81ED-4DB2-BD59-A6C34878D82A}">
                    <a16:rowId xmlns:a16="http://schemas.microsoft.com/office/drawing/2014/main" val="3641517325"/>
                  </a:ext>
                </a:extLst>
              </a:tr>
              <a:tr h="292415">
                <a:tc>
                  <a:txBody>
                    <a:bodyPr/>
                    <a:lstStyle/>
                    <a:p>
                      <a:pPr algn="ctr" fontAlgn="b"/>
                      <a:r>
                        <a:rPr lang="en-US" dirty="0"/>
                        <a:t>Community Contribution</a:t>
                      </a:r>
                    </a:p>
                  </a:txBody>
                  <a:tcPr marL="5150" marR="5150" marT="5150" marB="0" anchor="ctr"/>
                </a:tc>
                <a:tc>
                  <a:txBody>
                    <a:bodyPr/>
                    <a:lstStyle/>
                    <a:p>
                      <a:pPr algn="ctr" fontAlgn="b"/>
                      <a:r>
                        <a:rPr lang="en-US" sz="1600" b="0" i="0" u="none" strike="noStrike" dirty="0">
                          <a:solidFill>
                            <a:srgbClr val="000000"/>
                          </a:solidFill>
                          <a:effectLst/>
                          <a:latin typeface="Calibri" panose="020F0502020204030204" pitchFamily="34" charset="0"/>
                        </a:rPr>
                        <a:t>PL2</a:t>
                      </a:r>
                    </a:p>
                  </a:txBody>
                  <a:tcPr marL="5150" marR="5150" marT="5150" marB="0" anchor="ctr"/>
                </a:tc>
                <a:tc v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600" b="0" i="0" u="none" strike="noStrike" dirty="0">
                        <a:solidFill>
                          <a:srgbClr val="000000"/>
                        </a:solidFill>
                        <a:effectLst/>
                        <a:latin typeface="Calibri" panose="020F0502020204030204" pitchFamily="34" charset="0"/>
                      </a:endParaRPr>
                    </a:p>
                  </a:txBody>
                  <a:tcPr marL="5150" marR="5150" marT="5150" marB="0" anchor="ctr"/>
                </a:tc>
                <a:tc v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600" b="0" i="0" u="none" strike="noStrike" dirty="0">
                        <a:solidFill>
                          <a:srgbClr val="000000"/>
                        </a:solidFill>
                        <a:effectLst/>
                        <a:latin typeface="Calibri" panose="020F0502020204030204" pitchFamily="34" charset="0"/>
                      </a:endParaRPr>
                    </a:p>
                  </a:txBody>
                  <a:tcPr marL="5150" marR="5150" marT="5150" marB="0" anchor="ctr"/>
                </a:tc>
                <a:extLst>
                  <a:ext uri="{0D108BD9-81ED-4DB2-BD59-A6C34878D82A}">
                    <a16:rowId xmlns:a16="http://schemas.microsoft.com/office/drawing/2014/main" val="928837618"/>
                  </a:ext>
                </a:extLst>
              </a:tr>
            </a:tbl>
          </a:graphicData>
        </a:graphic>
      </p:graphicFrame>
    </p:spTree>
    <p:extLst>
      <p:ext uri="{BB962C8B-B14F-4D97-AF65-F5344CB8AC3E}">
        <p14:creationId xmlns:p14="http://schemas.microsoft.com/office/powerpoint/2010/main" val="1243908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B87DD7-AF8E-4A70-87C3-80CF7C47A968}"/>
              </a:ext>
            </a:extLst>
          </p:cNvPr>
          <p:cNvSpPr>
            <a:spLocks noGrp="1"/>
          </p:cNvSpPr>
          <p:nvPr>
            <p:ph type="title"/>
          </p:nvPr>
        </p:nvSpPr>
        <p:spPr>
          <a:xfrm>
            <a:off x="831850" y="1709738"/>
            <a:ext cx="10515600" cy="2852737"/>
          </a:xfrm>
        </p:spPr>
        <p:txBody>
          <a:bodyPr/>
          <a:lstStyle/>
          <a:p>
            <a:r>
              <a:rPr lang="en-US" dirty="0"/>
              <a:t>Renaming the track</a:t>
            </a:r>
            <a:endParaRPr lang="en-GB" dirty="0"/>
          </a:p>
        </p:txBody>
      </p:sp>
      <p:sp>
        <p:nvSpPr>
          <p:cNvPr id="5" name="Text Placeholder 4">
            <a:extLst>
              <a:ext uri="{FF2B5EF4-FFF2-40B4-BE49-F238E27FC236}">
                <a16:creationId xmlns:a16="http://schemas.microsoft.com/office/drawing/2014/main" id="{B4E1D69E-1DC1-4BED-9EAB-A31989AC8DC5}"/>
              </a:ext>
            </a:extLst>
          </p:cNvPr>
          <p:cNvSpPr>
            <a:spLocks noGrp="1"/>
          </p:cNvSpPr>
          <p:nvPr>
            <p:ph type="body" idx="1"/>
          </p:nvPr>
        </p:nvSpPr>
        <p:spPr>
          <a:xfrm>
            <a:off x="831850" y="4589463"/>
            <a:ext cx="10515600" cy="1500187"/>
          </a:xfrm>
        </p:spPr>
        <p:txBody>
          <a:bodyPr/>
          <a:lstStyle/>
          <a:p>
            <a:r>
              <a:rPr lang="en-US" dirty="0"/>
              <a:t>Same job, new title</a:t>
            </a:r>
            <a:endParaRPr lang="en-GB" dirty="0"/>
          </a:p>
          <a:p>
            <a:endParaRPr lang="en-GB" dirty="0"/>
          </a:p>
        </p:txBody>
      </p:sp>
    </p:spTree>
    <p:extLst>
      <p:ext uri="{BB962C8B-B14F-4D97-AF65-F5344CB8AC3E}">
        <p14:creationId xmlns:p14="http://schemas.microsoft.com/office/powerpoint/2010/main" val="1071707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4487"/>
            <a:ext cx="10515600" cy="1325563"/>
          </a:xfrm>
        </p:spPr>
        <p:txBody>
          <a:bodyPr/>
          <a:lstStyle/>
          <a:p>
            <a:r>
              <a:rPr lang="en-US"/>
              <a:t>Job Titles</a:t>
            </a:r>
            <a:endParaRPr lang="en-US" dirty="0"/>
          </a:p>
        </p:txBody>
      </p:sp>
      <p:sp>
        <p:nvSpPr>
          <p:cNvPr id="3" name="Content Placeholder 2"/>
          <p:cNvSpPr>
            <a:spLocks noGrp="1"/>
          </p:cNvSpPr>
          <p:nvPr>
            <p:ph idx="1"/>
          </p:nvPr>
        </p:nvSpPr>
        <p:spPr>
          <a:xfrm>
            <a:off x="838200" y="1530050"/>
            <a:ext cx="10515600" cy="4646913"/>
          </a:xfrm>
        </p:spPr>
        <p:txBody>
          <a:bodyPr vert="horz" lIns="91440" tIns="45720" rIns="91440" bIns="45720" rtlCol="0" anchor="t">
            <a:normAutofit/>
          </a:bodyPr>
          <a:lstStyle/>
          <a:p>
            <a:r>
              <a:rPr lang="en-US" dirty="0"/>
              <a:t>“Data Analyst” </a:t>
            </a:r>
            <a:r>
              <a:rPr lang="en-US" dirty="0">
                <a:sym typeface="Wingdings" panose="05000000000000000000" pitchFamily="2" charset="2"/>
              </a:rPr>
              <a:t></a:t>
            </a:r>
            <a:r>
              <a:rPr lang="en-US" dirty="0"/>
              <a:t> “Data Scientist”</a:t>
            </a:r>
          </a:p>
          <a:p>
            <a:r>
              <a:rPr lang="en-US" dirty="0"/>
              <a:t>“Data Scientist” </a:t>
            </a:r>
            <a:r>
              <a:rPr lang="en-US" dirty="0">
                <a:sym typeface="Wingdings" panose="05000000000000000000" pitchFamily="2" charset="2"/>
              </a:rPr>
              <a:t></a:t>
            </a:r>
            <a:r>
              <a:rPr lang="en-US" dirty="0"/>
              <a:t> “Data Scientist” (no change)</a:t>
            </a:r>
          </a:p>
          <a:p>
            <a:pPr marL="0" indent="0">
              <a:buNone/>
            </a:pPr>
            <a:endParaRPr lang="en-US" dirty="0"/>
          </a:p>
          <a:p>
            <a:pPr marL="0" indent="0">
              <a:buNone/>
            </a:pPr>
            <a:r>
              <a:rPr lang="en-US" dirty="0"/>
              <a:t>External titles:</a:t>
            </a:r>
          </a:p>
          <a:p>
            <a:r>
              <a:rPr lang="en-US" dirty="0"/>
              <a:t>Consultant = “Senior Data Scientist”</a:t>
            </a:r>
          </a:p>
          <a:p>
            <a:r>
              <a:rPr lang="en-US" dirty="0"/>
              <a:t>STS = “Staff Data Scientist”</a:t>
            </a:r>
          </a:p>
          <a:p>
            <a:r>
              <a:rPr lang="en-US" dirty="0"/>
              <a:t>LTS = “Senior Staff Data Scientist”</a:t>
            </a:r>
          </a:p>
          <a:p>
            <a:endParaRPr lang="en-US" dirty="0"/>
          </a:p>
        </p:txBody>
      </p:sp>
      <p:grpSp>
        <p:nvGrpSpPr>
          <p:cNvPr id="10" name="Group 9">
            <a:extLst>
              <a:ext uri="{FF2B5EF4-FFF2-40B4-BE49-F238E27FC236}">
                <a16:creationId xmlns:a16="http://schemas.microsoft.com/office/drawing/2014/main" id="{1A9ACBE4-20A9-4CAB-9F4A-3A6CAD179092}"/>
              </a:ext>
            </a:extLst>
          </p:cNvPr>
          <p:cNvGrpSpPr/>
          <p:nvPr/>
        </p:nvGrpSpPr>
        <p:grpSpPr>
          <a:xfrm>
            <a:off x="-1795464" y="1246352"/>
            <a:ext cx="1714183" cy="1911995"/>
            <a:chOff x="-1795464" y="1246352"/>
            <a:chExt cx="1714183" cy="1911995"/>
          </a:xfrm>
        </p:grpSpPr>
        <p:pic>
          <p:nvPicPr>
            <p:cNvPr id="4" name="Picture 4">
              <a:extLst>
                <a:ext uri="{FF2B5EF4-FFF2-40B4-BE49-F238E27FC236}">
                  <a16:creationId xmlns:a16="http://schemas.microsoft.com/office/drawing/2014/main" id="{9C997B19-9B61-4C90-9BCF-2AECDB9627A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00" t="833"/>
            <a:stretch/>
          </p:blipFill>
          <p:spPr bwMode="auto">
            <a:xfrm>
              <a:off x="-1795464" y="1246352"/>
              <a:ext cx="1714183" cy="191199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A6C4910-7DFA-47BB-BE6D-42ED3B66E8B7}"/>
                </a:ext>
              </a:extLst>
            </p:cNvPr>
            <p:cNvSpPr txBox="1"/>
            <p:nvPr/>
          </p:nvSpPr>
          <p:spPr>
            <a:xfrm rot="503569">
              <a:off x="-1660203" y="1289977"/>
              <a:ext cx="638317" cy="552843"/>
            </a:xfrm>
            <a:prstGeom prst="rect">
              <a:avLst/>
            </a:prstGeom>
            <a:noFill/>
          </p:spPr>
          <p:txBody>
            <a:bodyPr wrap="none" rtlCol="0">
              <a:spAutoFit/>
            </a:bodyPr>
            <a:lstStyle/>
            <a:p>
              <a:r>
                <a:rPr lang="en-US" sz="3200" dirty="0"/>
                <a:t>DA</a:t>
              </a:r>
              <a:endParaRPr lang="en-GB" sz="3200" dirty="0"/>
            </a:p>
          </p:txBody>
        </p:sp>
        <p:sp>
          <p:nvSpPr>
            <p:cNvPr id="6" name="TextBox 5">
              <a:extLst>
                <a:ext uri="{FF2B5EF4-FFF2-40B4-BE49-F238E27FC236}">
                  <a16:creationId xmlns:a16="http://schemas.microsoft.com/office/drawing/2014/main" id="{3D80B1D3-5689-496E-B3B0-912D180022BB}"/>
                </a:ext>
              </a:extLst>
            </p:cNvPr>
            <p:cNvSpPr txBox="1"/>
            <p:nvPr/>
          </p:nvSpPr>
          <p:spPr>
            <a:xfrm rot="403544">
              <a:off x="-772508" y="1415419"/>
              <a:ext cx="592853" cy="552843"/>
            </a:xfrm>
            <a:prstGeom prst="rect">
              <a:avLst/>
            </a:prstGeom>
            <a:noFill/>
          </p:spPr>
          <p:txBody>
            <a:bodyPr wrap="none" rtlCol="0">
              <a:spAutoFit/>
            </a:bodyPr>
            <a:lstStyle/>
            <a:p>
              <a:r>
                <a:rPr lang="en-US" sz="3200" dirty="0"/>
                <a:t>DS</a:t>
              </a:r>
              <a:endParaRPr lang="en-GB" sz="3200" dirty="0"/>
            </a:p>
          </p:txBody>
        </p:sp>
      </p:grpSp>
    </p:spTree>
    <p:extLst>
      <p:ext uri="{BB962C8B-B14F-4D97-AF65-F5344CB8AC3E}">
        <p14:creationId xmlns:p14="http://schemas.microsoft.com/office/powerpoint/2010/main" val="4157919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3F3D0-0D78-4B06-A296-D0CBD9895392}"/>
              </a:ext>
            </a:extLst>
          </p:cNvPr>
          <p:cNvSpPr>
            <a:spLocks noGrp="1"/>
          </p:cNvSpPr>
          <p:nvPr>
            <p:ph type="title"/>
          </p:nvPr>
        </p:nvSpPr>
        <p:spPr>
          <a:xfrm>
            <a:off x="838200" y="204487"/>
            <a:ext cx="10515600" cy="1325563"/>
          </a:xfrm>
        </p:spPr>
        <p:txBody>
          <a:bodyPr/>
          <a:lstStyle/>
          <a:p>
            <a:r>
              <a:rPr lang="en-US"/>
              <a:t>Job Role Profiles (no change)</a:t>
            </a:r>
            <a:endParaRPr lang="en-GB" dirty="0"/>
          </a:p>
        </p:txBody>
      </p:sp>
      <p:sp>
        <p:nvSpPr>
          <p:cNvPr id="3" name="Content Placeholder 2">
            <a:extLst>
              <a:ext uri="{FF2B5EF4-FFF2-40B4-BE49-F238E27FC236}">
                <a16:creationId xmlns:a16="http://schemas.microsoft.com/office/drawing/2014/main" id="{B7B581F5-67E1-40B5-AB89-F8AB86A6F4DB}"/>
              </a:ext>
            </a:extLst>
          </p:cNvPr>
          <p:cNvSpPr>
            <a:spLocks noGrp="1"/>
          </p:cNvSpPr>
          <p:nvPr>
            <p:ph idx="1"/>
          </p:nvPr>
        </p:nvSpPr>
        <p:spPr>
          <a:xfrm>
            <a:off x="838200" y="1530050"/>
            <a:ext cx="10515600" cy="4646913"/>
          </a:xfrm>
        </p:spPr>
        <p:txBody>
          <a:bodyPr>
            <a:normAutofit fontScale="92500" lnSpcReduction="20000"/>
          </a:bodyPr>
          <a:lstStyle/>
          <a:p>
            <a:r>
              <a:rPr lang="en-US" dirty="0"/>
              <a:t>Data Scientist </a:t>
            </a:r>
            <a:r>
              <a:rPr lang="en-US" dirty="0">
                <a:solidFill>
                  <a:schemeClr val="bg2">
                    <a:lumMod val="75000"/>
                  </a:schemeClr>
                </a:solidFill>
              </a:rPr>
              <a:t>(JR11)</a:t>
            </a:r>
          </a:p>
          <a:p>
            <a:pPr lvl="1"/>
            <a:r>
              <a:rPr lang="en-US" dirty="0"/>
              <a:t>Work with well-defined requirements and constraints, with close guidance and regular oversight, and complete routine </a:t>
            </a:r>
            <a:r>
              <a:rPr lang="en-US" u="sng" dirty="0"/>
              <a:t>tasks</a:t>
            </a:r>
            <a:r>
              <a:rPr lang="en-US" dirty="0"/>
              <a:t>. Document your work to facilitate other officers.</a:t>
            </a:r>
          </a:p>
          <a:p>
            <a:r>
              <a:rPr lang="en-US" dirty="0"/>
              <a:t>Consultant </a:t>
            </a:r>
            <a:r>
              <a:rPr lang="en-US" dirty="0">
                <a:solidFill>
                  <a:schemeClr val="bg2">
                    <a:lumMod val="75000"/>
                  </a:schemeClr>
                </a:solidFill>
              </a:rPr>
              <a:t>(JR11+)</a:t>
            </a:r>
          </a:p>
          <a:p>
            <a:pPr lvl="1"/>
            <a:r>
              <a:rPr lang="en-US" dirty="0"/>
              <a:t>Diagnose and solve specialized operational problems. Execute projects end-to-end collaboratively, with minimal guidance and oversight, to deliver project </a:t>
            </a:r>
            <a:r>
              <a:rPr lang="en-US" u="sng" dirty="0"/>
              <a:t>outcomes</a:t>
            </a:r>
            <a:r>
              <a:rPr lang="en-US" dirty="0"/>
              <a:t>. </a:t>
            </a:r>
          </a:p>
          <a:p>
            <a:r>
              <a:rPr lang="en-US" dirty="0"/>
              <a:t>STS </a:t>
            </a:r>
            <a:r>
              <a:rPr lang="en-US" dirty="0">
                <a:solidFill>
                  <a:schemeClr val="bg2">
                    <a:lumMod val="75000"/>
                  </a:schemeClr>
                </a:solidFill>
              </a:rPr>
              <a:t>(JR10)</a:t>
            </a:r>
          </a:p>
          <a:p>
            <a:pPr lvl="1"/>
            <a:r>
              <a:rPr lang="en-US" dirty="0"/>
              <a:t>Identify, diagnose, prioritize, and solve open-ended problems to meet organizational needs, and create meaningful </a:t>
            </a:r>
            <a:r>
              <a:rPr lang="en-US" u="sng" dirty="0"/>
              <a:t>impact</a:t>
            </a:r>
            <a:r>
              <a:rPr lang="en-US" dirty="0"/>
              <a:t>. Lead teams to deliver technical solutions.</a:t>
            </a:r>
          </a:p>
          <a:p>
            <a:r>
              <a:rPr lang="en-US" dirty="0"/>
              <a:t>LTS </a:t>
            </a:r>
            <a:r>
              <a:rPr lang="en-US" dirty="0">
                <a:solidFill>
                  <a:schemeClr val="bg2">
                    <a:lumMod val="75000"/>
                  </a:schemeClr>
                </a:solidFill>
              </a:rPr>
              <a:t>(JR9)</a:t>
            </a:r>
          </a:p>
          <a:p>
            <a:pPr lvl="1"/>
            <a:r>
              <a:rPr lang="en-US" dirty="0"/>
              <a:t>Diagnose and prioritize organizational problems within your domain of expertise. Devise novel technical solutions to complex/unpredictable problems. Drive organizational </a:t>
            </a:r>
            <a:r>
              <a:rPr lang="en-US" u="sng" dirty="0"/>
              <a:t>initiatives</a:t>
            </a:r>
            <a:r>
              <a:rPr lang="en-US" dirty="0"/>
              <a:t>. </a:t>
            </a:r>
            <a:endParaRPr lang="en-GB" dirty="0"/>
          </a:p>
        </p:txBody>
      </p:sp>
    </p:spTree>
    <p:extLst>
      <p:ext uri="{BB962C8B-B14F-4D97-AF65-F5344CB8AC3E}">
        <p14:creationId xmlns:p14="http://schemas.microsoft.com/office/powerpoint/2010/main" val="26904255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5EDBB-BEA8-47FD-BD2E-8438D5928792}"/>
              </a:ext>
            </a:extLst>
          </p:cNvPr>
          <p:cNvSpPr>
            <a:spLocks noGrp="1"/>
          </p:cNvSpPr>
          <p:nvPr>
            <p:ph type="title"/>
          </p:nvPr>
        </p:nvSpPr>
        <p:spPr>
          <a:xfrm>
            <a:off x="838200" y="204487"/>
            <a:ext cx="10515600" cy="1325563"/>
          </a:xfrm>
        </p:spPr>
        <p:txBody>
          <a:bodyPr/>
          <a:lstStyle/>
          <a:p>
            <a:r>
              <a:rPr lang="en-US"/>
              <a:t>Job Family</a:t>
            </a:r>
            <a:endParaRPr lang="en-US" dirty="0"/>
          </a:p>
        </p:txBody>
      </p:sp>
      <p:sp>
        <p:nvSpPr>
          <p:cNvPr id="3" name="Content Placeholder 2">
            <a:extLst>
              <a:ext uri="{FF2B5EF4-FFF2-40B4-BE49-F238E27FC236}">
                <a16:creationId xmlns:a16="http://schemas.microsoft.com/office/drawing/2014/main" id="{03EEC96A-9C45-473A-A522-501B30DA31B8}"/>
              </a:ext>
            </a:extLst>
          </p:cNvPr>
          <p:cNvSpPr>
            <a:spLocks noGrp="1"/>
          </p:cNvSpPr>
          <p:nvPr>
            <p:ph idx="1"/>
          </p:nvPr>
        </p:nvSpPr>
        <p:spPr>
          <a:xfrm>
            <a:off x="838200" y="1530050"/>
            <a:ext cx="10515600" cy="4646913"/>
          </a:xfrm>
        </p:spPr>
        <p:txBody>
          <a:bodyPr/>
          <a:lstStyle/>
          <a:p>
            <a:r>
              <a:rPr lang="en-US" dirty="0"/>
              <a:t>“Data Analytics” </a:t>
            </a:r>
            <a:r>
              <a:rPr lang="en-US" dirty="0">
                <a:sym typeface="Wingdings" panose="05000000000000000000" pitchFamily="2" charset="2"/>
              </a:rPr>
              <a:t> “Data Science and Artificial Intelligence”</a:t>
            </a:r>
            <a:endParaRPr lang="en-US" dirty="0"/>
          </a:p>
          <a:p>
            <a:r>
              <a:rPr lang="en-US" dirty="0"/>
              <a:t>Now we’re all one big data science family</a:t>
            </a:r>
          </a:p>
          <a:p>
            <a:r>
              <a:rPr lang="en-US" dirty="0"/>
              <a:t>And in keeping with current industry trends, we included ✨AI✨</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806803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36C879-C6A9-4D02-B249-2078F1F80B44}"/>
              </a:ext>
            </a:extLst>
          </p:cNvPr>
          <p:cNvSpPr>
            <a:spLocks noGrp="1"/>
          </p:cNvSpPr>
          <p:nvPr>
            <p:ph type="title"/>
          </p:nvPr>
        </p:nvSpPr>
        <p:spPr>
          <a:xfrm>
            <a:off x="831850" y="1709738"/>
            <a:ext cx="10515600" cy="2852737"/>
          </a:xfrm>
        </p:spPr>
        <p:txBody>
          <a:bodyPr/>
          <a:lstStyle/>
          <a:p>
            <a:r>
              <a:rPr lang="en-US"/>
              <a:t>Timeline</a:t>
            </a:r>
            <a:endParaRPr lang="en-GB" dirty="0"/>
          </a:p>
        </p:txBody>
      </p:sp>
      <p:sp>
        <p:nvSpPr>
          <p:cNvPr id="5" name="Text Placeholder 4">
            <a:extLst>
              <a:ext uri="{FF2B5EF4-FFF2-40B4-BE49-F238E27FC236}">
                <a16:creationId xmlns:a16="http://schemas.microsoft.com/office/drawing/2014/main" id="{0BC9070D-E219-4F42-B968-F18CA6751CAF}"/>
              </a:ext>
            </a:extLst>
          </p:cNvPr>
          <p:cNvSpPr>
            <a:spLocks noGrp="1"/>
          </p:cNvSpPr>
          <p:nvPr>
            <p:ph type="body" idx="1"/>
          </p:nvPr>
        </p:nvSpPr>
        <p:spPr>
          <a:xfrm>
            <a:off x="831850" y="4589463"/>
            <a:ext cx="10515600" cy="1500187"/>
          </a:xfrm>
        </p:spPr>
        <p:txBody>
          <a:bodyPr/>
          <a:lstStyle/>
          <a:p>
            <a:endParaRPr lang="en-GB" dirty="0"/>
          </a:p>
        </p:txBody>
      </p:sp>
    </p:spTree>
    <p:extLst>
      <p:ext uri="{BB962C8B-B14F-4D97-AF65-F5344CB8AC3E}">
        <p14:creationId xmlns:p14="http://schemas.microsoft.com/office/powerpoint/2010/main" val="22633490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F065E-C616-4A44-AFD3-56C937CA5AD5}"/>
              </a:ext>
            </a:extLst>
          </p:cNvPr>
          <p:cNvSpPr>
            <a:spLocks noGrp="1"/>
          </p:cNvSpPr>
          <p:nvPr>
            <p:ph type="title"/>
          </p:nvPr>
        </p:nvSpPr>
        <p:spPr>
          <a:xfrm>
            <a:off x="838200" y="204487"/>
            <a:ext cx="10515600" cy="1325563"/>
          </a:xfrm>
        </p:spPr>
        <p:txBody>
          <a:bodyPr/>
          <a:lstStyle/>
          <a:p>
            <a:r>
              <a:rPr lang="en-US"/>
              <a:t>When will things actually change</a:t>
            </a:r>
            <a:endParaRPr lang="en-GB" dirty="0"/>
          </a:p>
        </p:txBody>
      </p:sp>
      <p:sp>
        <p:nvSpPr>
          <p:cNvPr id="9" name="Content Placeholder 8">
            <a:extLst>
              <a:ext uri="{FF2B5EF4-FFF2-40B4-BE49-F238E27FC236}">
                <a16:creationId xmlns:a16="http://schemas.microsoft.com/office/drawing/2014/main" id="{27F49F5C-75A3-44EA-9EE9-2504E599D671}"/>
              </a:ext>
            </a:extLst>
          </p:cNvPr>
          <p:cNvSpPr>
            <a:spLocks noGrp="1"/>
          </p:cNvSpPr>
          <p:nvPr>
            <p:ph idx="1"/>
          </p:nvPr>
        </p:nvSpPr>
        <p:spPr>
          <a:xfrm>
            <a:off x="838200" y="1530050"/>
            <a:ext cx="10515600" cy="4646913"/>
          </a:xfrm>
        </p:spPr>
        <p:txBody>
          <a:bodyPr>
            <a:normAutofit/>
          </a:bodyPr>
          <a:lstStyle/>
          <a:p>
            <a:r>
              <a:rPr lang="en-US" dirty="0"/>
              <a:t>Now:</a:t>
            </a:r>
          </a:p>
          <a:p>
            <a:pPr lvl="1"/>
            <a:r>
              <a:rPr lang="en-US" dirty="0"/>
              <a:t>✅ New competency framework approved</a:t>
            </a:r>
          </a:p>
          <a:p>
            <a:pPr lvl="1"/>
            <a:r>
              <a:rPr lang="en-US" dirty="0"/>
              <a:t>✅ Published to HCD site </a:t>
            </a:r>
            <a:r>
              <a:rPr lang="en-US" dirty="0">
                <a:solidFill>
                  <a:srgbClr val="FF00FF"/>
                </a:solidFill>
              </a:rPr>
              <a:t>(confluence link removed)</a:t>
            </a:r>
          </a:p>
          <a:p>
            <a:pPr lvl="1"/>
            <a:r>
              <a:rPr lang="en-US" dirty="0"/>
              <a:t>✅ Email announcement (“Letter from the SEA Team”)</a:t>
            </a:r>
          </a:p>
          <a:p>
            <a:pPr lvl="1"/>
            <a:r>
              <a:rPr lang="en-US" dirty="0"/>
              <a:t>👋 SEA Townhall</a:t>
            </a:r>
          </a:p>
          <a:p>
            <a:r>
              <a:rPr lang="en-GB" dirty="0"/>
              <a:t>April 2025 (upcoming tech panel):</a:t>
            </a:r>
          </a:p>
          <a:p>
            <a:pPr lvl="1"/>
            <a:r>
              <a:rPr lang="en-GB" dirty="0"/>
              <a:t>Choose old “Design, Build, Run” or new competency-based assessment</a:t>
            </a:r>
          </a:p>
          <a:p>
            <a:r>
              <a:rPr lang="en-GB" dirty="0"/>
              <a:t>October 2025 (the following tech panel, and onwards):</a:t>
            </a:r>
          </a:p>
          <a:p>
            <a:pPr lvl="1"/>
            <a:r>
              <a:rPr lang="en-GB" dirty="0"/>
              <a:t>New competency-based assessment only</a:t>
            </a:r>
          </a:p>
          <a:p>
            <a:pPr lvl="1"/>
            <a:endParaRPr lang="en-US" dirty="0"/>
          </a:p>
        </p:txBody>
      </p:sp>
    </p:spTree>
    <p:extLst>
      <p:ext uri="{BB962C8B-B14F-4D97-AF65-F5344CB8AC3E}">
        <p14:creationId xmlns:p14="http://schemas.microsoft.com/office/powerpoint/2010/main" val="4389838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88F9DBB-12A4-4CF3-AA52-F32EB47F9260}"/>
              </a:ext>
            </a:extLst>
          </p:cNvPr>
          <p:cNvSpPr>
            <a:spLocks noGrp="1"/>
          </p:cNvSpPr>
          <p:nvPr>
            <p:ph type="title"/>
          </p:nvPr>
        </p:nvSpPr>
        <p:spPr/>
        <p:txBody>
          <a:bodyPr/>
          <a:lstStyle/>
          <a:p>
            <a:r>
              <a:rPr lang="en-US" dirty="0"/>
              <a:t>Q&amp;A</a:t>
            </a:r>
            <a:endParaRPr lang="en-GB" dirty="0"/>
          </a:p>
        </p:txBody>
      </p:sp>
      <p:sp>
        <p:nvSpPr>
          <p:cNvPr id="7" name="Text Placeholder 6">
            <a:extLst>
              <a:ext uri="{FF2B5EF4-FFF2-40B4-BE49-F238E27FC236}">
                <a16:creationId xmlns:a16="http://schemas.microsoft.com/office/drawing/2014/main" id="{73C75DD1-20F6-4137-8A96-08546C170E6D}"/>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625434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5EAFB-6124-4036-A24F-C26563489B0F}"/>
              </a:ext>
            </a:extLst>
          </p:cNvPr>
          <p:cNvSpPr>
            <a:spLocks noGrp="1"/>
          </p:cNvSpPr>
          <p:nvPr>
            <p:ph type="title"/>
          </p:nvPr>
        </p:nvSpPr>
        <p:spPr>
          <a:xfrm>
            <a:off x="838200" y="204487"/>
            <a:ext cx="10515600" cy="1325563"/>
          </a:xfrm>
        </p:spPr>
        <p:txBody>
          <a:bodyPr/>
          <a:lstStyle/>
          <a:p>
            <a:r>
              <a:rPr lang="en-US"/>
              <a:t>How does the tech panel assessment change?</a:t>
            </a:r>
            <a:endParaRPr lang="en-GB" dirty="0"/>
          </a:p>
        </p:txBody>
      </p:sp>
      <p:sp>
        <p:nvSpPr>
          <p:cNvPr id="3" name="Content Placeholder 2">
            <a:extLst>
              <a:ext uri="{FF2B5EF4-FFF2-40B4-BE49-F238E27FC236}">
                <a16:creationId xmlns:a16="http://schemas.microsoft.com/office/drawing/2014/main" id="{5A4E6CF7-0350-4647-A7EF-9B2FD6DCD1AE}"/>
              </a:ext>
            </a:extLst>
          </p:cNvPr>
          <p:cNvSpPr>
            <a:spLocks noGrp="1"/>
          </p:cNvSpPr>
          <p:nvPr>
            <p:ph idx="1"/>
          </p:nvPr>
        </p:nvSpPr>
        <p:spPr>
          <a:xfrm>
            <a:off x="838200" y="1530050"/>
            <a:ext cx="10515600" cy="4646913"/>
          </a:xfrm>
        </p:spPr>
        <p:txBody>
          <a:bodyPr/>
          <a:lstStyle/>
          <a:p>
            <a:r>
              <a:rPr lang="en-US"/>
              <a:t>New requirements:</a:t>
            </a:r>
          </a:p>
          <a:p>
            <a:pPr lvl="1"/>
            <a:r>
              <a:rPr lang="en-US"/>
              <a:t>Visualization &amp; storytelling</a:t>
            </a:r>
          </a:p>
          <a:p>
            <a:pPr lvl="1"/>
            <a:r>
              <a:rPr lang="en-US"/>
              <a:t>Community contribution &amp; tech leadership</a:t>
            </a:r>
          </a:p>
          <a:p>
            <a:r>
              <a:rPr lang="en-US"/>
              <a:t>All competencies must be explicitly demonstrated</a:t>
            </a:r>
          </a:p>
          <a:p>
            <a:endParaRPr lang="en-US"/>
          </a:p>
          <a:p>
            <a:endParaRPr lang="en-GB" dirty="0"/>
          </a:p>
        </p:txBody>
      </p:sp>
    </p:spTree>
    <p:extLst>
      <p:ext uri="{BB962C8B-B14F-4D97-AF65-F5344CB8AC3E}">
        <p14:creationId xmlns:p14="http://schemas.microsoft.com/office/powerpoint/2010/main" val="982113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3C421D3-127A-4DF8-AE7C-AE38BE32EEA5}"/>
              </a:ext>
            </a:extLst>
          </p:cNvPr>
          <p:cNvSpPr>
            <a:spLocks noGrp="1"/>
          </p:cNvSpPr>
          <p:nvPr>
            <p:ph type="title"/>
          </p:nvPr>
        </p:nvSpPr>
        <p:spPr/>
        <p:txBody>
          <a:bodyPr/>
          <a:lstStyle/>
          <a:p>
            <a:r>
              <a:rPr lang="en-US" dirty="0"/>
              <a:t>What’s the difference between stats and ML?</a:t>
            </a:r>
            <a:endParaRPr lang="en-GB" dirty="0"/>
          </a:p>
        </p:txBody>
      </p:sp>
      <p:graphicFrame>
        <p:nvGraphicFramePr>
          <p:cNvPr id="5" name="Content Placeholder 4">
            <a:extLst>
              <a:ext uri="{FF2B5EF4-FFF2-40B4-BE49-F238E27FC236}">
                <a16:creationId xmlns:a16="http://schemas.microsoft.com/office/drawing/2014/main" id="{7704B204-FB69-4437-A75C-158E46F148A7}"/>
              </a:ext>
            </a:extLst>
          </p:cNvPr>
          <p:cNvGraphicFramePr>
            <a:graphicFrameLocks noGrp="1"/>
          </p:cNvGraphicFramePr>
          <p:nvPr>
            <p:ph idx="1"/>
            <p:extLst>
              <p:ext uri="{D42A27DB-BD31-4B8C-83A1-F6EECF244321}">
                <p14:modId xmlns:p14="http://schemas.microsoft.com/office/powerpoint/2010/main" val="3698875001"/>
              </p:ext>
            </p:extLst>
          </p:nvPr>
        </p:nvGraphicFramePr>
        <p:xfrm>
          <a:off x="838200" y="1530350"/>
          <a:ext cx="10512000" cy="4288800"/>
        </p:xfrm>
        <a:graphic>
          <a:graphicData uri="http://schemas.openxmlformats.org/drawingml/2006/table">
            <a:tbl>
              <a:tblPr>
                <a:tableStyleId>{5940675A-B579-460E-94D1-54222C63F5DA}</a:tableStyleId>
              </a:tblPr>
              <a:tblGrid>
                <a:gridCol w="1837267">
                  <a:extLst>
                    <a:ext uri="{9D8B030D-6E8A-4147-A177-3AD203B41FA5}">
                      <a16:colId xmlns:a16="http://schemas.microsoft.com/office/drawing/2014/main" val="983129204"/>
                    </a:ext>
                  </a:extLst>
                </a:gridCol>
                <a:gridCol w="4341706">
                  <a:extLst>
                    <a:ext uri="{9D8B030D-6E8A-4147-A177-3AD203B41FA5}">
                      <a16:colId xmlns:a16="http://schemas.microsoft.com/office/drawing/2014/main" val="2591416355"/>
                    </a:ext>
                  </a:extLst>
                </a:gridCol>
                <a:gridCol w="4333027">
                  <a:extLst>
                    <a:ext uri="{9D8B030D-6E8A-4147-A177-3AD203B41FA5}">
                      <a16:colId xmlns:a16="http://schemas.microsoft.com/office/drawing/2014/main" val="685447188"/>
                    </a:ext>
                  </a:extLst>
                </a:gridCol>
              </a:tblGrid>
              <a:tr h="442581">
                <a:tc>
                  <a:txBody>
                    <a:bodyPr/>
                    <a:lstStyle/>
                    <a:p>
                      <a:pPr algn="l" fontAlgn="t"/>
                      <a:endParaRPr lang="en-GB" sz="1500" dirty="0">
                        <a:effectLst/>
                      </a:endParaRPr>
                    </a:p>
                  </a:txBody>
                  <a:tcPr marL="77135" marR="77135" marT="53995" marB="53995"/>
                </a:tc>
                <a:tc>
                  <a:txBody>
                    <a:bodyPr/>
                    <a:lstStyle/>
                    <a:p>
                      <a:pPr algn="l" fontAlgn="t"/>
                      <a:r>
                        <a:rPr lang="en-US" sz="1500" b="1" dirty="0">
                          <a:effectLst/>
                        </a:rPr>
                        <a:t>Statistical Analysis</a:t>
                      </a:r>
                    </a:p>
                  </a:txBody>
                  <a:tcPr marL="77135" marR="77135" marT="53995" marB="53995"/>
                </a:tc>
                <a:tc>
                  <a:txBody>
                    <a:bodyPr/>
                    <a:lstStyle/>
                    <a:p>
                      <a:pPr algn="l" fontAlgn="t"/>
                      <a:r>
                        <a:rPr lang="en-US" sz="1500" b="1" dirty="0">
                          <a:effectLst/>
                        </a:rPr>
                        <a:t>Machine Learning</a:t>
                      </a:r>
                    </a:p>
                  </a:txBody>
                  <a:tcPr marL="77135" marR="77135" marT="53995" marB="53995"/>
                </a:tc>
                <a:extLst>
                  <a:ext uri="{0D108BD9-81ED-4DB2-BD59-A6C34878D82A}">
                    <a16:rowId xmlns:a16="http://schemas.microsoft.com/office/drawing/2014/main" val="53087929"/>
                  </a:ext>
                </a:extLst>
              </a:tr>
              <a:tr h="560391">
                <a:tc>
                  <a:txBody>
                    <a:bodyPr/>
                    <a:lstStyle/>
                    <a:p>
                      <a:pPr algn="l" fontAlgn="t"/>
                      <a:r>
                        <a:rPr lang="en-GB" sz="1500" dirty="0">
                          <a:solidFill>
                            <a:srgbClr val="000000"/>
                          </a:solidFill>
                          <a:effectLst/>
                        </a:rPr>
                        <a:t>Objectives</a:t>
                      </a:r>
                      <a:endParaRPr lang="en-GB" sz="1500" dirty="0">
                        <a:effectLst/>
                      </a:endParaRPr>
                    </a:p>
                  </a:txBody>
                  <a:tcPr marL="77135" marR="77135" marT="53995" marB="53995"/>
                </a:tc>
                <a:tc>
                  <a:txBody>
                    <a:bodyPr/>
                    <a:lstStyle/>
                    <a:p>
                      <a:pPr algn="l" fontAlgn="t"/>
                      <a:r>
                        <a:rPr lang="en-US" sz="1500">
                          <a:solidFill>
                            <a:srgbClr val="000000"/>
                          </a:solidFill>
                          <a:effectLst/>
                        </a:rPr>
                        <a:t>Extract insights and meaning from data to inform business decisions</a:t>
                      </a:r>
                      <a:endParaRPr lang="en-US" sz="1500">
                        <a:effectLst/>
                      </a:endParaRPr>
                    </a:p>
                  </a:txBody>
                  <a:tcPr marL="77135" marR="77135" marT="53995" marB="53995"/>
                </a:tc>
                <a:tc>
                  <a:txBody>
                    <a:bodyPr/>
                    <a:lstStyle/>
                    <a:p>
                      <a:pPr algn="l" fontAlgn="t"/>
                      <a:r>
                        <a:rPr lang="en-US" sz="1500" dirty="0">
                          <a:solidFill>
                            <a:srgbClr val="000000"/>
                          </a:solidFill>
                          <a:effectLst/>
                        </a:rPr>
                        <a:t>Develop and deploy predictive models to drive business outcomes</a:t>
                      </a:r>
                      <a:endParaRPr lang="en-US" sz="1500" dirty="0">
                        <a:effectLst/>
                      </a:endParaRPr>
                    </a:p>
                  </a:txBody>
                  <a:tcPr marL="77135" marR="77135" marT="53995" marB="53995"/>
                </a:tc>
                <a:extLst>
                  <a:ext uri="{0D108BD9-81ED-4DB2-BD59-A6C34878D82A}">
                    <a16:rowId xmlns:a16="http://schemas.microsoft.com/office/drawing/2014/main" val="947152165"/>
                  </a:ext>
                </a:extLst>
              </a:tr>
              <a:tr h="798624">
                <a:tc>
                  <a:txBody>
                    <a:bodyPr/>
                    <a:lstStyle/>
                    <a:p>
                      <a:pPr algn="l" fontAlgn="t"/>
                      <a:r>
                        <a:rPr lang="en-GB" sz="1500" dirty="0">
                          <a:solidFill>
                            <a:srgbClr val="000000"/>
                          </a:solidFill>
                          <a:effectLst/>
                        </a:rPr>
                        <a:t>Technical Foundation</a:t>
                      </a:r>
                      <a:endParaRPr lang="en-GB" sz="1500" dirty="0">
                        <a:effectLst/>
                      </a:endParaRPr>
                    </a:p>
                  </a:txBody>
                  <a:tcPr marL="77135" marR="77135" marT="53995" marB="53995"/>
                </a:tc>
                <a:tc>
                  <a:txBody>
                    <a:bodyPr/>
                    <a:lstStyle/>
                    <a:p>
                      <a:pPr algn="l" fontAlgn="t"/>
                      <a:r>
                        <a:rPr lang="en-GB" sz="1500">
                          <a:solidFill>
                            <a:srgbClr val="000000"/>
                          </a:solidFill>
                          <a:effectLst/>
                        </a:rPr>
                        <a:t>Linear algebra, probability theory, statistics, data visualization</a:t>
                      </a:r>
                      <a:endParaRPr lang="en-GB" sz="1500">
                        <a:effectLst/>
                      </a:endParaRPr>
                    </a:p>
                  </a:txBody>
                  <a:tcPr marL="77135" marR="77135" marT="53995" marB="53995"/>
                </a:tc>
                <a:tc>
                  <a:txBody>
                    <a:bodyPr/>
                    <a:lstStyle/>
                    <a:p>
                      <a:pPr algn="l" fontAlgn="t"/>
                      <a:r>
                        <a:rPr lang="en-US" sz="1500" dirty="0">
                          <a:solidFill>
                            <a:srgbClr val="000000"/>
                          </a:solidFill>
                          <a:effectLst/>
                        </a:rPr>
                        <a:t>Machine learning algorithms, programming languages (e.g. Python), ML libraries and frameworks</a:t>
                      </a:r>
                      <a:endParaRPr lang="en-US" sz="1500" dirty="0">
                        <a:effectLst/>
                      </a:endParaRPr>
                    </a:p>
                  </a:txBody>
                  <a:tcPr marL="77135" marR="77135" marT="53995" marB="53995"/>
                </a:tc>
                <a:extLst>
                  <a:ext uri="{0D108BD9-81ED-4DB2-BD59-A6C34878D82A}">
                    <a16:rowId xmlns:a16="http://schemas.microsoft.com/office/drawing/2014/main" val="2350403744"/>
                  </a:ext>
                </a:extLst>
              </a:tr>
              <a:tr h="620600">
                <a:tc>
                  <a:txBody>
                    <a:bodyPr/>
                    <a:lstStyle/>
                    <a:p>
                      <a:pPr algn="l" fontAlgn="t"/>
                      <a:r>
                        <a:rPr lang="en-GB" sz="1500" dirty="0">
                          <a:solidFill>
                            <a:srgbClr val="000000"/>
                          </a:solidFill>
                          <a:effectLst/>
                        </a:rPr>
                        <a:t>Sample Tasks</a:t>
                      </a:r>
                      <a:endParaRPr lang="en-GB" sz="1500" dirty="0">
                        <a:effectLst/>
                      </a:endParaRPr>
                    </a:p>
                  </a:txBody>
                  <a:tcPr marL="77135" marR="77135" marT="53995" marB="53995"/>
                </a:tc>
                <a:tc>
                  <a:txBody>
                    <a:bodyPr/>
                    <a:lstStyle/>
                    <a:p>
                      <a:pPr algn="l" fontAlgn="t"/>
                      <a:r>
                        <a:rPr lang="en-US" sz="1500" dirty="0">
                          <a:solidFill>
                            <a:srgbClr val="000000"/>
                          </a:solidFill>
                          <a:effectLst/>
                        </a:rPr>
                        <a:t>Hypothesis testing, determining confidence intervals, regression analysis</a:t>
                      </a:r>
                      <a:endParaRPr lang="en-US" sz="1500" dirty="0">
                        <a:effectLst/>
                      </a:endParaRPr>
                    </a:p>
                  </a:txBody>
                  <a:tcPr marL="77135" marR="77135" marT="53995" marB="53995"/>
                </a:tc>
                <a:tc>
                  <a:txBody>
                    <a:bodyPr/>
                    <a:lstStyle/>
                    <a:p>
                      <a:pPr algn="l" fontAlgn="t"/>
                      <a:r>
                        <a:rPr lang="en-US" sz="1500" dirty="0">
                          <a:solidFill>
                            <a:srgbClr val="000000"/>
                          </a:solidFill>
                          <a:effectLst/>
                        </a:rPr>
                        <a:t>Supervised and unsupervised learning, model evaluation, hyperparameter tuning</a:t>
                      </a:r>
                      <a:endParaRPr lang="en-US" sz="1500" dirty="0">
                        <a:effectLst/>
                      </a:endParaRPr>
                    </a:p>
                  </a:txBody>
                  <a:tcPr marL="77135" marR="77135" marT="53995" marB="53995"/>
                </a:tc>
                <a:extLst>
                  <a:ext uri="{0D108BD9-81ED-4DB2-BD59-A6C34878D82A}">
                    <a16:rowId xmlns:a16="http://schemas.microsoft.com/office/drawing/2014/main" val="56022178"/>
                  </a:ext>
                </a:extLst>
              </a:tr>
              <a:tr h="798624">
                <a:tc>
                  <a:txBody>
                    <a:bodyPr/>
                    <a:lstStyle/>
                    <a:p>
                      <a:pPr algn="l" fontAlgn="t"/>
                      <a:r>
                        <a:rPr lang="en-GB" sz="1500" dirty="0">
                          <a:solidFill>
                            <a:srgbClr val="000000"/>
                          </a:solidFill>
                          <a:effectLst/>
                        </a:rPr>
                        <a:t>Data Pipeline</a:t>
                      </a:r>
                      <a:endParaRPr lang="en-GB" sz="1500" dirty="0">
                        <a:effectLst/>
                      </a:endParaRPr>
                    </a:p>
                  </a:txBody>
                  <a:tcPr marL="77135" marR="77135" marT="53995" marB="53995"/>
                </a:tc>
                <a:tc>
                  <a:txBody>
                    <a:bodyPr/>
                    <a:lstStyle/>
                    <a:p>
                      <a:pPr algn="l" fontAlgn="t"/>
                      <a:r>
                        <a:rPr lang="en-US" sz="1500">
                          <a:solidFill>
                            <a:srgbClr val="000000"/>
                          </a:solidFill>
                          <a:effectLst/>
                        </a:rPr>
                        <a:t>Data acquisition, cleaning, EDA, maybe labeling</a:t>
                      </a:r>
                      <a:endParaRPr lang="en-US" sz="1500">
                        <a:effectLst/>
                      </a:endParaRPr>
                    </a:p>
                  </a:txBody>
                  <a:tcPr marL="77135" marR="77135" marT="53995" marB="53995"/>
                </a:tc>
                <a:tc>
                  <a:txBody>
                    <a:bodyPr/>
                    <a:lstStyle/>
                    <a:p>
                      <a:pPr algn="l" fontAlgn="t"/>
                      <a:r>
                        <a:rPr lang="en-US" sz="1500" dirty="0">
                          <a:solidFill>
                            <a:srgbClr val="000000"/>
                          </a:solidFill>
                          <a:effectLst/>
                        </a:rPr>
                        <a:t>Integration with data systems, preprocessing and pipelining, feature engineering, maybe augmentation</a:t>
                      </a:r>
                      <a:endParaRPr lang="en-US" sz="1500" dirty="0">
                        <a:effectLst/>
                      </a:endParaRPr>
                    </a:p>
                  </a:txBody>
                  <a:tcPr marL="77135" marR="77135" marT="53995" marB="53995"/>
                </a:tc>
                <a:extLst>
                  <a:ext uri="{0D108BD9-81ED-4DB2-BD59-A6C34878D82A}">
                    <a16:rowId xmlns:a16="http://schemas.microsoft.com/office/drawing/2014/main" val="2281286661"/>
                  </a:ext>
                </a:extLst>
              </a:tr>
              <a:tr h="620600">
                <a:tc>
                  <a:txBody>
                    <a:bodyPr/>
                    <a:lstStyle/>
                    <a:p>
                      <a:pPr algn="l" fontAlgn="t"/>
                      <a:r>
                        <a:rPr lang="en-GB" sz="1500" dirty="0">
                          <a:solidFill>
                            <a:srgbClr val="000000"/>
                          </a:solidFill>
                          <a:effectLst/>
                        </a:rPr>
                        <a:t>Outcomes</a:t>
                      </a:r>
                      <a:endParaRPr lang="en-GB" sz="1500" dirty="0">
                        <a:effectLst/>
                      </a:endParaRPr>
                    </a:p>
                  </a:txBody>
                  <a:tcPr marL="77135" marR="77135" marT="53995" marB="53995"/>
                </a:tc>
                <a:tc>
                  <a:txBody>
                    <a:bodyPr/>
                    <a:lstStyle/>
                    <a:p>
                      <a:pPr algn="l" fontAlgn="t"/>
                      <a:r>
                        <a:rPr lang="en-US" sz="1500">
                          <a:solidFill>
                            <a:srgbClr val="000000"/>
                          </a:solidFill>
                          <a:effectLst/>
                        </a:rPr>
                        <a:t>Data visualization, insight generation, reporting and dashboards</a:t>
                      </a:r>
                      <a:endParaRPr lang="en-US" sz="1500">
                        <a:effectLst/>
                      </a:endParaRPr>
                    </a:p>
                  </a:txBody>
                  <a:tcPr marL="77135" marR="77135" marT="53995" marB="53995"/>
                </a:tc>
                <a:tc>
                  <a:txBody>
                    <a:bodyPr/>
                    <a:lstStyle/>
                    <a:p>
                      <a:pPr algn="l" fontAlgn="t"/>
                      <a:r>
                        <a:rPr lang="en-US" sz="1500" dirty="0">
                          <a:solidFill>
                            <a:srgbClr val="000000"/>
                          </a:solidFill>
                          <a:effectLst/>
                        </a:rPr>
                        <a:t>Model development and deployment, predictive analytics, APIs and apps</a:t>
                      </a:r>
                      <a:endParaRPr lang="en-US" sz="1500" dirty="0">
                        <a:effectLst/>
                      </a:endParaRPr>
                    </a:p>
                  </a:txBody>
                  <a:tcPr marL="77135" marR="77135" marT="53995" marB="53995"/>
                </a:tc>
                <a:extLst>
                  <a:ext uri="{0D108BD9-81ED-4DB2-BD59-A6C34878D82A}">
                    <a16:rowId xmlns:a16="http://schemas.microsoft.com/office/drawing/2014/main" val="1196695877"/>
                  </a:ext>
                </a:extLst>
              </a:tr>
              <a:tr h="442581">
                <a:tc>
                  <a:txBody>
                    <a:bodyPr/>
                    <a:lstStyle/>
                    <a:p>
                      <a:pPr algn="l" fontAlgn="t"/>
                      <a:r>
                        <a:rPr lang="en-GB" sz="1500" dirty="0">
                          <a:solidFill>
                            <a:srgbClr val="000000"/>
                          </a:solidFill>
                          <a:effectLst/>
                        </a:rPr>
                        <a:t>Common libraries</a:t>
                      </a:r>
                      <a:endParaRPr lang="en-GB" sz="1500" dirty="0">
                        <a:effectLst/>
                      </a:endParaRPr>
                    </a:p>
                  </a:txBody>
                  <a:tcPr marL="77135" marR="77135" marT="53995" marB="53995"/>
                </a:tc>
                <a:tc>
                  <a:txBody>
                    <a:bodyPr/>
                    <a:lstStyle/>
                    <a:p>
                      <a:pPr algn="l" fontAlgn="t"/>
                      <a:r>
                        <a:rPr lang="en-GB" sz="1500" dirty="0" err="1">
                          <a:solidFill>
                            <a:srgbClr val="000000"/>
                          </a:solidFill>
                          <a:effectLst/>
                        </a:rPr>
                        <a:t>statsmodels</a:t>
                      </a:r>
                      <a:r>
                        <a:rPr lang="en-GB" sz="1500" dirty="0">
                          <a:solidFill>
                            <a:srgbClr val="000000"/>
                          </a:solidFill>
                          <a:effectLst/>
                        </a:rPr>
                        <a:t>, </a:t>
                      </a:r>
                      <a:r>
                        <a:rPr lang="en-GB" sz="1500" dirty="0" err="1">
                          <a:solidFill>
                            <a:srgbClr val="000000"/>
                          </a:solidFill>
                          <a:effectLst/>
                        </a:rPr>
                        <a:t>pystan</a:t>
                      </a:r>
                      <a:r>
                        <a:rPr lang="en-GB" sz="1500" dirty="0">
                          <a:solidFill>
                            <a:srgbClr val="000000"/>
                          </a:solidFill>
                          <a:effectLst/>
                        </a:rPr>
                        <a:t>, </a:t>
                      </a:r>
                      <a:r>
                        <a:rPr lang="en-GB" sz="1500" dirty="0" err="1">
                          <a:solidFill>
                            <a:srgbClr val="000000"/>
                          </a:solidFill>
                          <a:effectLst/>
                        </a:rPr>
                        <a:t>pymc</a:t>
                      </a:r>
                      <a:endParaRPr lang="en-GB" sz="1500" dirty="0">
                        <a:effectLst/>
                      </a:endParaRPr>
                    </a:p>
                  </a:txBody>
                  <a:tcPr marL="77135" marR="77135" marT="53995" marB="53995"/>
                </a:tc>
                <a:tc>
                  <a:txBody>
                    <a:bodyPr/>
                    <a:lstStyle/>
                    <a:p>
                      <a:pPr algn="l" fontAlgn="t"/>
                      <a:r>
                        <a:rPr lang="en-GB" sz="1500" dirty="0" err="1">
                          <a:solidFill>
                            <a:srgbClr val="000000"/>
                          </a:solidFill>
                          <a:effectLst/>
                        </a:rPr>
                        <a:t>sklearn</a:t>
                      </a:r>
                      <a:r>
                        <a:rPr lang="en-GB" sz="1500" dirty="0">
                          <a:solidFill>
                            <a:srgbClr val="000000"/>
                          </a:solidFill>
                          <a:effectLst/>
                        </a:rPr>
                        <a:t>, </a:t>
                      </a:r>
                      <a:r>
                        <a:rPr lang="en-GB" sz="1500" dirty="0" err="1">
                          <a:solidFill>
                            <a:srgbClr val="000000"/>
                          </a:solidFill>
                          <a:effectLst/>
                        </a:rPr>
                        <a:t>xgb</a:t>
                      </a:r>
                      <a:r>
                        <a:rPr lang="en-GB" sz="1500" dirty="0">
                          <a:solidFill>
                            <a:srgbClr val="000000"/>
                          </a:solidFill>
                          <a:effectLst/>
                        </a:rPr>
                        <a:t>/</a:t>
                      </a:r>
                      <a:r>
                        <a:rPr lang="en-GB" sz="1500" dirty="0" err="1">
                          <a:solidFill>
                            <a:srgbClr val="000000"/>
                          </a:solidFill>
                          <a:effectLst/>
                        </a:rPr>
                        <a:t>lgbm</a:t>
                      </a:r>
                      <a:r>
                        <a:rPr lang="en-GB" sz="1500" dirty="0">
                          <a:solidFill>
                            <a:srgbClr val="000000"/>
                          </a:solidFill>
                          <a:effectLst/>
                        </a:rPr>
                        <a:t>, </a:t>
                      </a:r>
                      <a:r>
                        <a:rPr lang="en-GB" sz="1500" dirty="0" err="1">
                          <a:solidFill>
                            <a:srgbClr val="000000"/>
                          </a:solidFill>
                          <a:effectLst/>
                        </a:rPr>
                        <a:t>autogluon</a:t>
                      </a:r>
                      <a:r>
                        <a:rPr lang="en-GB" sz="1500" dirty="0">
                          <a:solidFill>
                            <a:srgbClr val="000000"/>
                          </a:solidFill>
                          <a:effectLst/>
                        </a:rPr>
                        <a:t>, </a:t>
                      </a:r>
                      <a:r>
                        <a:rPr lang="en-GB" sz="1500" dirty="0" err="1">
                          <a:solidFill>
                            <a:srgbClr val="000000"/>
                          </a:solidFill>
                          <a:effectLst/>
                        </a:rPr>
                        <a:t>pytorch</a:t>
                      </a:r>
                      <a:endParaRPr lang="en-GB" sz="1500" dirty="0">
                        <a:effectLst/>
                      </a:endParaRPr>
                    </a:p>
                  </a:txBody>
                  <a:tcPr marL="77135" marR="77135" marT="53995" marB="53995"/>
                </a:tc>
                <a:extLst>
                  <a:ext uri="{0D108BD9-81ED-4DB2-BD59-A6C34878D82A}">
                    <a16:rowId xmlns:a16="http://schemas.microsoft.com/office/drawing/2014/main" val="1970227616"/>
                  </a:ext>
                </a:extLst>
              </a:tr>
            </a:tbl>
          </a:graphicData>
        </a:graphic>
      </p:graphicFrame>
    </p:spTree>
    <p:extLst>
      <p:ext uri="{BB962C8B-B14F-4D97-AF65-F5344CB8AC3E}">
        <p14:creationId xmlns:p14="http://schemas.microsoft.com/office/powerpoint/2010/main" val="1918074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00E9E-7787-41EF-800E-946E8FC83C73}"/>
              </a:ext>
            </a:extLst>
          </p:cNvPr>
          <p:cNvSpPr>
            <a:spLocks noGrp="1"/>
          </p:cNvSpPr>
          <p:nvPr>
            <p:ph type="title"/>
          </p:nvPr>
        </p:nvSpPr>
        <p:spPr>
          <a:xfrm>
            <a:off x="838200" y="204487"/>
            <a:ext cx="10515600" cy="1325563"/>
          </a:xfrm>
        </p:spPr>
        <p:txBody>
          <a:bodyPr/>
          <a:lstStyle/>
          <a:p>
            <a:r>
              <a:rPr lang="en-US" dirty="0"/>
              <a:t>If I choose a specialization can I change it?</a:t>
            </a:r>
            <a:endParaRPr lang="en-GB" dirty="0"/>
          </a:p>
        </p:txBody>
      </p:sp>
      <p:sp>
        <p:nvSpPr>
          <p:cNvPr id="3" name="Content Placeholder 2">
            <a:extLst>
              <a:ext uri="{FF2B5EF4-FFF2-40B4-BE49-F238E27FC236}">
                <a16:creationId xmlns:a16="http://schemas.microsoft.com/office/drawing/2014/main" id="{B344AA86-7A13-457D-8ABF-2C133CA90304}"/>
              </a:ext>
            </a:extLst>
          </p:cNvPr>
          <p:cNvSpPr>
            <a:spLocks noGrp="1"/>
          </p:cNvSpPr>
          <p:nvPr>
            <p:ph idx="1"/>
          </p:nvPr>
        </p:nvSpPr>
        <p:spPr>
          <a:xfrm>
            <a:off x="838200" y="1530050"/>
            <a:ext cx="10515600" cy="4646913"/>
          </a:xfrm>
        </p:spPr>
        <p:txBody>
          <a:bodyPr/>
          <a:lstStyle/>
          <a:p>
            <a:r>
              <a:rPr lang="en-US" dirty="0"/>
              <a:t>Yes</a:t>
            </a:r>
          </a:p>
          <a:p>
            <a:r>
              <a:rPr lang="en-US" dirty="0"/>
              <a:t>Demonstrating your proficiency in a specialization does not limit your career path in any way, feel free to learn as many specializations as you the time and capacity for</a:t>
            </a:r>
          </a:p>
          <a:p>
            <a:r>
              <a:rPr lang="en-GB" dirty="0"/>
              <a:t>Your assigned projects will also not be limited to your specialization—but if your specialization is rare, then you can expect that you will be given all the relevant projects that nobody else knows how to do</a:t>
            </a:r>
          </a:p>
          <a:p>
            <a:endParaRPr lang="en-US" dirty="0"/>
          </a:p>
          <a:p>
            <a:endParaRPr lang="en-GB" dirty="0"/>
          </a:p>
        </p:txBody>
      </p:sp>
    </p:spTree>
    <p:extLst>
      <p:ext uri="{BB962C8B-B14F-4D97-AF65-F5344CB8AC3E}">
        <p14:creationId xmlns:p14="http://schemas.microsoft.com/office/powerpoint/2010/main" val="2514659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FD428-BBF8-404F-BDDC-FF67248A6957}"/>
              </a:ext>
            </a:extLst>
          </p:cNvPr>
          <p:cNvSpPr>
            <a:spLocks noGrp="1"/>
          </p:cNvSpPr>
          <p:nvPr>
            <p:ph type="title"/>
          </p:nvPr>
        </p:nvSpPr>
        <p:spPr/>
        <p:txBody>
          <a:bodyPr/>
          <a:lstStyle/>
          <a:p>
            <a:r>
              <a:rPr lang="en-US" dirty="0"/>
              <a:t>How do you track community contribution?</a:t>
            </a:r>
            <a:endParaRPr lang="en-GB" dirty="0"/>
          </a:p>
        </p:txBody>
      </p:sp>
      <p:sp>
        <p:nvSpPr>
          <p:cNvPr id="3" name="Content Placeholder 2">
            <a:extLst>
              <a:ext uri="{FF2B5EF4-FFF2-40B4-BE49-F238E27FC236}">
                <a16:creationId xmlns:a16="http://schemas.microsoft.com/office/drawing/2014/main" id="{6E46B2A2-0E09-4288-A15A-5B26AC72DCE4}"/>
              </a:ext>
            </a:extLst>
          </p:cNvPr>
          <p:cNvSpPr>
            <a:spLocks noGrp="1"/>
          </p:cNvSpPr>
          <p:nvPr>
            <p:ph idx="1"/>
          </p:nvPr>
        </p:nvSpPr>
        <p:spPr/>
        <p:txBody>
          <a:bodyPr/>
          <a:lstStyle/>
          <a:p>
            <a:r>
              <a:rPr lang="en-US" dirty="0"/>
              <a:t>There will be a slide in the template for you to write this all down</a:t>
            </a:r>
          </a:p>
          <a:p>
            <a:r>
              <a:rPr lang="en-GB" dirty="0"/>
              <a:t>But the </a:t>
            </a:r>
            <a:r>
              <a:rPr lang="en-GB" strike="sngStrike" dirty="0">
                <a:solidFill>
                  <a:srgbClr val="FF00FF"/>
                </a:solidFill>
              </a:rPr>
              <a:t>DA</a:t>
            </a:r>
            <a:r>
              <a:rPr lang="en-GB" dirty="0">
                <a:solidFill>
                  <a:srgbClr val="FF00FF"/>
                </a:solidFill>
              </a:rPr>
              <a:t> DSAI </a:t>
            </a:r>
            <a:r>
              <a:rPr lang="en-GB" dirty="0"/>
              <a:t>community is small, so we’ll sometimes just know</a:t>
            </a:r>
          </a:p>
        </p:txBody>
      </p:sp>
    </p:spTree>
    <p:extLst>
      <p:ext uri="{BB962C8B-B14F-4D97-AF65-F5344CB8AC3E}">
        <p14:creationId xmlns:p14="http://schemas.microsoft.com/office/powerpoint/2010/main" val="2831981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36E9E-8EE5-4DFD-B0D6-6F462B9C245C}"/>
              </a:ext>
            </a:extLst>
          </p:cNvPr>
          <p:cNvSpPr>
            <a:spLocks noGrp="1"/>
          </p:cNvSpPr>
          <p:nvPr>
            <p:ph type="title"/>
          </p:nvPr>
        </p:nvSpPr>
        <p:spPr/>
        <p:txBody>
          <a:bodyPr/>
          <a:lstStyle/>
          <a:p>
            <a:r>
              <a:rPr lang="en-US" dirty="0"/>
              <a:t>So we need to meet the PL checklist?</a:t>
            </a:r>
            <a:endParaRPr lang="en-GB" dirty="0"/>
          </a:p>
        </p:txBody>
      </p:sp>
      <p:sp>
        <p:nvSpPr>
          <p:cNvPr id="3" name="Content Placeholder 2">
            <a:extLst>
              <a:ext uri="{FF2B5EF4-FFF2-40B4-BE49-F238E27FC236}">
                <a16:creationId xmlns:a16="http://schemas.microsoft.com/office/drawing/2014/main" id="{09ADE5D1-261B-40D5-B7BB-FCD13B024681}"/>
              </a:ext>
            </a:extLst>
          </p:cNvPr>
          <p:cNvSpPr>
            <a:spLocks noGrp="1"/>
          </p:cNvSpPr>
          <p:nvPr>
            <p:ph idx="1"/>
          </p:nvPr>
        </p:nvSpPr>
        <p:spPr/>
        <p:txBody>
          <a:bodyPr/>
          <a:lstStyle/>
          <a:p>
            <a:r>
              <a:rPr lang="en-US"/>
              <a:t>No, and it’s not a checklist</a:t>
            </a:r>
          </a:p>
          <a:p>
            <a:r>
              <a:rPr lang="en-US"/>
              <a:t>The PL descriptors are neither necessary nor sufficient</a:t>
            </a:r>
          </a:p>
          <a:p>
            <a:r>
              <a:rPr lang="en-US"/>
              <a:t>The description of each PL is a list of behavioral indicators that describe what a person at that specified level of proficiency should be able to do pretty easily on a day to day basis</a:t>
            </a:r>
          </a:p>
          <a:p>
            <a:endParaRPr lang="en-GB" dirty="0"/>
          </a:p>
        </p:txBody>
      </p:sp>
    </p:spTree>
    <p:extLst>
      <p:ext uri="{BB962C8B-B14F-4D97-AF65-F5344CB8AC3E}">
        <p14:creationId xmlns:p14="http://schemas.microsoft.com/office/powerpoint/2010/main" val="5028697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065AE-FFA6-4458-9D16-FADD669449A9}"/>
              </a:ext>
            </a:extLst>
          </p:cNvPr>
          <p:cNvSpPr>
            <a:spLocks noGrp="1"/>
          </p:cNvSpPr>
          <p:nvPr>
            <p:ph type="title"/>
          </p:nvPr>
        </p:nvSpPr>
        <p:spPr/>
        <p:txBody>
          <a:bodyPr/>
          <a:lstStyle/>
          <a:p>
            <a:r>
              <a:rPr lang="en-US" dirty="0"/>
              <a:t>Is JR11 the same as “Citizen Data Scientist”?</a:t>
            </a:r>
            <a:endParaRPr lang="en-GB" dirty="0"/>
          </a:p>
        </p:txBody>
      </p:sp>
      <p:sp>
        <p:nvSpPr>
          <p:cNvPr id="3" name="Content Placeholder 2">
            <a:extLst>
              <a:ext uri="{FF2B5EF4-FFF2-40B4-BE49-F238E27FC236}">
                <a16:creationId xmlns:a16="http://schemas.microsoft.com/office/drawing/2014/main" id="{056E39AA-F7B6-4393-AC9C-EA79917B39E2}"/>
              </a:ext>
            </a:extLst>
          </p:cNvPr>
          <p:cNvSpPr>
            <a:spLocks noGrp="1"/>
          </p:cNvSpPr>
          <p:nvPr>
            <p:ph idx="1"/>
          </p:nvPr>
        </p:nvSpPr>
        <p:spPr>
          <a:xfrm>
            <a:off x="838200" y="1537670"/>
            <a:ext cx="10515600" cy="4646913"/>
          </a:xfrm>
        </p:spPr>
        <p:txBody>
          <a:bodyPr/>
          <a:lstStyle/>
          <a:p>
            <a:r>
              <a:rPr lang="en-US" dirty="0"/>
              <a:t>No, CDS-</a:t>
            </a:r>
            <a:r>
              <a:rPr lang="en-US" dirty="0" err="1"/>
              <a:t>es</a:t>
            </a:r>
            <a:r>
              <a:rPr lang="en-US" dirty="0"/>
              <a:t> are (generally) non-tech:</a:t>
            </a:r>
          </a:p>
          <a:p>
            <a:pPr lvl="1"/>
            <a:r>
              <a:rPr lang="en-US" dirty="0"/>
              <a:t>Not required to hold relevant qualifications</a:t>
            </a:r>
          </a:p>
          <a:p>
            <a:pPr lvl="1"/>
            <a:r>
              <a:rPr lang="en-US" dirty="0"/>
              <a:t>Not held to any specific competency standard</a:t>
            </a:r>
          </a:p>
          <a:p>
            <a:pPr lvl="1"/>
            <a:r>
              <a:rPr lang="en-US" dirty="0"/>
              <a:t>Not eligible for </a:t>
            </a:r>
            <a:r>
              <a:rPr lang="en-US" dirty="0">
                <a:solidFill>
                  <a:srgbClr val="FF00FF"/>
                </a:solidFill>
              </a:rPr>
              <a:t>tech / hot skills</a:t>
            </a:r>
            <a:r>
              <a:rPr lang="en-US" dirty="0"/>
              <a:t> allowance</a:t>
            </a:r>
          </a:p>
          <a:p>
            <a:r>
              <a:rPr lang="en-US" i="1" dirty="0"/>
              <a:t>(See next slide for JR11 requirements)</a:t>
            </a:r>
            <a:endParaRPr lang="en-GB" i="1" dirty="0"/>
          </a:p>
        </p:txBody>
      </p:sp>
    </p:spTree>
    <p:extLst>
      <p:ext uri="{BB962C8B-B14F-4D97-AF65-F5344CB8AC3E}">
        <p14:creationId xmlns:p14="http://schemas.microsoft.com/office/powerpoint/2010/main" val="3678880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E864C-EDB7-4CE2-8E22-0D1FC6880C77}"/>
              </a:ext>
            </a:extLst>
          </p:cNvPr>
          <p:cNvSpPr>
            <a:spLocks noGrp="1"/>
          </p:cNvSpPr>
          <p:nvPr>
            <p:ph type="title"/>
          </p:nvPr>
        </p:nvSpPr>
        <p:spPr/>
        <p:txBody>
          <a:bodyPr/>
          <a:lstStyle/>
          <a:p>
            <a:r>
              <a:rPr lang="en-US"/>
              <a:t>Are there requirements for JR11?</a:t>
            </a:r>
            <a:endParaRPr lang="en-US" dirty="0"/>
          </a:p>
        </p:txBody>
      </p:sp>
      <p:sp>
        <p:nvSpPr>
          <p:cNvPr id="6" name="Content Placeholder 5">
            <a:extLst>
              <a:ext uri="{FF2B5EF4-FFF2-40B4-BE49-F238E27FC236}">
                <a16:creationId xmlns:a16="http://schemas.microsoft.com/office/drawing/2014/main" id="{235A9304-712B-4FA6-AC87-461E19F288F3}"/>
              </a:ext>
            </a:extLst>
          </p:cNvPr>
          <p:cNvSpPr>
            <a:spLocks noGrp="1"/>
          </p:cNvSpPr>
          <p:nvPr>
            <p:ph idx="1"/>
          </p:nvPr>
        </p:nvSpPr>
        <p:spPr/>
        <p:txBody>
          <a:bodyPr/>
          <a:lstStyle/>
          <a:p>
            <a:r>
              <a:rPr lang="en-US"/>
              <a:t>Yes, but it (probably) doesn’t affect you</a:t>
            </a:r>
            <a:endParaRPr lang="en-GB" dirty="0"/>
          </a:p>
        </p:txBody>
      </p:sp>
      <p:sp>
        <p:nvSpPr>
          <p:cNvPr id="4" name="Right Brace 3">
            <a:extLst>
              <a:ext uri="{FF2B5EF4-FFF2-40B4-BE49-F238E27FC236}">
                <a16:creationId xmlns:a16="http://schemas.microsoft.com/office/drawing/2014/main" id="{B5CACE45-D6A3-4498-8FF3-DECFC8E3BDFB}"/>
              </a:ext>
            </a:extLst>
          </p:cNvPr>
          <p:cNvSpPr/>
          <p:nvPr/>
        </p:nvSpPr>
        <p:spPr>
          <a:xfrm rot="5400000" flipH="1">
            <a:off x="4968272" y="1878228"/>
            <a:ext cx="148282" cy="1703314"/>
          </a:xfrm>
          <a:prstGeom prst="rightBrace">
            <a:avLst>
              <a:gd name="adj1" fmla="val 53298"/>
              <a:gd name="adj2" fmla="val 50000"/>
            </a:avLst>
          </a:prstGeom>
          <a:ln w="1905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83532166-E49D-41B0-9DFD-18A91579CAF9}"/>
              </a:ext>
            </a:extLst>
          </p:cNvPr>
          <p:cNvSpPr txBox="1"/>
          <p:nvPr/>
        </p:nvSpPr>
        <p:spPr>
          <a:xfrm>
            <a:off x="4459126" y="2419886"/>
            <a:ext cx="1173719" cy="261610"/>
          </a:xfrm>
          <a:prstGeom prst="rect">
            <a:avLst/>
          </a:prstGeom>
          <a:noFill/>
        </p:spPr>
        <p:txBody>
          <a:bodyPr wrap="none" rtlCol="0">
            <a:spAutoFit/>
          </a:bodyPr>
          <a:lstStyle/>
          <a:p>
            <a:pPr algn="ctr"/>
            <a:r>
              <a:rPr lang="en-US" sz="1100" dirty="0">
                <a:solidFill>
                  <a:schemeClr val="accent2"/>
                </a:solidFill>
              </a:rPr>
              <a:t>Affects new hires</a:t>
            </a:r>
          </a:p>
        </p:txBody>
      </p:sp>
      <p:graphicFrame>
        <p:nvGraphicFramePr>
          <p:cNvPr id="8" name="Content Placeholder 11">
            <a:extLst>
              <a:ext uri="{FF2B5EF4-FFF2-40B4-BE49-F238E27FC236}">
                <a16:creationId xmlns:a16="http://schemas.microsoft.com/office/drawing/2014/main" id="{D9044415-1A21-4562-A04F-3745E35C769E}"/>
              </a:ext>
            </a:extLst>
          </p:cNvPr>
          <p:cNvGraphicFramePr>
            <a:graphicFrameLocks/>
          </p:cNvGraphicFramePr>
          <p:nvPr>
            <p:extLst>
              <p:ext uri="{D42A27DB-BD31-4B8C-83A1-F6EECF244321}">
                <p14:modId xmlns:p14="http://schemas.microsoft.com/office/powerpoint/2010/main" val="625985985"/>
              </p:ext>
            </p:extLst>
          </p:nvPr>
        </p:nvGraphicFramePr>
        <p:xfrm>
          <a:off x="838200" y="2855613"/>
          <a:ext cx="10515598" cy="2924150"/>
        </p:xfrm>
        <a:graphic>
          <a:graphicData uri="http://schemas.openxmlformats.org/drawingml/2006/table">
            <a:tbl>
              <a:tblPr>
                <a:tableStyleId>{5940675A-B579-460E-94D1-54222C63F5DA}</a:tableStyleId>
              </a:tblPr>
              <a:tblGrid>
                <a:gridCol w="3321702">
                  <a:extLst>
                    <a:ext uri="{9D8B030D-6E8A-4147-A177-3AD203B41FA5}">
                      <a16:colId xmlns:a16="http://schemas.microsoft.com/office/drawing/2014/main" val="1244437194"/>
                    </a:ext>
                  </a:extLst>
                </a:gridCol>
                <a:gridCol w="1798474">
                  <a:extLst>
                    <a:ext uri="{9D8B030D-6E8A-4147-A177-3AD203B41FA5}">
                      <a16:colId xmlns:a16="http://schemas.microsoft.com/office/drawing/2014/main" val="1205485165"/>
                    </a:ext>
                  </a:extLst>
                </a:gridCol>
                <a:gridCol w="1798474">
                  <a:extLst>
                    <a:ext uri="{9D8B030D-6E8A-4147-A177-3AD203B41FA5}">
                      <a16:colId xmlns:a16="http://schemas.microsoft.com/office/drawing/2014/main" val="2913466263"/>
                    </a:ext>
                  </a:extLst>
                </a:gridCol>
                <a:gridCol w="1798474">
                  <a:extLst>
                    <a:ext uri="{9D8B030D-6E8A-4147-A177-3AD203B41FA5}">
                      <a16:colId xmlns:a16="http://schemas.microsoft.com/office/drawing/2014/main" val="4053945279"/>
                    </a:ext>
                  </a:extLst>
                </a:gridCol>
                <a:gridCol w="1798474">
                  <a:extLst>
                    <a:ext uri="{9D8B030D-6E8A-4147-A177-3AD203B41FA5}">
                      <a16:colId xmlns:a16="http://schemas.microsoft.com/office/drawing/2014/main" val="28758067"/>
                    </a:ext>
                  </a:extLst>
                </a:gridCol>
              </a:tblGrid>
              <a:tr h="292415">
                <a:tc>
                  <a:txBody>
                    <a:bodyPr/>
                    <a:lstStyle/>
                    <a:p>
                      <a:pPr algn="ctr" fontAlgn="b"/>
                      <a:endParaRPr lang="en-US" sz="1600" b="0" i="0" u="none" strike="noStrike" dirty="0">
                        <a:solidFill>
                          <a:srgbClr val="000000"/>
                        </a:solidFill>
                        <a:effectLst/>
                        <a:latin typeface="Calibri" panose="020F0502020204030204" pitchFamily="34" charset="0"/>
                      </a:endParaRPr>
                    </a:p>
                  </a:txBody>
                  <a:tcPr marL="5150" marR="5150" marT="5150" marB="0" anchor="ctr"/>
                </a:tc>
                <a:tc>
                  <a:txBody>
                    <a:bodyPr/>
                    <a:lstStyle/>
                    <a:p>
                      <a:pPr algn="ctr" fontAlgn="b"/>
                      <a:r>
                        <a:rPr lang="en-US" sz="1600" b="1" i="0" u="none" strike="noStrike" dirty="0">
                          <a:solidFill>
                            <a:schemeClr val="tx1"/>
                          </a:solidFill>
                          <a:effectLst/>
                          <a:latin typeface="Calibri" panose="020F0502020204030204" pitchFamily="34" charset="0"/>
                        </a:rPr>
                        <a:t>JR11</a:t>
                      </a:r>
                    </a:p>
                  </a:txBody>
                  <a:tcPr marL="5150" marR="5150" marT="5150" marB="0" anchor="ctr"/>
                </a:tc>
                <a:tc>
                  <a:txBody>
                    <a:bodyPr/>
                    <a:lstStyle/>
                    <a:p>
                      <a:pPr algn="ctr" fontAlgn="b"/>
                      <a:r>
                        <a:rPr lang="en-US" sz="1600" b="1" u="none" strike="noStrike" dirty="0">
                          <a:solidFill>
                            <a:schemeClr val="tx1"/>
                          </a:solidFill>
                          <a:effectLst/>
                        </a:rPr>
                        <a:t>JR11+</a:t>
                      </a:r>
                      <a:endParaRPr lang="en-US" sz="1600" b="1" i="0" u="none" strike="noStrike" dirty="0">
                        <a:solidFill>
                          <a:schemeClr val="tx1"/>
                        </a:solidFill>
                        <a:effectLst/>
                        <a:latin typeface="Calibri" panose="020F0502020204030204" pitchFamily="34" charset="0"/>
                      </a:endParaRPr>
                    </a:p>
                  </a:txBody>
                  <a:tcPr marL="5150" marR="5150" marT="5150" marB="0" anchor="ctr"/>
                </a:tc>
                <a:tc>
                  <a:txBody>
                    <a:bodyPr/>
                    <a:lstStyle/>
                    <a:p>
                      <a:pPr algn="ctr" fontAlgn="b"/>
                      <a:r>
                        <a:rPr lang="en-US" sz="1600" b="1" u="none" strike="noStrike" dirty="0">
                          <a:solidFill>
                            <a:schemeClr val="tx1"/>
                          </a:solidFill>
                          <a:effectLst/>
                        </a:rPr>
                        <a:t>JR10</a:t>
                      </a:r>
                      <a:endParaRPr lang="en-US" sz="1600" b="1" i="0" u="none" strike="noStrike" dirty="0">
                        <a:solidFill>
                          <a:schemeClr val="tx1"/>
                        </a:solidFill>
                        <a:effectLst/>
                        <a:latin typeface="Calibri" panose="020F0502020204030204" pitchFamily="34" charset="0"/>
                      </a:endParaRPr>
                    </a:p>
                  </a:txBody>
                  <a:tcPr marL="5150" marR="5150" marT="5150" marB="0" anchor="ctr"/>
                </a:tc>
                <a:tc>
                  <a:txBody>
                    <a:bodyPr/>
                    <a:lstStyle/>
                    <a:p>
                      <a:pPr algn="ctr" fontAlgn="b"/>
                      <a:r>
                        <a:rPr lang="en-US" sz="1600" b="1" u="none" strike="noStrike" dirty="0">
                          <a:solidFill>
                            <a:schemeClr val="tx1"/>
                          </a:solidFill>
                          <a:effectLst/>
                        </a:rPr>
                        <a:t>JR9</a:t>
                      </a:r>
                      <a:endParaRPr lang="en-US" sz="1600" b="1" i="0" u="none" strike="noStrike" dirty="0">
                        <a:solidFill>
                          <a:schemeClr val="tx1"/>
                        </a:solidFill>
                        <a:effectLst/>
                        <a:latin typeface="Calibri" panose="020F0502020204030204" pitchFamily="34" charset="0"/>
                      </a:endParaRPr>
                    </a:p>
                  </a:txBody>
                  <a:tcPr marL="5150" marR="5150" marT="5150" marB="0" anchor="ctr"/>
                </a:tc>
                <a:extLst>
                  <a:ext uri="{0D108BD9-81ED-4DB2-BD59-A6C34878D82A}">
                    <a16:rowId xmlns:a16="http://schemas.microsoft.com/office/drawing/2014/main" val="1956171747"/>
                  </a:ext>
                </a:extLst>
              </a:tr>
              <a:tr h="292415">
                <a:tc>
                  <a:txBody>
                    <a:bodyPr/>
                    <a:lstStyle/>
                    <a:p>
                      <a:pPr algn="ctr" fontAlgn="b"/>
                      <a:r>
                        <a:rPr lang="en-US" dirty="0"/>
                        <a:t>Data Project Design</a:t>
                      </a:r>
                    </a:p>
                  </a:txBody>
                  <a:tcPr marL="5150" marR="5150" marT="5150" marB="0" anchor="ctr"/>
                </a:tc>
                <a:tc rowSpan="6">
                  <a:txBody>
                    <a:bodyPr/>
                    <a:lstStyle/>
                    <a:p>
                      <a:pPr algn="ctr" fontAlgn="b"/>
                      <a:r>
                        <a:rPr lang="en-US" sz="1600" u="none" strike="noStrike" dirty="0">
                          <a:solidFill>
                            <a:schemeClr val="tx1"/>
                          </a:solidFill>
                          <a:effectLst/>
                        </a:rPr>
                        <a:t>PL1</a:t>
                      </a:r>
                      <a:endParaRPr lang="en-US" sz="1600" b="0" i="0" u="none" strike="noStrike" dirty="0">
                        <a:solidFill>
                          <a:schemeClr val="tx1"/>
                        </a:solidFill>
                        <a:effectLst/>
                        <a:latin typeface="Calibri" panose="020F0502020204030204" pitchFamily="34" charset="0"/>
                      </a:endParaRPr>
                    </a:p>
                  </a:txBody>
                  <a:tcPr marL="5150" marR="5150" marT="5150" marB="0" anchor="ctr"/>
                </a:tc>
                <a:tc rowSpan="3">
                  <a:txBody>
                    <a:bodyPr/>
                    <a:lstStyle/>
                    <a:p>
                      <a:pPr algn="ctr" fontAlgn="b"/>
                      <a:r>
                        <a:rPr lang="en-US" sz="1600" u="none" strike="noStrike" dirty="0">
                          <a:effectLst/>
                        </a:rPr>
                        <a:t>PL2</a:t>
                      </a:r>
                      <a:endParaRPr lang="en-US" sz="1600" b="0" i="0" u="none" strike="noStrike" dirty="0">
                        <a:solidFill>
                          <a:srgbClr val="000000"/>
                        </a:solidFill>
                        <a:effectLst/>
                        <a:latin typeface="Calibri" panose="020F0502020204030204" pitchFamily="34" charset="0"/>
                      </a:endParaRPr>
                    </a:p>
                  </a:txBody>
                  <a:tcPr marL="5150" marR="5150" marT="5150" marB="0" anchor="ctr"/>
                </a:tc>
                <a:tc rowSpan="3" gridSpan="2">
                  <a:txBody>
                    <a:bodyPr/>
                    <a:lstStyle/>
                    <a:p>
                      <a:pPr algn="ctr" fontAlgn="b"/>
                      <a:r>
                        <a:rPr lang="en-US" sz="1600" u="none" strike="noStrike" dirty="0">
                          <a:effectLst/>
                        </a:rPr>
                        <a:t>PL3</a:t>
                      </a:r>
                      <a:endParaRPr lang="en-US" sz="1600" b="0" i="0" u="none" strike="noStrike" dirty="0">
                        <a:solidFill>
                          <a:srgbClr val="000000"/>
                        </a:solidFill>
                        <a:effectLst/>
                        <a:latin typeface="Calibri" panose="020F0502020204030204" pitchFamily="34" charset="0"/>
                      </a:endParaRPr>
                    </a:p>
                  </a:txBody>
                  <a:tcPr marL="5150" marR="5150" marT="5150" marB="0" anchor="ctr"/>
                </a:tc>
                <a:tc rowSpan="3" hMerge="1">
                  <a:txBody>
                    <a:bodyPr/>
                    <a:lstStyle/>
                    <a:p>
                      <a:pPr algn="l" fontAlgn="b"/>
                      <a:endParaRPr lang="en-US" sz="1600" b="0" i="0" u="none" strike="noStrike">
                        <a:solidFill>
                          <a:srgbClr val="000000"/>
                        </a:solidFill>
                        <a:effectLst/>
                        <a:latin typeface="Calibri" panose="020F0502020204030204" pitchFamily="34" charset="0"/>
                      </a:endParaRPr>
                    </a:p>
                  </a:txBody>
                  <a:tcPr marL="5150" marR="5150" marT="5150" marB="0" anchor="b"/>
                </a:tc>
                <a:extLst>
                  <a:ext uri="{0D108BD9-81ED-4DB2-BD59-A6C34878D82A}">
                    <a16:rowId xmlns:a16="http://schemas.microsoft.com/office/drawing/2014/main" val="501804852"/>
                  </a:ext>
                </a:extLst>
              </a:tr>
              <a:tr h="292415">
                <a:tc>
                  <a:txBody>
                    <a:bodyPr/>
                    <a:lstStyle/>
                    <a:p>
                      <a:pPr algn="ctr" fontAlgn="b"/>
                      <a:r>
                        <a:rPr lang="en-US" dirty="0"/>
                        <a:t>Exploratory Data Analysis</a:t>
                      </a:r>
                    </a:p>
                  </a:txBody>
                  <a:tcPr marL="5150" marR="5150" marT="5150" marB="0" anchor="ctr"/>
                </a:tc>
                <a:tc v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tc v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tc gridSpan="2" v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tc hMerge="1" vMerge="1">
                  <a:txBody>
                    <a:bodyPr/>
                    <a:lstStyle/>
                    <a:p>
                      <a:pPr algn="l" fontAlgn="b"/>
                      <a:endParaRPr lang="en-US" sz="1600" b="0" i="0" u="none" strike="noStrike">
                        <a:solidFill>
                          <a:srgbClr val="000000"/>
                        </a:solidFill>
                        <a:effectLst/>
                        <a:latin typeface="Calibri" panose="020F0502020204030204" pitchFamily="34" charset="0"/>
                      </a:endParaRPr>
                    </a:p>
                  </a:txBody>
                  <a:tcPr marL="5150" marR="5150" marT="5150" marB="0" anchor="b"/>
                </a:tc>
                <a:extLst>
                  <a:ext uri="{0D108BD9-81ED-4DB2-BD59-A6C34878D82A}">
                    <a16:rowId xmlns:a16="http://schemas.microsoft.com/office/drawing/2014/main" val="2504933317"/>
                  </a:ext>
                </a:extLst>
              </a:tr>
              <a:tr h="292415">
                <a:tc>
                  <a:txBody>
                    <a:bodyPr/>
                    <a:lstStyle/>
                    <a:p>
                      <a:pPr algn="ctr" fontAlgn="b"/>
                      <a:r>
                        <a:rPr lang="en-US" dirty="0"/>
                        <a:t>Data Preparation</a:t>
                      </a:r>
                    </a:p>
                  </a:txBody>
                  <a:tcPr marL="5150" marR="5150" marT="5150" marB="0" anchor="ctr"/>
                </a:tc>
                <a:tc v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tc v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tc gridSpan="2" vMerge="1">
                  <a:txBody>
                    <a:bodyPr/>
                    <a:lstStyle/>
                    <a:p>
                      <a:pPr algn="l" fontAlgn="b"/>
                      <a:endParaRPr lang="en-US" sz="1600" b="0" i="0" u="none" strike="noStrike">
                        <a:solidFill>
                          <a:srgbClr val="000000"/>
                        </a:solidFill>
                        <a:effectLst/>
                        <a:latin typeface="Calibri" panose="020F0502020204030204" pitchFamily="34" charset="0"/>
                      </a:endParaRPr>
                    </a:p>
                  </a:txBody>
                  <a:tcPr marL="5150" marR="5150" marT="5150" marB="0" anchor="b"/>
                </a:tc>
                <a:tc hMerge="1" v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extLst>
                  <a:ext uri="{0D108BD9-81ED-4DB2-BD59-A6C34878D82A}">
                    <a16:rowId xmlns:a16="http://schemas.microsoft.com/office/drawing/2014/main" val="4036515191"/>
                  </a:ext>
                </a:extLst>
              </a:tr>
              <a:tr h="292415">
                <a:tc>
                  <a:txBody>
                    <a:bodyPr/>
                    <a:lstStyle/>
                    <a:p>
                      <a:pPr algn="ctr" fontAlgn="b"/>
                      <a:r>
                        <a:rPr lang="en-US" dirty="0"/>
                        <a:t>Visualization &amp; Data Storytelling</a:t>
                      </a:r>
                    </a:p>
                  </a:txBody>
                  <a:tcPr marL="5150" marR="5150" marT="5150" marB="0" anchor="ctr"/>
                </a:tc>
                <a:tc v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tc gridSpan="3">
                  <a:txBody>
                    <a:bodyPr/>
                    <a:lstStyle/>
                    <a:p>
                      <a:pPr algn="ctr" fontAlgn="b"/>
                      <a:r>
                        <a:rPr lang="en-US" sz="1600" u="none" strike="noStrike" dirty="0">
                          <a:effectLst/>
                        </a:rPr>
                        <a:t>PL2</a:t>
                      </a:r>
                      <a:endParaRPr lang="en-US" sz="1600" b="0" i="0" u="none" strike="noStrike" dirty="0">
                        <a:solidFill>
                          <a:srgbClr val="000000"/>
                        </a:solidFill>
                        <a:effectLst/>
                        <a:latin typeface="Calibri" panose="020F0502020204030204" pitchFamily="34" charset="0"/>
                      </a:endParaRPr>
                    </a:p>
                  </a:txBody>
                  <a:tcPr marL="5150" marR="5150" marT="5150" marB="0" anchor="ctr"/>
                </a:tc>
                <a:tc h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tc h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extLst>
                  <a:ext uri="{0D108BD9-81ED-4DB2-BD59-A6C34878D82A}">
                    <a16:rowId xmlns:a16="http://schemas.microsoft.com/office/drawing/2014/main" val="96743934"/>
                  </a:ext>
                </a:extLst>
              </a:tr>
              <a:tr h="292415">
                <a:tc>
                  <a:txBody>
                    <a:bodyPr/>
                    <a:lstStyle/>
                    <a:p>
                      <a:pPr algn="ctr" fontAlgn="b"/>
                      <a:r>
                        <a:rPr lang="en-US" dirty="0"/>
                        <a:t>Statistical Analysis</a:t>
                      </a:r>
                    </a:p>
                  </a:txBody>
                  <a:tcPr marL="5150" marR="5150" marT="5150" marB="0" anchor="ctr"/>
                </a:tc>
                <a:tc v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tc rowSpan="2">
                  <a:txBody>
                    <a:bodyPr/>
                    <a:lstStyle/>
                    <a:p>
                      <a:pPr algn="ctr" fontAlgn="b"/>
                      <a:r>
                        <a:rPr lang="en-US" sz="1600" u="none" strike="noStrike" dirty="0">
                          <a:effectLst/>
                        </a:rPr>
                        <a:t>PL2 + PL1</a:t>
                      </a:r>
                      <a:endParaRPr lang="en-US" sz="1600" b="0" i="0" u="none" strike="noStrike" dirty="0">
                        <a:solidFill>
                          <a:srgbClr val="000000"/>
                        </a:solidFill>
                        <a:effectLst/>
                        <a:latin typeface="Calibri" panose="020F0502020204030204" pitchFamily="34" charset="0"/>
                      </a:endParaRPr>
                    </a:p>
                  </a:txBody>
                  <a:tcPr marL="5150" marR="5150" marT="5150" marB="0" anchor="ctr"/>
                </a:tc>
                <a:tc rowSpan="2">
                  <a:txBody>
                    <a:bodyPr/>
                    <a:lstStyle/>
                    <a:p>
                      <a:pPr algn="ctr" fontAlgn="b"/>
                      <a:r>
                        <a:rPr lang="en-US" sz="1600" u="none" strike="noStrike" dirty="0">
                          <a:effectLst/>
                        </a:rPr>
                        <a:t>PL3 + PL1</a:t>
                      </a:r>
                      <a:endParaRPr lang="en-US" sz="1600" b="0" i="0" u="none" strike="noStrike" dirty="0">
                        <a:solidFill>
                          <a:srgbClr val="000000"/>
                        </a:solidFill>
                        <a:effectLst/>
                        <a:latin typeface="Calibri" panose="020F0502020204030204" pitchFamily="34" charset="0"/>
                      </a:endParaRPr>
                    </a:p>
                  </a:txBody>
                  <a:tcPr marL="5150" marR="5150" marT="5150" marB="0" anchor="ctr"/>
                </a:tc>
                <a:tc rowSpan="2">
                  <a:txBody>
                    <a:bodyPr/>
                    <a:lstStyle/>
                    <a:p>
                      <a:pPr algn="ctr" fontAlgn="b"/>
                      <a:r>
                        <a:rPr lang="en-US" sz="1600" u="none" strike="noStrike" dirty="0">
                          <a:effectLst/>
                        </a:rPr>
                        <a:t>PL3 + PL2</a:t>
                      </a:r>
                      <a:endParaRPr lang="en-US" sz="1600" b="0" i="0" u="none" strike="noStrike" dirty="0">
                        <a:solidFill>
                          <a:srgbClr val="000000"/>
                        </a:solidFill>
                        <a:effectLst/>
                        <a:latin typeface="Calibri" panose="020F0502020204030204" pitchFamily="34" charset="0"/>
                      </a:endParaRPr>
                    </a:p>
                  </a:txBody>
                  <a:tcPr marL="5150" marR="5150" marT="5150" marB="0" anchor="ctr"/>
                </a:tc>
                <a:extLst>
                  <a:ext uri="{0D108BD9-81ED-4DB2-BD59-A6C34878D82A}">
                    <a16:rowId xmlns:a16="http://schemas.microsoft.com/office/drawing/2014/main" val="4273126363"/>
                  </a:ext>
                </a:extLst>
              </a:tr>
              <a:tr h="292415">
                <a:tc>
                  <a:txBody>
                    <a:bodyPr/>
                    <a:lstStyle/>
                    <a:p>
                      <a:pPr algn="ctr" fontAlgn="b"/>
                      <a:r>
                        <a:rPr lang="en-US" dirty="0"/>
                        <a:t>Machine Learning</a:t>
                      </a:r>
                    </a:p>
                  </a:txBody>
                  <a:tcPr marL="5150" marR="5150" marT="5150" marB="0" anchor="ctr"/>
                </a:tc>
                <a:tc vMerge="1">
                  <a:txBody>
                    <a:bodyPr/>
                    <a:lstStyle/>
                    <a:p>
                      <a:pPr algn="l" fontAlgn="b"/>
                      <a:endParaRPr lang="en-US" sz="1600" b="0" i="0" u="none" strike="noStrike" dirty="0">
                        <a:solidFill>
                          <a:srgbClr val="000000"/>
                        </a:solidFill>
                        <a:effectLst/>
                        <a:latin typeface="Calibri" panose="020F0502020204030204" pitchFamily="34" charset="0"/>
                      </a:endParaRPr>
                    </a:p>
                  </a:txBody>
                  <a:tcPr marL="5150" marR="5150" marT="5150" marB="0" anchor="b"/>
                </a:tc>
                <a:tc vMerge="1">
                  <a:txBody>
                    <a:bodyPr/>
                    <a:lstStyle/>
                    <a:p>
                      <a:pPr algn="ctr" fontAlgn="b"/>
                      <a:r>
                        <a:rPr lang="en-US" sz="1600" u="none" strike="noStrike" dirty="0">
                          <a:effectLst/>
                        </a:rPr>
                        <a:t>PL1 x 1</a:t>
                      </a:r>
                      <a:endParaRPr lang="en-US" sz="1600" b="0" i="0" u="none" strike="noStrike" dirty="0">
                        <a:solidFill>
                          <a:srgbClr val="000000"/>
                        </a:solidFill>
                        <a:effectLst/>
                        <a:latin typeface="Calibri" panose="020F0502020204030204" pitchFamily="34" charset="0"/>
                      </a:endParaRPr>
                    </a:p>
                  </a:txBody>
                  <a:tcPr marL="5150" marR="5150" marT="5150" marB="0" anchor="ctr"/>
                </a:tc>
                <a:tc vMerge="1">
                  <a:txBody>
                    <a:bodyPr/>
                    <a:lstStyle/>
                    <a:p>
                      <a:pPr algn="ctr" fontAlgn="b"/>
                      <a:r>
                        <a:rPr lang="en-US" sz="1600" u="none" strike="noStrike" dirty="0">
                          <a:effectLst/>
                        </a:rPr>
                        <a:t>PL1 x 1</a:t>
                      </a:r>
                      <a:endParaRPr lang="en-US" sz="1600" b="0" i="0" u="none" strike="noStrike" dirty="0">
                        <a:solidFill>
                          <a:srgbClr val="000000"/>
                        </a:solidFill>
                        <a:effectLst/>
                        <a:latin typeface="Calibri" panose="020F0502020204030204" pitchFamily="34" charset="0"/>
                      </a:endParaRPr>
                    </a:p>
                  </a:txBody>
                  <a:tcPr marL="5150" marR="5150" marT="5150" marB="0" anchor="ctr"/>
                </a:tc>
                <a:tc vMerge="1">
                  <a:txBody>
                    <a:bodyPr/>
                    <a:lstStyle/>
                    <a:p>
                      <a:pPr algn="ctr" fontAlgn="b"/>
                      <a:r>
                        <a:rPr lang="en-US" sz="1600" u="none" strike="noStrike" dirty="0">
                          <a:effectLst/>
                        </a:rPr>
                        <a:t>PL2 x 1</a:t>
                      </a:r>
                      <a:endParaRPr lang="en-US" sz="1600" b="0" i="0" u="none" strike="noStrike" dirty="0">
                        <a:solidFill>
                          <a:srgbClr val="000000"/>
                        </a:solidFill>
                        <a:effectLst/>
                        <a:latin typeface="Calibri" panose="020F0502020204030204" pitchFamily="34" charset="0"/>
                      </a:endParaRPr>
                    </a:p>
                  </a:txBody>
                  <a:tcPr marL="5150" marR="5150" marT="5150" marB="0" anchor="ctr"/>
                </a:tc>
                <a:extLst>
                  <a:ext uri="{0D108BD9-81ED-4DB2-BD59-A6C34878D82A}">
                    <a16:rowId xmlns:a16="http://schemas.microsoft.com/office/drawing/2014/main" val="2726766983"/>
                  </a:ext>
                </a:extLst>
              </a:tr>
              <a:tr h="292415">
                <a:tc>
                  <a:txBody>
                    <a:bodyPr/>
                    <a:lstStyle/>
                    <a:p>
                      <a:pPr algn="ctr" fontAlgn="b"/>
                      <a:r>
                        <a:rPr lang="en-US" dirty="0"/>
                        <a:t>Specialization</a:t>
                      </a:r>
                    </a:p>
                  </a:txBody>
                  <a:tcPr marL="5150" marR="5150" marT="5150" marB="0" anchor="ctr"/>
                </a:tc>
                <a:tc>
                  <a:txBody>
                    <a:bodyPr/>
                    <a:lstStyle/>
                    <a:p>
                      <a:pPr algn="ctr" fontAlgn="b"/>
                      <a:r>
                        <a:rPr lang="en-US" sz="1600" i="1" u="none" strike="noStrike" dirty="0">
                          <a:solidFill>
                            <a:schemeClr val="bg2">
                              <a:lumMod val="75000"/>
                            </a:schemeClr>
                          </a:solidFill>
                          <a:effectLst/>
                        </a:rPr>
                        <a:t>NA</a:t>
                      </a:r>
                    </a:p>
                  </a:txBody>
                  <a:tcPr marL="5150" marR="5150" marT="5150" marB="0" anchor="ctr"/>
                </a:tc>
                <a:tc>
                  <a:txBody>
                    <a:bodyPr/>
                    <a:lstStyle/>
                    <a:p>
                      <a:pPr algn="ctr" fontAlgn="b"/>
                      <a:r>
                        <a:rPr lang="en-US" sz="1600" u="none" strike="noStrike" dirty="0">
                          <a:effectLst/>
                        </a:rPr>
                        <a:t>PL2</a:t>
                      </a:r>
                      <a:endParaRPr lang="en-US" sz="1600" b="0" i="0" u="none" strike="noStrike" dirty="0">
                        <a:solidFill>
                          <a:srgbClr val="000000"/>
                        </a:solidFill>
                        <a:effectLst/>
                        <a:latin typeface="Calibri" panose="020F0502020204030204" pitchFamily="34" charset="0"/>
                      </a:endParaRPr>
                    </a:p>
                  </a:txBody>
                  <a:tcPr marL="5150" marR="5150" marT="515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u="none" strike="noStrike" dirty="0">
                          <a:effectLst/>
                        </a:rPr>
                        <a:t>PL3 + PL2</a:t>
                      </a:r>
                      <a:endParaRPr lang="en-US" sz="1600" b="0" i="0" u="none" strike="noStrike" dirty="0">
                        <a:solidFill>
                          <a:srgbClr val="000000"/>
                        </a:solidFill>
                        <a:effectLst/>
                        <a:latin typeface="Calibri" panose="020F0502020204030204" pitchFamily="34" charset="0"/>
                      </a:endParaRPr>
                    </a:p>
                  </a:txBody>
                  <a:tcPr marL="5150" marR="5150" marT="515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u="none" strike="noStrike" dirty="0">
                          <a:effectLst/>
                        </a:rPr>
                        <a:t>PL4 + PL3</a:t>
                      </a:r>
                      <a:endParaRPr lang="en-US" sz="1600" b="0" i="0" u="none" strike="noStrike" dirty="0">
                        <a:solidFill>
                          <a:srgbClr val="000000"/>
                        </a:solidFill>
                        <a:effectLst/>
                        <a:latin typeface="Calibri" panose="020F0502020204030204" pitchFamily="34" charset="0"/>
                      </a:endParaRPr>
                    </a:p>
                  </a:txBody>
                  <a:tcPr marL="5150" marR="5150" marT="5150" marB="0" anchor="ctr"/>
                </a:tc>
                <a:extLst>
                  <a:ext uri="{0D108BD9-81ED-4DB2-BD59-A6C34878D82A}">
                    <a16:rowId xmlns:a16="http://schemas.microsoft.com/office/drawing/2014/main" val="3868501538"/>
                  </a:ext>
                </a:extLst>
              </a:tr>
              <a:tr h="292415">
                <a:tc>
                  <a:txBody>
                    <a:bodyPr/>
                    <a:lstStyle/>
                    <a:p>
                      <a:pPr algn="ctr" fontAlgn="b"/>
                      <a:r>
                        <a:rPr lang="en-US" dirty="0"/>
                        <a:t>Technical Leadership</a:t>
                      </a:r>
                    </a:p>
                  </a:txBody>
                  <a:tcPr marL="5150" marR="5150" marT="5150" marB="0" anchor="ctr"/>
                </a:tc>
                <a:tc rowSpan="2">
                  <a:txBody>
                    <a:bodyPr/>
                    <a:lstStyle/>
                    <a:p>
                      <a:pPr algn="ctr" fontAlgn="b"/>
                      <a:r>
                        <a:rPr lang="en-US" sz="1600" b="0" i="1" u="none" strike="noStrike" dirty="0">
                          <a:solidFill>
                            <a:schemeClr val="bg2">
                              <a:lumMod val="75000"/>
                            </a:schemeClr>
                          </a:solidFill>
                          <a:effectLst/>
                          <a:latin typeface="Calibri" panose="020F0502020204030204" pitchFamily="34" charset="0"/>
                        </a:rPr>
                        <a:t>NA</a:t>
                      </a:r>
                    </a:p>
                  </a:txBody>
                  <a:tcPr marL="5150" marR="5150" marT="515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i="1" u="none" strike="noStrike" dirty="0">
                          <a:solidFill>
                            <a:schemeClr val="bg2">
                              <a:lumMod val="75000"/>
                            </a:schemeClr>
                          </a:solidFill>
                          <a:effectLst/>
                        </a:rPr>
                        <a:t>NA</a:t>
                      </a:r>
                      <a:endParaRPr lang="en-US" sz="1600" b="0" i="1" u="none" strike="noStrike" dirty="0">
                        <a:solidFill>
                          <a:schemeClr val="bg2">
                            <a:lumMod val="75000"/>
                          </a:schemeClr>
                        </a:solidFill>
                        <a:effectLst/>
                        <a:latin typeface="Calibri" panose="020F0502020204030204" pitchFamily="34" charset="0"/>
                      </a:endParaRPr>
                    </a:p>
                  </a:txBody>
                  <a:tcPr marL="5150" marR="5150" marT="5150" marB="0" anchor="ct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PL3</a:t>
                      </a:r>
                    </a:p>
                  </a:txBody>
                  <a:tcPr marL="5150" marR="5150" marT="5150" marB="0" anchor="ct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PL4</a:t>
                      </a:r>
                    </a:p>
                  </a:txBody>
                  <a:tcPr marL="5150" marR="5150" marT="5150" marB="0" anchor="ctr"/>
                </a:tc>
                <a:extLst>
                  <a:ext uri="{0D108BD9-81ED-4DB2-BD59-A6C34878D82A}">
                    <a16:rowId xmlns:a16="http://schemas.microsoft.com/office/drawing/2014/main" val="2642399024"/>
                  </a:ext>
                </a:extLst>
              </a:tr>
              <a:tr h="292415">
                <a:tc>
                  <a:txBody>
                    <a:bodyPr/>
                    <a:lstStyle/>
                    <a:p>
                      <a:pPr algn="ctr" fontAlgn="b"/>
                      <a:r>
                        <a:rPr lang="en-US" dirty="0"/>
                        <a:t>Community Contribution</a:t>
                      </a:r>
                    </a:p>
                  </a:txBody>
                  <a:tcPr marL="5150" marR="5150" marT="5150" marB="0" anchor="ctr"/>
                </a:tc>
                <a:tc vMerge="1">
                  <a:txBody>
                    <a:bodyPr/>
                    <a:lstStyle/>
                    <a:p>
                      <a:pPr algn="ctr" fontAlgn="b"/>
                      <a:endParaRPr lang="en-US" sz="1600" b="0" i="1" u="none" strike="noStrike" dirty="0">
                        <a:solidFill>
                          <a:schemeClr val="bg2">
                            <a:lumMod val="90000"/>
                          </a:schemeClr>
                        </a:solidFill>
                        <a:effectLst/>
                        <a:latin typeface="Calibri" panose="020F0502020204030204" pitchFamily="34" charset="0"/>
                      </a:endParaRPr>
                    </a:p>
                  </a:txBody>
                  <a:tcPr marL="5150" marR="5150" marT="5150" marB="0" anchor="ctr"/>
                </a:tc>
                <a:tc>
                  <a:txBody>
                    <a:bodyPr/>
                    <a:lstStyle/>
                    <a:p>
                      <a:pPr algn="ctr" fontAlgn="b"/>
                      <a:r>
                        <a:rPr lang="en-US" sz="1600" b="0" i="0" u="none" strike="noStrike" dirty="0">
                          <a:solidFill>
                            <a:srgbClr val="000000"/>
                          </a:solidFill>
                          <a:effectLst/>
                          <a:latin typeface="Calibri" panose="020F0502020204030204" pitchFamily="34" charset="0"/>
                        </a:rPr>
                        <a:t>PL2</a:t>
                      </a:r>
                    </a:p>
                  </a:txBody>
                  <a:tcPr marL="5150" marR="5150" marT="5150" marB="0" anchor="ctr"/>
                </a:tc>
                <a:tc v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600" b="0" i="0" u="none" strike="noStrike" dirty="0">
                        <a:solidFill>
                          <a:srgbClr val="000000"/>
                        </a:solidFill>
                        <a:effectLst/>
                        <a:latin typeface="Calibri" panose="020F0502020204030204" pitchFamily="34" charset="0"/>
                      </a:endParaRPr>
                    </a:p>
                  </a:txBody>
                  <a:tcPr marL="5150" marR="5150" marT="5150" marB="0" anchor="ctr"/>
                </a:tc>
                <a:tc v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600" b="0" i="0" u="none" strike="noStrike" dirty="0">
                        <a:solidFill>
                          <a:srgbClr val="000000"/>
                        </a:solidFill>
                        <a:effectLst/>
                        <a:latin typeface="Calibri" panose="020F0502020204030204" pitchFamily="34" charset="0"/>
                      </a:endParaRPr>
                    </a:p>
                  </a:txBody>
                  <a:tcPr marL="5150" marR="5150" marT="5150" marB="0" anchor="ctr"/>
                </a:tc>
                <a:extLst>
                  <a:ext uri="{0D108BD9-81ED-4DB2-BD59-A6C34878D82A}">
                    <a16:rowId xmlns:a16="http://schemas.microsoft.com/office/drawing/2014/main" val="1245102335"/>
                  </a:ext>
                </a:extLst>
              </a:tr>
            </a:tbl>
          </a:graphicData>
        </a:graphic>
      </p:graphicFrame>
    </p:spTree>
    <p:extLst>
      <p:ext uri="{BB962C8B-B14F-4D97-AF65-F5344CB8AC3E}">
        <p14:creationId xmlns:p14="http://schemas.microsoft.com/office/powerpoint/2010/main" val="635281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C6E4E-418B-444B-AAFE-34EF15E2F102}"/>
              </a:ext>
            </a:extLst>
          </p:cNvPr>
          <p:cNvSpPr>
            <a:spLocks noGrp="1"/>
          </p:cNvSpPr>
          <p:nvPr>
            <p:ph type="title"/>
          </p:nvPr>
        </p:nvSpPr>
        <p:spPr/>
        <p:txBody>
          <a:bodyPr/>
          <a:lstStyle/>
          <a:p>
            <a:r>
              <a:rPr lang="en-US" dirty="0"/>
              <a:t>Isn’t it all time-normed anyway?</a:t>
            </a:r>
            <a:endParaRPr lang="en-GB" dirty="0"/>
          </a:p>
        </p:txBody>
      </p:sp>
      <p:sp>
        <p:nvSpPr>
          <p:cNvPr id="3" name="Content Placeholder 2">
            <a:extLst>
              <a:ext uri="{FF2B5EF4-FFF2-40B4-BE49-F238E27FC236}">
                <a16:creationId xmlns:a16="http://schemas.microsoft.com/office/drawing/2014/main" id="{1C708569-EC03-4EF2-8002-D5D3AB1DCAD3}"/>
              </a:ext>
            </a:extLst>
          </p:cNvPr>
          <p:cNvSpPr>
            <a:spLocks noGrp="1"/>
          </p:cNvSpPr>
          <p:nvPr>
            <p:ph idx="1"/>
          </p:nvPr>
        </p:nvSpPr>
        <p:spPr/>
        <p:txBody>
          <a:bodyPr/>
          <a:lstStyle/>
          <a:p>
            <a:r>
              <a:rPr lang="en-US" dirty="0"/>
              <a:t>No</a:t>
            </a:r>
          </a:p>
          <a:p>
            <a:r>
              <a:rPr lang="en-US" dirty="0"/>
              <a:t>In general we </a:t>
            </a:r>
            <a:r>
              <a:rPr lang="en-US" i="1" dirty="0"/>
              <a:t>should be</a:t>
            </a:r>
            <a:r>
              <a:rPr lang="en-US" dirty="0"/>
              <a:t> moving away from CEP and time norms</a:t>
            </a:r>
          </a:p>
          <a:p>
            <a:r>
              <a:rPr lang="en-US" dirty="0"/>
              <a:t>But as you may expect, there’s always a statistical distribution</a:t>
            </a:r>
          </a:p>
          <a:p>
            <a:pPr lvl="1"/>
            <a:r>
              <a:rPr lang="en-GB" dirty="0"/>
              <a:t>Person joins: 0 YIS</a:t>
            </a:r>
          </a:p>
          <a:p>
            <a:pPr lvl="1"/>
            <a:r>
              <a:rPr lang="en-GB" dirty="0"/>
              <a:t>Confirmation: 1 YIS</a:t>
            </a:r>
          </a:p>
          <a:p>
            <a:pPr lvl="1"/>
            <a:r>
              <a:rPr lang="en-GB" dirty="0"/>
              <a:t>Consultant: 3 YIS</a:t>
            </a:r>
          </a:p>
          <a:p>
            <a:pPr lvl="1"/>
            <a:r>
              <a:rPr lang="en-GB" dirty="0"/>
              <a:t>STS: 6 YIS</a:t>
            </a:r>
          </a:p>
          <a:p>
            <a:pPr lvl="1"/>
            <a:r>
              <a:rPr lang="en-GB" dirty="0"/>
              <a:t>LTS: 10+ YIS</a:t>
            </a:r>
            <a:r>
              <a:rPr lang="en-GB" dirty="0">
                <a:solidFill>
                  <a:schemeClr val="bg2">
                    <a:lumMod val="75000"/>
                  </a:schemeClr>
                </a:solidFill>
              </a:rPr>
              <a:t> (lots of variance)</a:t>
            </a:r>
          </a:p>
          <a:p>
            <a:pPr lvl="1"/>
            <a:r>
              <a:rPr lang="en-GB" dirty="0">
                <a:solidFill>
                  <a:schemeClr val="bg2">
                    <a:lumMod val="75000"/>
                  </a:schemeClr>
                </a:solidFill>
              </a:rPr>
              <a:t>PTS: insufficient data</a:t>
            </a:r>
          </a:p>
        </p:txBody>
      </p:sp>
    </p:spTree>
    <p:extLst>
      <p:ext uri="{BB962C8B-B14F-4D97-AF65-F5344CB8AC3E}">
        <p14:creationId xmlns:p14="http://schemas.microsoft.com/office/powerpoint/2010/main" val="19616902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0474F-0F5C-4FCA-A4D1-62CAE53035E2}"/>
              </a:ext>
            </a:extLst>
          </p:cNvPr>
          <p:cNvSpPr>
            <a:spLocks noGrp="1"/>
          </p:cNvSpPr>
          <p:nvPr>
            <p:ph type="title"/>
          </p:nvPr>
        </p:nvSpPr>
        <p:spPr/>
        <p:txBody>
          <a:bodyPr/>
          <a:lstStyle/>
          <a:p>
            <a:r>
              <a:rPr lang="en-US" dirty="0"/>
              <a:t>What if my work does not help development?</a:t>
            </a:r>
            <a:endParaRPr lang="en-GB" dirty="0"/>
          </a:p>
        </p:txBody>
      </p:sp>
      <p:sp>
        <p:nvSpPr>
          <p:cNvPr id="3" name="Content Placeholder 2">
            <a:extLst>
              <a:ext uri="{FF2B5EF4-FFF2-40B4-BE49-F238E27FC236}">
                <a16:creationId xmlns:a16="http://schemas.microsoft.com/office/drawing/2014/main" id="{BC783ADA-F577-42C7-AF2B-0DBEE6691603}"/>
              </a:ext>
            </a:extLst>
          </p:cNvPr>
          <p:cNvSpPr>
            <a:spLocks noGrp="1"/>
          </p:cNvSpPr>
          <p:nvPr>
            <p:ph idx="1"/>
          </p:nvPr>
        </p:nvSpPr>
        <p:spPr/>
        <p:txBody>
          <a:bodyPr/>
          <a:lstStyle/>
          <a:p>
            <a:r>
              <a:rPr lang="en-US" dirty="0"/>
              <a:t>Well… not all work helps your progression or development (unless you’re super lucky)</a:t>
            </a:r>
          </a:p>
          <a:p>
            <a:r>
              <a:rPr lang="en-US" dirty="0"/>
              <a:t>The goal is usually to have some sort of equitable (i.e., fair) task distribution across these usually overlapping categories:</a:t>
            </a:r>
          </a:p>
          <a:p>
            <a:pPr lvl="1"/>
            <a:r>
              <a:rPr lang="en-US" dirty="0"/>
              <a:t>Toil</a:t>
            </a:r>
          </a:p>
          <a:p>
            <a:pPr lvl="1"/>
            <a:r>
              <a:rPr lang="en-US" dirty="0"/>
              <a:t>High-impact, high-visibility</a:t>
            </a:r>
          </a:p>
          <a:p>
            <a:pPr lvl="1"/>
            <a:r>
              <a:rPr lang="en-GB" dirty="0"/>
              <a:t>Skill-building / learning</a:t>
            </a:r>
          </a:p>
          <a:p>
            <a:pPr lvl="1"/>
            <a:r>
              <a:rPr lang="en-GB" dirty="0"/>
              <a:t>Firefighting</a:t>
            </a:r>
          </a:p>
          <a:p>
            <a:pPr lvl="1"/>
            <a:r>
              <a:rPr lang="en-GB" dirty="0"/>
              <a:t>(New) Competency-demonstrating</a:t>
            </a:r>
          </a:p>
        </p:txBody>
      </p:sp>
    </p:spTree>
    <p:extLst>
      <p:ext uri="{BB962C8B-B14F-4D97-AF65-F5344CB8AC3E}">
        <p14:creationId xmlns:p14="http://schemas.microsoft.com/office/powerpoint/2010/main" val="395032634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5629</Words>
  <Application>Microsoft Office PowerPoint</Application>
  <PresentationFormat>Widescreen</PresentationFormat>
  <Paragraphs>590</Paragraphs>
  <Slides>30</Slides>
  <Notes>29</Notes>
  <HiddenSlides>10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office theme</vt:lpstr>
      <vt:lpstr>DSAI Competency Framework</vt:lpstr>
      <vt:lpstr>TL;DR</vt:lpstr>
      <vt:lpstr>Competency-based assessment</vt:lpstr>
      <vt:lpstr>From “themes” to “functional competencies”</vt:lpstr>
      <vt:lpstr>(Non-exhaustive) examples of specializations</vt:lpstr>
      <vt:lpstr>Before: “more complex” and “more products”</vt:lpstr>
      <vt:lpstr>(There are also leadership competencies)</vt:lpstr>
      <vt:lpstr>After: “more proficient”</vt:lpstr>
      <vt:lpstr>How are PLs defined?</vt:lpstr>
      <vt:lpstr>Consultant, focusing on statistical analysis</vt:lpstr>
      <vt:lpstr>Consultant, focusing on machine learning</vt:lpstr>
      <vt:lpstr>We also inherit competencies from SEA</vt:lpstr>
      <vt:lpstr>PLs for leadership/community competencies</vt:lpstr>
      <vt:lpstr>Summarized overview</vt:lpstr>
      <vt:lpstr>Renaming the track</vt:lpstr>
      <vt:lpstr>Job Titles</vt:lpstr>
      <vt:lpstr>Job Role Profiles (no change)</vt:lpstr>
      <vt:lpstr>Job Family</vt:lpstr>
      <vt:lpstr>Timeline</vt:lpstr>
      <vt:lpstr>When will things actually change</vt:lpstr>
      <vt:lpstr>Q&amp;A</vt:lpstr>
      <vt:lpstr>How does the tech panel assessment change?</vt:lpstr>
      <vt:lpstr>What’s the difference between stats and ML?</vt:lpstr>
      <vt:lpstr>If I choose a specialization can I change it?</vt:lpstr>
      <vt:lpstr>How do you track community contribution?</vt:lpstr>
      <vt:lpstr>So we need to meet the PL checklist?</vt:lpstr>
      <vt:lpstr>Is JR11 the same as “Citizen Data Scientist”?</vt:lpstr>
      <vt:lpstr>Are there requirements for JR11?</vt:lpstr>
      <vt:lpstr>Isn’t it all time-normed anyway?</vt:lpstr>
      <vt:lpstr>What if my work does not help development?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cp:revision>
  <dcterms:created xsi:type="dcterms:W3CDTF">2013-07-15T20:26:40Z</dcterms:created>
  <dcterms:modified xsi:type="dcterms:W3CDTF">2025-04-02T10:37:05Z</dcterms:modified>
</cp:coreProperties>
</file>